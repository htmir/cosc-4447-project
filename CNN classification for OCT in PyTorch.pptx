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64"/>
  </p:notesMasterIdLst>
  <p:sldIdLst>
    <p:sldId id="256" r:id="rId2"/>
    <p:sldId id="257" r:id="rId3"/>
    <p:sldId id="330" r:id="rId4"/>
    <p:sldId id="258" r:id="rId5"/>
    <p:sldId id="259" r:id="rId6"/>
    <p:sldId id="264" r:id="rId7"/>
    <p:sldId id="299" r:id="rId8"/>
    <p:sldId id="265" r:id="rId9"/>
    <p:sldId id="301" r:id="rId10"/>
    <p:sldId id="261" r:id="rId11"/>
    <p:sldId id="262" r:id="rId12"/>
    <p:sldId id="267" r:id="rId13"/>
    <p:sldId id="268" r:id="rId14"/>
    <p:sldId id="274" r:id="rId15"/>
    <p:sldId id="270" r:id="rId16"/>
    <p:sldId id="272" r:id="rId17"/>
    <p:sldId id="273" r:id="rId18"/>
    <p:sldId id="275" r:id="rId19"/>
    <p:sldId id="321" r:id="rId20"/>
    <p:sldId id="276" r:id="rId21"/>
    <p:sldId id="277" r:id="rId22"/>
    <p:sldId id="292" r:id="rId23"/>
    <p:sldId id="293" r:id="rId24"/>
    <p:sldId id="285" r:id="rId25"/>
    <p:sldId id="294" r:id="rId26"/>
    <p:sldId id="296" r:id="rId27"/>
    <p:sldId id="279" r:id="rId28"/>
    <p:sldId id="300" r:id="rId29"/>
    <p:sldId id="303" r:id="rId30"/>
    <p:sldId id="304" r:id="rId31"/>
    <p:sldId id="327" r:id="rId32"/>
    <p:sldId id="308" r:id="rId33"/>
    <p:sldId id="309" r:id="rId34"/>
    <p:sldId id="280" r:id="rId35"/>
    <p:sldId id="281" r:id="rId36"/>
    <p:sldId id="297" r:id="rId37"/>
    <p:sldId id="315" r:id="rId38"/>
    <p:sldId id="313" r:id="rId39"/>
    <p:sldId id="314" r:id="rId40"/>
    <p:sldId id="311" r:id="rId41"/>
    <p:sldId id="290" r:id="rId42"/>
    <p:sldId id="278" r:id="rId43"/>
    <p:sldId id="316" r:id="rId44"/>
    <p:sldId id="319" r:id="rId45"/>
    <p:sldId id="320" r:id="rId46"/>
    <p:sldId id="317" r:id="rId47"/>
    <p:sldId id="318" r:id="rId48"/>
    <p:sldId id="323" r:id="rId49"/>
    <p:sldId id="325" r:id="rId50"/>
    <p:sldId id="322" r:id="rId51"/>
    <p:sldId id="284" r:id="rId52"/>
    <p:sldId id="326" r:id="rId53"/>
    <p:sldId id="328" r:id="rId54"/>
    <p:sldId id="329" r:id="rId55"/>
    <p:sldId id="288" r:id="rId56"/>
    <p:sldId id="287" r:id="rId57"/>
    <p:sldId id="331" r:id="rId58"/>
    <p:sldId id="332" r:id="rId59"/>
    <p:sldId id="333" r:id="rId60"/>
    <p:sldId id="334" r:id="rId61"/>
    <p:sldId id="266" r:id="rId62"/>
    <p:sldId id="312" r:id="rId6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6FF"/>
    <a:srgbClr val="26FF09"/>
    <a:srgbClr val="66FF66"/>
    <a:srgbClr val="FF0000"/>
    <a:srgbClr val="2C09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00" autoAdjust="0"/>
    <p:restoredTop sz="94660"/>
  </p:normalViewPr>
  <p:slideViewPr>
    <p:cSldViewPr snapToGrid="0">
      <p:cViewPr varScale="1">
        <p:scale>
          <a:sx n="155" d="100"/>
          <a:sy n="155" d="100"/>
        </p:scale>
        <p:origin x="162" y="23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9EDECFD-F493-415C-825D-E10C26BD3956}" type="datetimeFigureOut">
              <a:rPr lang="en-US" smtClean="0"/>
              <a:t>4/6/2026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27472FF-EAEC-4C76-8A32-591DD50CEA22}" type="slidenum">
              <a:rPr lang="en-US" smtClean="0"/>
              <a:t>‹#›</a:t>
            </a:fld>
            <a:endParaRPr lang="en-US"/>
          </a:p>
        </p:txBody>
      </p:sp>
    </p:spTree>
    <p:extLst>
      <p:ext uri="{BB962C8B-B14F-4D97-AF65-F5344CB8AC3E}">
        <p14:creationId xmlns:p14="http://schemas.microsoft.com/office/powerpoint/2010/main" val="15236456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27472FF-EAEC-4C76-8A32-591DD50CEA22}" type="slidenum">
              <a:rPr lang="en-US" smtClean="0"/>
              <a:t>4</a:t>
            </a:fld>
            <a:endParaRPr lang="en-US"/>
          </a:p>
        </p:txBody>
      </p:sp>
    </p:spTree>
    <p:extLst>
      <p:ext uri="{BB962C8B-B14F-4D97-AF65-F5344CB8AC3E}">
        <p14:creationId xmlns:p14="http://schemas.microsoft.com/office/powerpoint/2010/main" val="13616281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27472FF-EAEC-4C76-8A32-591DD50CEA22}" type="slidenum">
              <a:rPr lang="en-US" smtClean="0"/>
              <a:t>14</a:t>
            </a:fld>
            <a:endParaRPr lang="en-US"/>
          </a:p>
        </p:txBody>
      </p:sp>
    </p:spTree>
    <p:extLst>
      <p:ext uri="{BB962C8B-B14F-4D97-AF65-F5344CB8AC3E}">
        <p14:creationId xmlns:p14="http://schemas.microsoft.com/office/powerpoint/2010/main" val="36747368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27472FF-EAEC-4C76-8A32-591DD50CEA22}" type="slidenum">
              <a:rPr lang="en-US" smtClean="0"/>
              <a:t>40</a:t>
            </a:fld>
            <a:endParaRPr lang="en-US"/>
          </a:p>
        </p:txBody>
      </p:sp>
    </p:spTree>
    <p:extLst>
      <p:ext uri="{BB962C8B-B14F-4D97-AF65-F5344CB8AC3E}">
        <p14:creationId xmlns:p14="http://schemas.microsoft.com/office/powerpoint/2010/main" val="17271662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6997401-DFDB-4808-9C2B-FC77C5707F96}" type="datetimeFigureOut">
              <a:rPr lang="en-US" smtClean="0"/>
              <a:t>4/6/2026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51C2509-B340-415D-8A02-5E0194F5A8EA}" type="slidenum">
              <a:rPr lang="en-US" smtClean="0"/>
              <a:t>‹#›</a:t>
            </a:fld>
            <a:endParaRPr lang="en-US"/>
          </a:p>
        </p:txBody>
      </p:sp>
    </p:spTree>
    <p:extLst>
      <p:ext uri="{BB962C8B-B14F-4D97-AF65-F5344CB8AC3E}">
        <p14:creationId xmlns:p14="http://schemas.microsoft.com/office/powerpoint/2010/main" val="25448884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6997401-DFDB-4808-9C2B-FC77C5707F96}" type="datetimeFigureOut">
              <a:rPr lang="en-US" smtClean="0"/>
              <a:t>4/6/2026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51C2509-B340-415D-8A02-5E0194F5A8EA}" type="slidenum">
              <a:rPr lang="en-US" smtClean="0"/>
              <a:t>‹#›</a:t>
            </a:fld>
            <a:endParaRPr lang="en-US"/>
          </a:p>
        </p:txBody>
      </p:sp>
    </p:spTree>
    <p:extLst>
      <p:ext uri="{BB962C8B-B14F-4D97-AF65-F5344CB8AC3E}">
        <p14:creationId xmlns:p14="http://schemas.microsoft.com/office/powerpoint/2010/main" val="15491510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6997401-DFDB-4808-9C2B-FC77C5707F96}" type="datetimeFigureOut">
              <a:rPr lang="en-US" smtClean="0"/>
              <a:t>4/6/2026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51C2509-B340-415D-8A02-5E0194F5A8EA}" type="slidenum">
              <a:rPr lang="en-US" smtClean="0"/>
              <a:t>‹#›</a:t>
            </a:fld>
            <a:endParaRPr lang="en-US"/>
          </a:p>
        </p:txBody>
      </p:sp>
    </p:spTree>
    <p:extLst>
      <p:ext uri="{BB962C8B-B14F-4D97-AF65-F5344CB8AC3E}">
        <p14:creationId xmlns:p14="http://schemas.microsoft.com/office/powerpoint/2010/main" val="8796883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6997401-DFDB-4808-9C2B-FC77C5707F96}" type="datetimeFigureOut">
              <a:rPr lang="en-US" smtClean="0"/>
              <a:t>4/6/2026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51C2509-B340-415D-8A02-5E0194F5A8EA}" type="slidenum">
              <a:rPr lang="en-US" smtClean="0"/>
              <a:t>‹#›</a:t>
            </a:fld>
            <a:endParaRPr lang="en-US"/>
          </a:p>
        </p:txBody>
      </p:sp>
    </p:spTree>
    <p:extLst>
      <p:ext uri="{BB962C8B-B14F-4D97-AF65-F5344CB8AC3E}">
        <p14:creationId xmlns:p14="http://schemas.microsoft.com/office/powerpoint/2010/main" val="40021799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6997401-DFDB-4808-9C2B-FC77C5707F96}" type="datetimeFigureOut">
              <a:rPr lang="en-US" smtClean="0"/>
              <a:t>4/6/2026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51C2509-B340-415D-8A02-5E0194F5A8EA}" type="slidenum">
              <a:rPr lang="en-US" smtClean="0"/>
              <a:t>‹#›</a:t>
            </a:fld>
            <a:endParaRPr lang="en-US"/>
          </a:p>
        </p:txBody>
      </p:sp>
    </p:spTree>
    <p:extLst>
      <p:ext uri="{BB962C8B-B14F-4D97-AF65-F5344CB8AC3E}">
        <p14:creationId xmlns:p14="http://schemas.microsoft.com/office/powerpoint/2010/main" val="28556914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6997401-DFDB-4808-9C2B-FC77C5707F96}" type="datetimeFigureOut">
              <a:rPr lang="en-US" smtClean="0"/>
              <a:t>4/6/2026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51C2509-B340-415D-8A02-5E0194F5A8EA}" type="slidenum">
              <a:rPr lang="en-US" smtClean="0"/>
              <a:t>‹#›</a:t>
            </a:fld>
            <a:endParaRPr lang="en-US"/>
          </a:p>
        </p:txBody>
      </p:sp>
    </p:spTree>
    <p:extLst>
      <p:ext uri="{BB962C8B-B14F-4D97-AF65-F5344CB8AC3E}">
        <p14:creationId xmlns:p14="http://schemas.microsoft.com/office/powerpoint/2010/main" val="11572008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6997401-DFDB-4808-9C2B-FC77C5707F96}" type="datetimeFigureOut">
              <a:rPr lang="en-US" smtClean="0"/>
              <a:t>4/6/2026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51C2509-B340-415D-8A02-5E0194F5A8EA}" type="slidenum">
              <a:rPr lang="en-US" smtClean="0"/>
              <a:t>‹#›</a:t>
            </a:fld>
            <a:endParaRPr lang="en-US"/>
          </a:p>
        </p:txBody>
      </p:sp>
    </p:spTree>
    <p:extLst>
      <p:ext uri="{BB962C8B-B14F-4D97-AF65-F5344CB8AC3E}">
        <p14:creationId xmlns:p14="http://schemas.microsoft.com/office/powerpoint/2010/main" val="15820195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6997401-DFDB-4808-9C2B-FC77C5707F96}" type="datetimeFigureOut">
              <a:rPr lang="en-US" smtClean="0"/>
              <a:t>4/6/2026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51C2509-B340-415D-8A02-5E0194F5A8EA}" type="slidenum">
              <a:rPr lang="en-US" smtClean="0"/>
              <a:t>‹#›</a:t>
            </a:fld>
            <a:endParaRPr lang="en-US"/>
          </a:p>
        </p:txBody>
      </p:sp>
    </p:spTree>
    <p:extLst>
      <p:ext uri="{BB962C8B-B14F-4D97-AF65-F5344CB8AC3E}">
        <p14:creationId xmlns:p14="http://schemas.microsoft.com/office/powerpoint/2010/main" val="36512511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6997401-DFDB-4808-9C2B-FC77C5707F96}" type="datetimeFigureOut">
              <a:rPr lang="en-US" smtClean="0"/>
              <a:t>4/6/2026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51C2509-B340-415D-8A02-5E0194F5A8EA}" type="slidenum">
              <a:rPr lang="en-US" smtClean="0"/>
              <a:t>‹#›</a:t>
            </a:fld>
            <a:endParaRPr lang="en-US"/>
          </a:p>
        </p:txBody>
      </p:sp>
    </p:spTree>
    <p:extLst>
      <p:ext uri="{BB962C8B-B14F-4D97-AF65-F5344CB8AC3E}">
        <p14:creationId xmlns:p14="http://schemas.microsoft.com/office/powerpoint/2010/main" val="28049159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6997401-DFDB-4808-9C2B-FC77C5707F96}" type="datetimeFigureOut">
              <a:rPr lang="en-US" smtClean="0"/>
              <a:t>4/6/2026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51C2509-B340-415D-8A02-5E0194F5A8EA}" type="slidenum">
              <a:rPr lang="en-US" smtClean="0"/>
              <a:t>‹#›</a:t>
            </a:fld>
            <a:endParaRPr lang="en-US"/>
          </a:p>
        </p:txBody>
      </p:sp>
    </p:spTree>
    <p:extLst>
      <p:ext uri="{BB962C8B-B14F-4D97-AF65-F5344CB8AC3E}">
        <p14:creationId xmlns:p14="http://schemas.microsoft.com/office/powerpoint/2010/main" val="14072958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6997401-DFDB-4808-9C2B-FC77C5707F96}" type="datetimeFigureOut">
              <a:rPr lang="en-US" smtClean="0"/>
              <a:t>4/6/2026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51C2509-B340-415D-8A02-5E0194F5A8EA}" type="slidenum">
              <a:rPr lang="en-US" smtClean="0"/>
              <a:t>‹#›</a:t>
            </a:fld>
            <a:endParaRPr lang="en-US"/>
          </a:p>
        </p:txBody>
      </p:sp>
    </p:spTree>
    <p:extLst>
      <p:ext uri="{BB962C8B-B14F-4D97-AF65-F5344CB8AC3E}">
        <p14:creationId xmlns:p14="http://schemas.microsoft.com/office/powerpoint/2010/main" val="14173270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6997401-DFDB-4808-9C2B-FC77C5707F96}" type="datetimeFigureOut">
              <a:rPr lang="en-US" smtClean="0"/>
              <a:t>4/6/2026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51C2509-B340-415D-8A02-5E0194F5A8EA}" type="slidenum">
              <a:rPr lang="en-US" smtClean="0"/>
              <a:t>‹#›</a:t>
            </a:fld>
            <a:endParaRPr lang="en-US"/>
          </a:p>
        </p:txBody>
      </p:sp>
    </p:spTree>
    <p:extLst>
      <p:ext uri="{BB962C8B-B14F-4D97-AF65-F5344CB8AC3E}">
        <p14:creationId xmlns:p14="http://schemas.microsoft.com/office/powerpoint/2010/main" val="417412396"/>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5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FF621C-B24E-5D71-8492-B39CF09DA2BA}"/>
              </a:ext>
            </a:extLst>
          </p:cNvPr>
          <p:cNvSpPr>
            <a:spLocks noGrp="1"/>
          </p:cNvSpPr>
          <p:nvPr>
            <p:ph type="ctrTitle"/>
          </p:nvPr>
        </p:nvSpPr>
        <p:spPr/>
        <p:txBody>
          <a:bodyPr/>
          <a:lstStyle/>
          <a:p>
            <a:r>
              <a:rPr lang="en-US" dirty="0"/>
              <a:t>CNN classification for OCT in </a:t>
            </a:r>
            <a:r>
              <a:rPr lang="en-US" dirty="0" err="1"/>
              <a:t>PyTorch</a:t>
            </a:r>
            <a:endParaRPr lang="en-US" dirty="0"/>
          </a:p>
        </p:txBody>
      </p:sp>
      <p:sp>
        <p:nvSpPr>
          <p:cNvPr id="3" name="Subtitle 2">
            <a:extLst>
              <a:ext uri="{FF2B5EF4-FFF2-40B4-BE49-F238E27FC236}">
                <a16:creationId xmlns:a16="http://schemas.microsoft.com/office/drawing/2014/main" id="{AC3F5F21-75D3-6B33-9DD5-7302B534D9AB}"/>
              </a:ext>
            </a:extLst>
          </p:cNvPr>
          <p:cNvSpPr>
            <a:spLocks noGrp="1"/>
          </p:cNvSpPr>
          <p:nvPr>
            <p:ph type="subTitle" idx="1"/>
          </p:nvPr>
        </p:nvSpPr>
        <p:spPr/>
        <p:txBody>
          <a:bodyPr/>
          <a:lstStyle/>
          <a:p>
            <a:r>
              <a:rPr lang="en-US" dirty="0"/>
              <a:t>Mir. H</a:t>
            </a:r>
          </a:p>
        </p:txBody>
      </p:sp>
    </p:spTree>
    <p:extLst>
      <p:ext uri="{BB962C8B-B14F-4D97-AF65-F5344CB8AC3E}">
        <p14:creationId xmlns:p14="http://schemas.microsoft.com/office/powerpoint/2010/main" val="9661340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160721-08F0-312C-19C7-E0F4FF15990C}"/>
              </a:ext>
            </a:extLst>
          </p:cNvPr>
          <p:cNvSpPr>
            <a:spLocks noGrp="1"/>
          </p:cNvSpPr>
          <p:nvPr>
            <p:ph type="title"/>
          </p:nvPr>
        </p:nvSpPr>
        <p:spPr/>
        <p:txBody>
          <a:bodyPr/>
          <a:lstStyle/>
          <a:p>
            <a:r>
              <a:rPr lang="en-US" dirty="0"/>
              <a:t>Imagine a greyscale image.</a:t>
            </a:r>
          </a:p>
        </p:txBody>
      </p:sp>
      <p:pic>
        <p:nvPicPr>
          <p:cNvPr id="1028" name="Picture 4">
            <a:extLst>
              <a:ext uri="{FF2B5EF4-FFF2-40B4-BE49-F238E27FC236}">
                <a16:creationId xmlns:a16="http://schemas.microsoft.com/office/drawing/2014/main" id="{6705CA1B-2144-1A6B-6EA7-C41F2592D90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4317488" y="2122198"/>
            <a:ext cx="3557023" cy="3758191"/>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92E454A8-A1AE-F134-5F5D-A8AD1871A794}"/>
              </a:ext>
            </a:extLst>
          </p:cNvPr>
          <p:cNvSpPr/>
          <p:nvPr/>
        </p:nvSpPr>
        <p:spPr>
          <a:xfrm>
            <a:off x="4559918" y="1360448"/>
            <a:ext cx="3072161" cy="189571"/>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7" name="Rectangle 6">
            <a:extLst>
              <a:ext uri="{FF2B5EF4-FFF2-40B4-BE49-F238E27FC236}">
                <a16:creationId xmlns:a16="http://schemas.microsoft.com/office/drawing/2014/main" id="{8D4C06EB-0E9A-BF91-06C3-C1647C794DEF}"/>
              </a:ext>
            </a:extLst>
          </p:cNvPr>
          <p:cNvSpPr/>
          <p:nvPr/>
        </p:nvSpPr>
        <p:spPr>
          <a:xfrm>
            <a:off x="5363737" y="1981529"/>
            <a:ext cx="2029522" cy="379142"/>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8" name="TextBox 7">
            <a:extLst>
              <a:ext uri="{FF2B5EF4-FFF2-40B4-BE49-F238E27FC236}">
                <a16:creationId xmlns:a16="http://schemas.microsoft.com/office/drawing/2014/main" id="{74947E94-C156-66B0-EC13-5DB1F7D58307}"/>
              </a:ext>
            </a:extLst>
          </p:cNvPr>
          <p:cNvSpPr txBox="1"/>
          <p:nvPr/>
        </p:nvSpPr>
        <p:spPr>
          <a:xfrm>
            <a:off x="4705815" y="5942567"/>
            <a:ext cx="5374888" cy="369332"/>
          </a:xfrm>
          <a:prstGeom prst="rect">
            <a:avLst/>
          </a:prstGeom>
          <a:noFill/>
        </p:spPr>
        <p:txBody>
          <a:bodyPr wrap="square" rtlCol="0">
            <a:spAutoFit/>
          </a:bodyPr>
          <a:lstStyle/>
          <a:p>
            <a:r>
              <a:rPr lang="en-US" dirty="0"/>
              <a:t>This is a picture of an eye.</a:t>
            </a:r>
          </a:p>
        </p:txBody>
      </p:sp>
    </p:spTree>
    <p:extLst>
      <p:ext uri="{BB962C8B-B14F-4D97-AF65-F5344CB8AC3E}">
        <p14:creationId xmlns:p14="http://schemas.microsoft.com/office/powerpoint/2010/main" val="40955201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BF4D66-7299-6D55-6D7A-713338253B7A}"/>
              </a:ext>
            </a:extLst>
          </p:cNvPr>
          <p:cNvSpPr>
            <a:spLocks noGrp="1"/>
          </p:cNvSpPr>
          <p:nvPr>
            <p:ph type="title"/>
          </p:nvPr>
        </p:nvSpPr>
        <p:spPr/>
        <p:txBody>
          <a:bodyPr/>
          <a:lstStyle/>
          <a:p>
            <a:r>
              <a:rPr lang="en-US" dirty="0"/>
              <a:t>What is OCT?</a:t>
            </a:r>
          </a:p>
        </p:txBody>
      </p:sp>
      <p:sp>
        <p:nvSpPr>
          <p:cNvPr id="3" name="Content Placeholder 2">
            <a:extLst>
              <a:ext uri="{FF2B5EF4-FFF2-40B4-BE49-F238E27FC236}">
                <a16:creationId xmlns:a16="http://schemas.microsoft.com/office/drawing/2014/main" id="{7D2D8C4D-5E67-80A1-2983-08B5CE68B0E9}"/>
              </a:ext>
            </a:extLst>
          </p:cNvPr>
          <p:cNvSpPr>
            <a:spLocks noGrp="1"/>
          </p:cNvSpPr>
          <p:nvPr>
            <p:ph idx="1"/>
          </p:nvPr>
        </p:nvSpPr>
        <p:spPr/>
        <p:txBody>
          <a:bodyPr/>
          <a:lstStyle/>
          <a:p>
            <a:pPr marL="0" indent="0">
              <a:buNone/>
            </a:pPr>
            <a:r>
              <a:rPr lang="en-US" dirty="0"/>
              <a:t>Retinal optical coherence tomography (OCT) is an imaging technique used to capture high-resolution cross sections of the retinas of living patients.</a:t>
            </a:r>
          </a:p>
          <a:p>
            <a:pPr marL="0" indent="0">
              <a:buNone/>
            </a:pPr>
            <a:endParaRPr lang="en-US" dirty="0"/>
          </a:p>
        </p:txBody>
      </p:sp>
    </p:spTree>
    <p:extLst>
      <p:ext uri="{BB962C8B-B14F-4D97-AF65-F5344CB8AC3E}">
        <p14:creationId xmlns:p14="http://schemas.microsoft.com/office/powerpoint/2010/main" val="7913614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67567D-4BEE-11C1-4551-0D98033BD248}"/>
              </a:ext>
            </a:extLst>
          </p:cNvPr>
          <p:cNvSpPr>
            <a:spLocks noGrp="1"/>
          </p:cNvSpPr>
          <p:nvPr>
            <p:ph type="title"/>
          </p:nvPr>
        </p:nvSpPr>
        <p:spPr/>
        <p:txBody>
          <a:bodyPr>
            <a:normAutofit fontScale="90000"/>
          </a:bodyPr>
          <a:lstStyle/>
          <a:p>
            <a:r>
              <a:rPr lang="en-US" dirty="0"/>
              <a:t>Now imagine 84484 different 256pxl x 256pxl greyscale .jpeg images of different eyes. </a:t>
            </a:r>
            <a:br>
              <a:rPr lang="en-US" dirty="0"/>
            </a:br>
            <a:r>
              <a:rPr lang="en-US" dirty="0"/>
              <a:t>And </a:t>
            </a:r>
            <a:r>
              <a:rPr lang="en-US" dirty="0" err="1"/>
              <a:t>PyTorch</a:t>
            </a:r>
            <a:r>
              <a:rPr lang="en-US" dirty="0"/>
              <a:t>.</a:t>
            </a:r>
          </a:p>
        </p:txBody>
      </p:sp>
      <p:sp>
        <p:nvSpPr>
          <p:cNvPr id="3" name="Content Placeholder 2">
            <a:extLst>
              <a:ext uri="{FF2B5EF4-FFF2-40B4-BE49-F238E27FC236}">
                <a16:creationId xmlns:a16="http://schemas.microsoft.com/office/drawing/2014/main" id="{9F54BB46-2670-AB7A-8648-66F3373A3275}"/>
              </a:ext>
            </a:extLst>
          </p:cNvPr>
          <p:cNvSpPr>
            <a:spLocks noGrp="1"/>
          </p:cNvSpPr>
          <p:nvPr>
            <p:ph idx="1"/>
          </p:nvPr>
        </p:nvSpPr>
        <p:spPr/>
        <p:txBody>
          <a:bodyPr>
            <a:normAutofit/>
          </a:bodyPr>
          <a:lstStyle/>
          <a:p>
            <a:pPr marL="0" indent="0">
              <a:buNone/>
            </a:pPr>
            <a:r>
              <a:rPr lang="en-US" dirty="0"/>
              <a:t>We want to build a model that can predict if any of the following diseases are present in the eye:  </a:t>
            </a:r>
            <a:r>
              <a:rPr lang="de-DE" dirty="0"/>
              <a:t>CNV, DME, DRUSEN, NORMAL </a:t>
            </a:r>
            <a:r>
              <a:rPr lang="en-US" dirty="0"/>
              <a:t>on a new 256pxl by 256pxl greyscale of an eye.</a:t>
            </a:r>
          </a:p>
          <a:p>
            <a:pPr marL="0" indent="0">
              <a:buNone/>
            </a:pPr>
            <a:endParaRPr lang="en-US" dirty="0"/>
          </a:p>
          <a:p>
            <a:pPr marL="0" indent="0">
              <a:buNone/>
            </a:pPr>
            <a:r>
              <a:rPr lang="en-US" dirty="0"/>
              <a:t>We have 84484 greyscale images of adult patient retinas from the Shiley Eye Institute of the University of California San Diego, the California Retinal Research Foundation, Medical Center Ophthalmology Associates, the Shanghai First People’s Hospital, and Beijing Tongren Eye Center between July 1, 2013 and March 1, 2017. organized in folders by diagnosis </a:t>
            </a:r>
            <a:r>
              <a:rPr lang="de-DE" dirty="0"/>
              <a:t>CNV, DME, DRUSEN, and NORMAL.</a:t>
            </a:r>
            <a:endParaRPr lang="en-US" dirty="0"/>
          </a:p>
        </p:txBody>
      </p:sp>
      <p:sp>
        <p:nvSpPr>
          <p:cNvPr id="4" name="Rectangle 3">
            <a:extLst>
              <a:ext uri="{FF2B5EF4-FFF2-40B4-BE49-F238E27FC236}">
                <a16:creationId xmlns:a16="http://schemas.microsoft.com/office/drawing/2014/main" id="{7A825CD1-4B72-1ECE-58A7-1FB39673B881}"/>
              </a:ext>
            </a:extLst>
          </p:cNvPr>
          <p:cNvSpPr/>
          <p:nvPr/>
        </p:nvSpPr>
        <p:spPr>
          <a:xfrm>
            <a:off x="1761893" y="6021659"/>
            <a:ext cx="7995424" cy="657921"/>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This was based on the opinion of four ophthalmologists, two expert senior retinal specialists and many other researchers.</a:t>
            </a:r>
          </a:p>
        </p:txBody>
      </p:sp>
    </p:spTree>
    <p:extLst>
      <p:ext uri="{BB962C8B-B14F-4D97-AF65-F5344CB8AC3E}">
        <p14:creationId xmlns:p14="http://schemas.microsoft.com/office/powerpoint/2010/main" val="11117679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517864-3B74-5633-E50D-F1709EEA2733}"/>
              </a:ext>
            </a:extLst>
          </p:cNvPr>
          <p:cNvSpPr>
            <a:spLocks noGrp="1"/>
          </p:cNvSpPr>
          <p:nvPr>
            <p:ph type="title"/>
          </p:nvPr>
        </p:nvSpPr>
        <p:spPr/>
        <p:txBody>
          <a:bodyPr/>
          <a:lstStyle/>
          <a:p>
            <a:r>
              <a:rPr lang="en-US" dirty="0"/>
              <a:t>What is a 256pxl by 256pxl greyscale image actually? What is the structure?</a:t>
            </a:r>
          </a:p>
        </p:txBody>
      </p:sp>
      <p:sp>
        <p:nvSpPr>
          <p:cNvPr id="7" name="Content Placeholder 6">
            <a:extLst>
              <a:ext uri="{FF2B5EF4-FFF2-40B4-BE49-F238E27FC236}">
                <a16:creationId xmlns:a16="http://schemas.microsoft.com/office/drawing/2014/main" id="{592BFE6A-37EF-9F75-C6E6-841A8606EA78}"/>
              </a:ext>
            </a:extLst>
          </p:cNvPr>
          <p:cNvSpPr>
            <a:spLocks noGrp="1"/>
          </p:cNvSpPr>
          <p:nvPr>
            <p:ph idx="1"/>
          </p:nvPr>
        </p:nvSpPr>
        <p:spPr>
          <a:ln>
            <a:solidFill>
              <a:schemeClr val="bg1"/>
            </a:solidFill>
          </a:ln>
        </p:spPr>
        <p:txBody>
          <a:bodyPr/>
          <a:lstStyle/>
          <a:p>
            <a:pPr marL="0" indent="0">
              <a:buNone/>
            </a:pPr>
            <a:endParaRPr lang="en-US" dirty="0"/>
          </a:p>
        </p:txBody>
      </p:sp>
      <p:pic>
        <p:nvPicPr>
          <p:cNvPr id="9" name="Picture 8">
            <a:extLst>
              <a:ext uri="{FF2B5EF4-FFF2-40B4-BE49-F238E27FC236}">
                <a16:creationId xmlns:a16="http://schemas.microsoft.com/office/drawing/2014/main" id="{2109B2A7-E345-6EDB-2FF0-1374FA76FC97}"/>
              </a:ext>
            </a:extLst>
          </p:cNvPr>
          <p:cNvPicPr>
            <a:picLocks noChangeAspect="1"/>
          </p:cNvPicPr>
          <p:nvPr/>
        </p:nvPicPr>
        <p:blipFill>
          <a:blip r:embed="rId2"/>
          <a:stretch>
            <a:fillRect/>
          </a:stretch>
        </p:blipFill>
        <p:spPr>
          <a:xfrm>
            <a:off x="922615" y="1909959"/>
            <a:ext cx="10346770" cy="3542175"/>
          </a:xfrm>
          <a:prstGeom prst="rect">
            <a:avLst/>
          </a:prstGeom>
        </p:spPr>
      </p:pic>
    </p:spTree>
    <p:extLst>
      <p:ext uri="{BB962C8B-B14F-4D97-AF65-F5344CB8AC3E}">
        <p14:creationId xmlns:p14="http://schemas.microsoft.com/office/powerpoint/2010/main" val="28266117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840035-6E48-27A8-F791-69AEA85C09E1}"/>
              </a:ext>
            </a:extLst>
          </p:cNvPr>
          <p:cNvSpPr>
            <a:spLocks noGrp="1"/>
          </p:cNvSpPr>
          <p:nvPr>
            <p:ph type="title"/>
          </p:nvPr>
        </p:nvSpPr>
        <p:spPr/>
        <p:txBody>
          <a:bodyPr/>
          <a:lstStyle/>
          <a:p>
            <a:r>
              <a:rPr lang="en-US" dirty="0"/>
              <a:t>But what about color? RGB?</a:t>
            </a:r>
          </a:p>
        </p:txBody>
      </p:sp>
      <p:sp>
        <p:nvSpPr>
          <p:cNvPr id="3" name="Content Placeholder 2">
            <a:extLst>
              <a:ext uri="{FF2B5EF4-FFF2-40B4-BE49-F238E27FC236}">
                <a16:creationId xmlns:a16="http://schemas.microsoft.com/office/drawing/2014/main" id="{2ECA256B-30B3-8555-AA9D-BF001DB15013}"/>
              </a:ext>
            </a:extLst>
          </p:cNvPr>
          <p:cNvSpPr>
            <a:spLocks noGrp="1"/>
          </p:cNvSpPr>
          <p:nvPr>
            <p:ph idx="1"/>
          </p:nvPr>
        </p:nvSpPr>
        <p:spPr/>
        <p:txBody>
          <a:bodyPr/>
          <a:lstStyle/>
          <a:p>
            <a:pPr marL="0" indent="0">
              <a:buNone/>
            </a:pPr>
            <a:r>
              <a:rPr lang="en-US" dirty="0"/>
              <a:t>Easy! You have a 3x256x256 matrix of values corresponding to RGB color brightness at every pixel in the image. </a:t>
            </a:r>
          </a:p>
        </p:txBody>
      </p:sp>
      <p:sp>
        <p:nvSpPr>
          <p:cNvPr id="12" name="Flowchart: Process 11">
            <a:extLst>
              <a:ext uri="{FF2B5EF4-FFF2-40B4-BE49-F238E27FC236}">
                <a16:creationId xmlns:a16="http://schemas.microsoft.com/office/drawing/2014/main" id="{E905C518-4E59-27C8-B199-3D595C1E9963}"/>
              </a:ext>
            </a:extLst>
          </p:cNvPr>
          <p:cNvSpPr/>
          <p:nvPr/>
        </p:nvSpPr>
        <p:spPr>
          <a:xfrm>
            <a:off x="3010830" y="3429000"/>
            <a:ext cx="2743200" cy="2743200"/>
          </a:xfrm>
          <a:prstGeom prst="flowChartProcess">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lowchart: Process 12">
            <a:extLst>
              <a:ext uri="{FF2B5EF4-FFF2-40B4-BE49-F238E27FC236}">
                <a16:creationId xmlns:a16="http://schemas.microsoft.com/office/drawing/2014/main" id="{998803C3-E8B6-D9AC-5D96-B5BF1B579BFC}"/>
              </a:ext>
            </a:extLst>
          </p:cNvPr>
          <p:cNvSpPr/>
          <p:nvPr/>
        </p:nvSpPr>
        <p:spPr>
          <a:xfrm>
            <a:off x="4501376" y="3623740"/>
            <a:ext cx="2743200" cy="2743200"/>
          </a:xfrm>
          <a:prstGeom prst="flowChartProcess">
            <a:avLst/>
          </a:prstGeom>
          <a:solidFill>
            <a:srgbClr val="26FF0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lowchart: Process 13">
            <a:extLst>
              <a:ext uri="{FF2B5EF4-FFF2-40B4-BE49-F238E27FC236}">
                <a16:creationId xmlns:a16="http://schemas.microsoft.com/office/drawing/2014/main" id="{E74C3AEF-7407-E81E-D133-C8DA4D73BDB0}"/>
              </a:ext>
            </a:extLst>
          </p:cNvPr>
          <p:cNvSpPr/>
          <p:nvPr/>
        </p:nvSpPr>
        <p:spPr>
          <a:xfrm>
            <a:off x="6166625" y="3818480"/>
            <a:ext cx="2743200" cy="2743200"/>
          </a:xfrm>
          <a:prstGeom prst="flowChartProcess">
            <a:avLst/>
          </a:prstGeom>
          <a:solidFill>
            <a:srgbClr val="0066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 name="Straight Connector 16">
            <a:extLst>
              <a:ext uri="{FF2B5EF4-FFF2-40B4-BE49-F238E27FC236}">
                <a16:creationId xmlns:a16="http://schemas.microsoft.com/office/drawing/2014/main" id="{0B4AAF5D-59A1-12E7-2007-B4F33CD54668}"/>
              </a:ext>
            </a:extLst>
          </p:cNvPr>
          <p:cNvCxnSpPr>
            <a:cxnSpLocks/>
          </p:cNvCxnSpPr>
          <p:nvPr/>
        </p:nvCxnSpPr>
        <p:spPr>
          <a:xfrm>
            <a:off x="3010830" y="3160965"/>
            <a:ext cx="27432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19148B93-4BF1-C8BB-50FB-FFD444D66478}"/>
              </a:ext>
            </a:extLst>
          </p:cNvPr>
          <p:cNvCxnSpPr>
            <a:cxnSpLocks/>
          </p:cNvCxnSpPr>
          <p:nvPr/>
        </p:nvCxnSpPr>
        <p:spPr>
          <a:xfrm>
            <a:off x="2627971" y="3429000"/>
            <a:ext cx="0" cy="27432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1619AF5F-528E-3413-534B-78C711146885}"/>
              </a:ext>
            </a:extLst>
          </p:cNvPr>
          <p:cNvCxnSpPr>
            <a:cxnSpLocks/>
          </p:cNvCxnSpPr>
          <p:nvPr/>
        </p:nvCxnSpPr>
        <p:spPr>
          <a:xfrm>
            <a:off x="5754030" y="3020747"/>
            <a:ext cx="0" cy="28043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A961073F-1DE2-2C98-554A-38202424FDCF}"/>
              </a:ext>
            </a:extLst>
          </p:cNvPr>
          <p:cNvCxnSpPr>
            <a:cxnSpLocks/>
          </p:cNvCxnSpPr>
          <p:nvPr/>
        </p:nvCxnSpPr>
        <p:spPr>
          <a:xfrm>
            <a:off x="3010830" y="3033773"/>
            <a:ext cx="0" cy="28043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32A31C6E-9795-F1F2-46DE-C2ADCFFA5027}"/>
              </a:ext>
            </a:extLst>
          </p:cNvPr>
          <p:cNvCxnSpPr>
            <a:cxnSpLocks/>
          </p:cNvCxnSpPr>
          <p:nvPr/>
        </p:nvCxnSpPr>
        <p:spPr>
          <a:xfrm>
            <a:off x="2408663" y="3426939"/>
            <a:ext cx="43861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312F3A1A-2455-9445-4F0C-818C35EAD4EE}"/>
              </a:ext>
            </a:extLst>
          </p:cNvPr>
          <p:cNvCxnSpPr>
            <a:cxnSpLocks/>
          </p:cNvCxnSpPr>
          <p:nvPr/>
        </p:nvCxnSpPr>
        <p:spPr>
          <a:xfrm>
            <a:off x="2408663" y="6172200"/>
            <a:ext cx="43861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D65D5CA6-37F0-8E6E-12E5-DEA4F691EAA1}"/>
              </a:ext>
            </a:extLst>
          </p:cNvPr>
          <p:cNvSpPr txBox="1"/>
          <p:nvPr/>
        </p:nvSpPr>
        <p:spPr>
          <a:xfrm>
            <a:off x="4125950" y="2674951"/>
            <a:ext cx="1449658" cy="369332"/>
          </a:xfrm>
          <a:prstGeom prst="rect">
            <a:avLst/>
          </a:prstGeom>
          <a:noFill/>
        </p:spPr>
        <p:txBody>
          <a:bodyPr wrap="square" rtlCol="0">
            <a:spAutoFit/>
          </a:bodyPr>
          <a:lstStyle/>
          <a:p>
            <a:r>
              <a:rPr lang="en-US" dirty="0"/>
              <a:t>256 </a:t>
            </a:r>
          </a:p>
        </p:txBody>
      </p:sp>
      <p:sp>
        <p:nvSpPr>
          <p:cNvPr id="32" name="TextBox 31">
            <a:extLst>
              <a:ext uri="{FF2B5EF4-FFF2-40B4-BE49-F238E27FC236}">
                <a16:creationId xmlns:a16="http://schemas.microsoft.com/office/drawing/2014/main" id="{85050479-4765-80D9-2F09-21F686B0C5A6}"/>
              </a:ext>
            </a:extLst>
          </p:cNvPr>
          <p:cNvSpPr txBox="1"/>
          <p:nvPr/>
        </p:nvSpPr>
        <p:spPr>
          <a:xfrm>
            <a:off x="1873406" y="4614903"/>
            <a:ext cx="1449658" cy="369332"/>
          </a:xfrm>
          <a:prstGeom prst="rect">
            <a:avLst/>
          </a:prstGeom>
          <a:noFill/>
        </p:spPr>
        <p:txBody>
          <a:bodyPr wrap="square" rtlCol="0">
            <a:spAutoFit/>
          </a:bodyPr>
          <a:lstStyle/>
          <a:p>
            <a:r>
              <a:rPr lang="en-US" dirty="0"/>
              <a:t>256 </a:t>
            </a:r>
          </a:p>
        </p:txBody>
      </p:sp>
      <p:cxnSp>
        <p:nvCxnSpPr>
          <p:cNvPr id="34" name="Straight Connector 33">
            <a:extLst>
              <a:ext uri="{FF2B5EF4-FFF2-40B4-BE49-F238E27FC236}">
                <a16:creationId xmlns:a16="http://schemas.microsoft.com/office/drawing/2014/main" id="{8E0596FF-88DF-0B80-A13E-FCC82B97D988}"/>
              </a:ext>
            </a:extLst>
          </p:cNvPr>
          <p:cNvCxnSpPr>
            <a:cxnSpLocks/>
          </p:cNvCxnSpPr>
          <p:nvPr/>
        </p:nvCxnSpPr>
        <p:spPr>
          <a:xfrm flipV="1">
            <a:off x="4382431" y="2998445"/>
            <a:ext cx="0" cy="15324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403EB687-8FDF-67E4-4F17-DD8A58B45130}"/>
              </a:ext>
            </a:extLst>
          </p:cNvPr>
          <p:cNvCxnSpPr>
            <a:cxnSpLocks/>
          </p:cNvCxnSpPr>
          <p:nvPr/>
        </p:nvCxnSpPr>
        <p:spPr>
          <a:xfrm flipH="1">
            <a:off x="2393794" y="4799570"/>
            <a:ext cx="23417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183787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lowchart: Process 3">
            <a:extLst>
              <a:ext uri="{FF2B5EF4-FFF2-40B4-BE49-F238E27FC236}">
                <a16:creationId xmlns:a16="http://schemas.microsoft.com/office/drawing/2014/main" id="{82815462-5B57-2BD8-881C-534B812E95A8}"/>
              </a:ext>
            </a:extLst>
          </p:cNvPr>
          <p:cNvSpPr/>
          <p:nvPr/>
        </p:nvSpPr>
        <p:spPr>
          <a:xfrm>
            <a:off x="3592023" y="2057400"/>
            <a:ext cx="1371600" cy="1371600"/>
          </a:xfrm>
          <a:prstGeom prst="flowChartProcess">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lowchart: Process 4">
            <a:extLst>
              <a:ext uri="{FF2B5EF4-FFF2-40B4-BE49-F238E27FC236}">
                <a16:creationId xmlns:a16="http://schemas.microsoft.com/office/drawing/2014/main" id="{E3842189-2FC7-A681-0C6F-113B8A6DEA24}"/>
              </a:ext>
            </a:extLst>
          </p:cNvPr>
          <p:cNvSpPr/>
          <p:nvPr/>
        </p:nvSpPr>
        <p:spPr>
          <a:xfrm>
            <a:off x="4963623" y="2057400"/>
            <a:ext cx="1371600" cy="1371600"/>
          </a:xfrm>
          <a:prstGeom prst="flowChartProcess">
            <a:avLst/>
          </a:prstGeom>
          <a:solidFill>
            <a:srgbClr val="26FF0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lowchart: Process 5">
            <a:extLst>
              <a:ext uri="{FF2B5EF4-FFF2-40B4-BE49-F238E27FC236}">
                <a16:creationId xmlns:a16="http://schemas.microsoft.com/office/drawing/2014/main" id="{F0FD2BA4-D44A-FC02-1096-6B58A96E8B0F}"/>
              </a:ext>
            </a:extLst>
          </p:cNvPr>
          <p:cNvSpPr/>
          <p:nvPr/>
        </p:nvSpPr>
        <p:spPr>
          <a:xfrm>
            <a:off x="6335223" y="2057400"/>
            <a:ext cx="1371600" cy="1371600"/>
          </a:xfrm>
          <a:prstGeom prst="flowChartProcess">
            <a:avLst/>
          </a:prstGeom>
          <a:solidFill>
            <a:srgbClr val="0066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CF7419A4-48EF-8C61-FA04-6C04193F4F5F}"/>
              </a:ext>
            </a:extLst>
          </p:cNvPr>
          <p:cNvSpPr txBox="1"/>
          <p:nvPr/>
        </p:nvSpPr>
        <p:spPr>
          <a:xfrm flipH="1">
            <a:off x="1689932" y="4338400"/>
            <a:ext cx="8396416" cy="646331"/>
          </a:xfrm>
          <a:prstGeom prst="rect">
            <a:avLst/>
          </a:prstGeom>
          <a:noFill/>
        </p:spPr>
        <p:txBody>
          <a:bodyPr wrap="square" rtlCol="0">
            <a:spAutoFit/>
          </a:bodyPr>
          <a:lstStyle/>
          <a:p>
            <a:r>
              <a:rPr lang="en-US" dirty="0"/>
              <a:t>This is a single RGB pixel, composed of three different subpixels and their brightness in some range, usually [0, 256].</a:t>
            </a:r>
          </a:p>
        </p:txBody>
      </p:sp>
    </p:spTree>
    <p:extLst>
      <p:ext uri="{BB962C8B-B14F-4D97-AF65-F5344CB8AC3E}">
        <p14:creationId xmlns:p14="http://schemas.microsoft.com/office/powerpoint/2010/main" val="37956505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6F7844-7E0E-43FF-ED1E-722BC45DE2C6}"/>
              </a:ext>
            </a:extLst>
          </p:cNvPr>
          <p:cNvSpPr>
            <a:spLocks noGrp="1"/>
          </p:cNvSpPr>
          <p:nvPr>
            <p:ph type="title"/>
          </p:nvPr>
        </p:nvSpPr>
        <p:spPr/>
        <p:txBody>
          <a:bodyPr/>
          <a:lstStyle/>
          <a:p>
            <a:r>
              <a:rPr lang="en-US" dirty="0"/>
              <a:t>Preprocessing</a:t>
            </a:r>
          </a:p>
        </p:txBody>
      </p:sp>
      <p:sp>
        <p:nvSpPr>
          <p:cNvPr id="3" name="Content Placeholder 2">
            <a:extLst>
              <a:ext uri="{FF2B5EF4-FFF2-40B4-BE49-F238E27FC236}">
                <a16:creationId xmlns:a16="http://schemas.microsoft.com/office/drawing/2014/main" id="{80D17713-1A13-FBED-AB50-9CC4BABF4152}"/>
              </a:ext>
            </a:extLst>
          </p:cNvPr>
          <p:cNvSpPr>
            <a:spLocks noGrp="1"/>
          </p:cNvSpPr>
          <p:nvPr>
            <p:ph idx="1"/>
          </p:nvPr>
        </p:nvSpPr>
        <p:spPr>
          <a:xfrm>
            <a:off x="586333" y="1354150"/>
            <a:ext cx="10767467" cy="4822813"/>
          </a:xfrm>
        </p:spPr>
        <p:txBody>
          <a:bodyPr>
            <a:normAutofit fontScale="55000" lnSpcReduction="20000"/>
          </a:bodyPr>
          <a:lstStyle/>
          <a:p>
            <a:pPr marL="0" indent="0">
              <a:buNone/>
            </a:pPr>
            <a:r>
              <a:rPr lang="en-US" dirty="0"/>
              <a:t>import torch</a:t>
            </a:r>
          </a:p>
          <a:p>
            <a:pPr marL="0" indent="0">
              <a:buNone/>
            </a:pPr>
            <a:r>
              <a:rPr lang="en-US" dirty="0"/>
              <a:t>from </a:t>
            </a:r>
            <a:r>
              <a:rPr lang="en-US" dirty="0" err="1"/>
              <a:t>torchvision</a:t>
            </a:r>
            <a:r>
              <a:rPr lang="en-US" dirty="0"/>
              <a:t> import datasets, transforms</a:t>
            </a:r>
          </a:p>
          <a:p>
            <a:pPr marL="0" indent="0">
              <a:buNone/>
            </a:pPr>
            <a:r>
              <a:rPr lang="en-US" dirty="0"/>
              <a:t>transform = </a:t>
            </a:r>
            <a:r>
              <a:rPr lang="en-US" dirty="0" err="1"/>
              <a:t>transforms.Compose</a:t>
            </a:r>
            <a:r>
              <a:rPr lang="en-US" dirty="0"/>
              <a:t>([</a:t>
            </a:r>
          </a:p>
          <a:p>
            <a:pPr marL="0" indent="0">
              <a:buNone/>
            </a:pPr>
            <a:r>
              <a:rPr lang="en-US" dirty="0"/>
              <a:t>    </a:t>
            </a:r>
            <a:r>
              <a:rPr lang="en-US" dirty="0" err="1"/>
              <a:t>transforms.Grayscale</a:t>
            </a:r>
            <a:r>
              <a:rPr lang="en-US" dirty="0"/>
              <a:t>(</a:t>
            </a:r>
            <a:r>
              <a:rPr lang="en-US" dirty="0" err="1"/>
              <a:t>num_output_channels</a:t>
            </a:r>
            <a:r>
              <a:rPr lang="en-US" dirty="0"/>
              <a:t>=1),  # Map to one channel via a linear combination of input channels.</a:t>
            </a:r>
          </a:p>
          <a:p>
            <a:pPr marL="0" indent="0">
              <a:buNone/>
            </a:pPr>
            <a:r>
              <a:rPr lang="en-US" dirty="0"/>
              <a:t>    </a:t>
            </a:r>
            <a:r>
              <a:rPr lang="en-US" dirty="0" err="1"/>
              <a:t>transforms.Resize</a:t>
            </a:r>
            <a:r>
              <a:rPr lang="en-US" dirty="0"/>
              <a:t>((256, 256)), # Resize all images to be 256pxl by 256 </a:t>
            </a:r>
            <a:r>
              <a:rPr lang="en-US" dirty="0" err="1"/>
              <a:t>pxl</a:t>
            </a:r>
            <a:r>
              <a:rPr lang="en-US" dirty="0"/>
              <a:t>.</a:t>
            </a:r>
          </a:p>
          <a:p>
            <a:pPr marL="0" indent="0">
              <a:buNone/>
            </a:pPr>
            <a:r>
              <a:rPr lang="en-US" dirty="0"/>
              <a:t>    </a:t>
            </a:r>
            <a:r>
              <a:rPr lang="en-US" dirty="0" err="1"/>
              <a:t>transforms.ToTensor</a:t>
            </a:r>
            <a:r>
              <a:rPr lang="en-US" dirty="0"/>
              <a:t>(), # Converts image to a tensor and maps values to [0,1].</a:t>
            </a:r>
          </a:p>
          <a:p>
            <a:pPr marL="0" indent="0">
              <a:buNone/>
            </a:pPr>
            <a:r>
              <a:rPr lang="en-US" dirty="0"/>
              <a:t>    </a:t>
            </a:r>
            <a:r>
              <a:rPr lang="en-US" dirty="0" err="1"/>
              <a:t>transforms.Normalize</a:t>
            </a:r>
            <a:r>
              <a:rPr lang="en-US" dirty="0"/>
              <a:t>(mean=[0.5], std=[0.5]) # normalize values using (x - mean)/std, so 0 - .5 / .5 = -1 and 1 -. 5/.5 = 1. </a:t>
            </a:r>
          </a:p>
          <a:p>
            <a:pPr marL="0" indent="0">
              <a:buNone/>
            </a:pPr>
            <a:r>
              <a:rPr lang="en-US" dirty="0"/>
              <a:t>    # Thus, all values are mapped to [-1,1].</a:t>
            </a:r>
          </a:p>
          <a:p>
            <a:pPr marL="0" indent="0">
              <a:buNone/>
            </a:pPr>
            <a:r>
              <a:rPr lang="en-US" dirty="0"/>
              <a:t>])</a:t>
            </a:r>
          </a:p>
          <a:p>
            <a:pPr marL="0" indent="0">
              <a:buNone/>
            </a:pPr>
            <a:endParaRPr lang="en-US" dirty="0"/>
          </a:p>
          <a:p>
            <a:pPr marL="0" indent="0">
              <a:buNone/>
            </a:pPr>
            <a:r>
              <a:rPr lang="en-US" dirty="0"/>
              <a:t># Create datasets using </a:t>
            </a:r>
            <a:r>
              <a:rPr lang="en-US" dirty="0" err="1"/>
              <a:t>ImageFolder</a:t>
            </a:r>
            <a:r>
              <a:rPr lang="en-US" dirty="0"/>
              <a:t> class</a:t>
            </a:r>
          </a:p>
          <a:p>
            <a:pPr marL="0" indent="0">
              <a:buNone/>
            </a:pPr>
            <a:r>
              <a:rPr lang="en-US" dirty="0" err="1"/>
              <a:t>train_dataset</a:t>
            </a:r>
            <a:r>
              <a:rPr lang="en-US" dirty="0"/>
              <a:t> = </a:t>
            </a:r>
            <a:r>
              <a:rPr lang="en-US" dirty="0" err="1"/>
              <a:t>datasets.ImageFolder</a:t>
            </a:r>
            <a:r>
              <a:rPr lang="en-US" dirty="0"/>
              <a:t>(</a:t>
            </a:r>
            <a:r>
              <a:rPr lang="en-US" dirty="0" err="1"/>
              <a:t>root_train_set</a:t>
            </a:r>
            <a:r>
              <a:rPr lang="en-US" dirty="0"/>
              <a:t>, transform=transform)</a:t>
            </a:r>
          </a:p>
          <a:p>
            <a:pPr marL="0" indent="0">
              <a:buNone/>
            </a:pPr>
            <a:r>
              <a:rPr lang="en-US" dirty="0" err="1"/>
              <a:t>val_dataset</a:t>
            </a:r>
            <a:r>
              <a:rPr lang="en-US" dirty="0"/>
              <a:t>   = </a:t>
            </a:r>
            <a:r>
              <a:rPr lang="en-US" dirty="0" err="1"/>
              <a:t>datasets.ImageFolder</a:t>
            </a:r>
            <a:r>
              <a:rPr lang="en-US" dirty="0"/>
              <a:t>(</a:t>
            </a:r>
            <a:r>
              <a:rPr lang="en-US" dirty="0" err="1"/>
              <a:t>root_validation_set</a:t>
            </a:r>
            <a:r>
              <a:rPr lang="en-US" dirty="0"/>
              <a:t>, transform=transform)</a:t>
            </a:r>
          </a:p>
          <a:p>
            <a:pPr marL="0" indent="0">
              <a:buNone/>
            </a:pPr>
            <a:r>
              <a:rPr lang="en-US" dirty="0" err="1"/>
              <a:t>test_dataset</a:t>
            </a:r>
            <a:r>
              <a:rPr lang="en-US" dirty="0"/>
              <a:t>  = </a:t>
            </a:r>
            <a:r>
              <a:rPr lang="en-US" dirty="0" err="1"/>
              <a:t>datasets.ImageFolder</a:t>
            </a:r>
            <a:r>
              <a:rPr lang="en-US" dirty="0"/>
              <a:t>(</a:t>
            </a:r>
            <a:r>
              <a:rPr lang="en-US" dirty="0" err="1"/>
              <a:t>root_test_set</a:t>
            </a:r>
            <a:r>
              <a:rPr lang="en-US" dirty="0"/>
              <a:t>, transform=transform)</a:t>
            </a:r>
          </a:p>
          <a:p>
            <a:pPr marL="0" indent="0">
              <a:buNone/>
            </a:pPr>
            <a:endParaRPr lang="en-US" dirty="0"/>
          </a:p>
          <a:p>
            <a:pPr marL="0" indent="0">
              <a:buNone/>
            </a:pPr>
            <a:r>
              <a:rPr lang="en-US" dirty="0"/>
              <a:t># We now have transformed our datasets to datatype 1x256x256 tensors of floats with values in [-1,1].</a:t>
            </a:r>
          </a:p>
        </p:txBody>
      </p:sp>
    </p:spTree>
    <p:extLst>
      <p:ext uri="{BB962C8B-B14F-4D97-AF65-F5344CB8AC3E}">
        <p14:creationId xmlns:p14="http://schemas.microsoft.com/office/powerpoint/2010/main" val="28804073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A44549-C7F8-B223-428C-7D76468850AB}"/>
              </a:ext>
            </a:extLst>
          </p:cNvPr>
          <p:cNvSpPr>
            <a:spLocks noGrp="1"/>
          </p:cNvSpPr>
          <p:nvPr>
            <p:ph type="title"/>
          </p:nvPr>
        </p:nvSpPr>
        <p:spPr/>
        <p:txBody>
          <a:bodyPr/>
          <a:lstStyle/>
          <a:p>
            <a:r>
              <a:rPr lang="en-US" dirty="0" err="1"/>
              <a:t>ImageFolder</a:t>
            </a:r>
            <a:r>
              <a:rPr lang="en-US" dirty="0"/>
              <a:t>()</a:t>
            </a:r>
          </a:p>
        </p:txBody>
      </p:sp>
      <p:sp>
        <p:nvSpPr>
          <p:cNvPr id="3" name="Content Placeholder 2">
            <a:extLst>
              <a:ext uri="{FF2B5EF4-FFF2-40B4-BE49-F238E27FC236}">
                <a16:creationId xmlns:a16="http://schemas.microsoft.com/office/drawing/2014/main" id="{E9AE3841-6565-6FFE-D5CB-F5EAD6D115F6}"/>
              </a:ext>
            </a:extLst>
          </p:cNvPr>
          <p:cNvSpPr>
            <a:spLocks noGrp="1"/>
          </p:cNvSpPr>
          <p:nvPr>
            <p:ph idx="1"/>
          </p:nvPr>
        </p:nvSpPr>
        <p:spPr/>
        <p:txBody>
          <a:bodyPr>
            <a:normAutofit fontScale="92500"/>
          </a:bodyPr>
          <a:lstStyle/>
          <a:p>
            <a:pPr marL="0" indent="0">
              <a:buNone/>
            </a:pPr>
            <a:r>
              <a:rPr lang="en-US" dirty="0"/>
              <a:t>The </a:t>
            </a:r>
            <a:r>
              <a:rPr lang="en-US" dirty="0" err="1"/>
              <a:t>ImageFolder</a:t>
            </a:r>
            <a:r>
              <a:rPr lang="en-US" dirty="0"/>
              <a:t> class in </a:t>
            </a:r>
            <a:r>
              <a:rPr lang="en-US" dirty="0" err="1"/>
              <a:t>PyTorch</a:t>
            </a:r>
            <a:r>
              <a:rPr lang="en-US" dirty="0"/>
              <a:t> loads images from a directory where each subfolder corresponds to a class label. </a:t>
            </a:r>
          </a:p>
          <a:p>
            <a:pPr marL="0" indent="0">
              <a:buNone/>
            </a:pPr>
            <a:r>
              <a:rPr lang="en-US" dirty="0"/>
              <a:t>All images are passed through a specified transform pipeline, and the dataset returns image–label pairs, where labels are encoded as numeric indices. </a:t>
            </a:r>
          </a:p>
          <a:p>
            <a:pPr marL="0" indent="0">
              <a:buNone/>
            </a:pPr>
            <a:r>
              <a:rPr lang="en-US" dirty="0"/>
              <a:t>The class indices are assigned based on the alphabetical order class folders</a:t>
            </a:r>
          </a:p>
          <a:p>
            <a:pPr marL="0" indent="0">
              <a:buNone/>
            </a:pPr>
            <a:endParaRPr lang="en-US" dirty="0"/>
          </a:p>
          <a:p>
            <a:pPr marL="0" indent="0">
              <a:buNone/>
            </a:pPr>
            <a:r>
              <a:rPr lang="en-US" dirty="0"/>
              <a:t>Thus, our classes are mapped as: </a:t>
            </a:r>
          </a:p>
          <a:p>
            <a:pPr marL="0" indent="0">
              <a:buNone/>
            </a:pPr>
            <a:r>
              <a:rPr lang="en-US" dirty="0"/>
              <a:t>[</a:t>
            </a:r>
            <a:r>
              <a:rPr lang="de-DE" dirty="0"/>
              <a:t>CNV, DME, DRUSEN, and NORMAL] -&gt; [0, 1, 2, 3]</a:t>
            </a:r>
          </a:p>
          <a:p>
            <a:pPr marL="0" indent="0">
              <a:buNone/>
            </a:pPr>
            <a:r>
              <a:rPr lang="de-DE" dirty="0"/>
              <a:t>Each sample as a tensor will now have a corresponding numeric class label.</a:t>
            </a:r>
          </a:p>
          <a:p>
            <a:pPr marL="0" indent="0">
              <a:buNone/>
            </a:pPr>
            <a:endParaRPr lang="en-US" dirty="0"/>
          </a:p>
        </p:txBody>
      </p:sp>
    </p:spTree>
    <p:extLst>
      <p:ext uri="{BB962C8B-B14F-4D97-AF65-F5344CB8AC3E}">
        <p14:creationId xmlns:p14="http://schemas.microsoft.com/office/powerpoint/2010/main" val="16014415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98C435-FEA3-4548-B06B-2C1B55F51A6A}"/>
              </a:ext>
            </a:extLst>
          </p:cNvPr>
          <p:cNvSpPr>
            <a:spLocks noGrp="1"/>
          </p:cNvSpPr>
          <p:nvPr>
            <p:ph type="title"/>
          </p:nvPr>
        </p:nvSpPr>
        <p:spPr/>
        <p:txBody>
          <a:bodyPr/>
          <a:lstStyle/>
          <a:p>
            <a:r>
              <a:rPr lang="en-US" dirty="0"/>
              <a:t>CNN</a:t>
            </a:r>
          </a:p>
        </p:txBody>
      </p:sp>
      <p:sp>
        <p:nvSpPr>
          <p:cNvPr id="3" name="Content Placeholder 2">
            <a:extLst>
              <a:ext uri="{FF2B5EF4-FFF2-40B4-BE49-F238E27FC236}">
                <a16:creationId xmlns:a16="http://schemas.microsoft.com/office/drawing/2014/main" id="{D560EFE5-F3E3-E59D-7F74-C82EA5A2D8B0}"/>
              </a:ext>
            </a:extLst>
          </p:cNvPr>
          <p:cNvSpPr>
            <a:spLocks noGrp="1"/>
          </p:cNvSpPr>
          <p:nvPr>
            <p:ph idx="1"/>
          </p:nvPr>
        </p:nvSpPr>
        <p:spPr/>
        <p:txBody>
          <a:bodyPr>
            <a:normAutofit fontScale="77500" lnSpcReduction="20000"/>
          </a:bodyPr>
          <a:lstStyle/>
          <a:p>
            <a:pPr marL="0" indent="0">
              <a:buNone/>
            </a:pPr>
            <a:r>
              <a:rPr lang="en-US" sz="2400" dirty="0"/>
              <a:t>Create a convolutional neural network that maps each grayscale eye image to a sequence of learned feature maps. </a:t>
            </a:r>
          </a:p>
          <a:p>
            <a:pPr marL="0" indent="0">
              <a:buNone/>
            </a:pPr>
            <a:r>
              <a:rPr lang="en-US" sz="2400" dirty="0"/>
              <a:t>Define a class </a:t>
            </a:r>
            <a:r>
              <a:rPr lang="en-US" sz="2400" dirty="0" err="1"/>
              <a:t>EyeNet</a:t>
            </a:r>
            <a:r>
              <a:rPr lang="en-US" sz="2400" dirty="0"/>
              <a:t> that inherits the </a:t>
            </a:r>
            <a:r>
              <a:rPr lang="en-US" sz="2400" dirty="0" err="1"/>
              <a:t>nn.Module</a:t>
            </a:r>
            <a:r>
              <a:rPr lang="en-US" sz="2400" dirty="0"/>
              <a:t> base class from </a:t>
            </a:r>
            <a:r>
              <a:rPr lang="en-US" sz="2400" dirty="0" err="1"/>
              <a:t>PyTorch</a:t>
            </a:r>
            <a:r>
              <a:rPr lang="en-US" sz="2400" dirty="0"/>
              <a:t>.</a:t>
            </a:r>
          </a:p>
          <a:p>
            <a:pPr marL="0" indent="0">
              <a:buNone/>
            </a:pPr>
            <a:endParaRPr lang="en-US" sz="2400" dirty="0"/>
          </a:p>
          <a:p>
            <a:pPr marL="0" indent="0">
              <a:buNone/>
            </a:pPr>
            <a:r>
              <a:rPr lang="en-US" sz="2400" dirty="0"/>
              <a:t>import </a:t>
            </a:r>
            <a:r>
              <a:rPr lang="en-US" sz="2400" dirty="0" err="1"/>
              <a:t>torch.nn</a:t>
            </a:r>
            <a:r>
              <a:rPr lang="en-US" sz="2400" dirty="0"/>
              <a:t> as </a:t>
            </a:r>
            <a:r>
              <a:rPr lang="en-US" sz="2400" dirty="0" err="1"/>
              <a:t>nn</a:t>
            </a:r>
            <a:endParaRPr lang="en-US" sz="2400" dirty="0"/>
          </a:p>
          <a:p>
            <a:pPr marL="0" indent="0">
              <a:buNone/>
            </a:pPr>
            <a:br>
              <a:rPr lang="en-US" sz="2400" dirty="0"/>
            </a:br>
            <a:r>
              <a:rPr lang="en-US" sz="2400" dirty="0"/>
              <a:t>class </a:t>
            </a:r>
            <a:r>
              <a:rPr lang="en-US" sz="2400" dirty="0" err="1"/>
              <a:t>EyeNet</a:t>
            </a:r>
            <a:r>
              <a:rPr lang="en-US" sz="2400" dirty="0"/>
              <a:t>(</a:t>
            </a:r>
            <a:r>
              <a:rPr lang="en-US" sz="2400" dirty="0" err="1"/>
              <a:t>nn.Module</a:t>
            </a:r>
            <a:r>
              <a:rPr lang="en-US" sz="2400" dirty="0"/>
              <a:t>):</a:t>
            </a:r>
          </a:p>
          <a:p>
            <a:pPr marL="0" indent="0">
              <a:buNone/>
            </a:pPr>
            <a:r>
              <a:rPr lang="en-US" sz="2400" dirty="0"/>
              <a:t>	def __</a:t>
            </a:r>
            <a:r>
              <a:rPr lang="en-US" sz="2400" dirty="0" err="1"/>
              <a:t>init</a:t>
            </a:r>
            <a:r>
              <a:rPr lang="en-US" sz="2400" dirty="0"/>
              <a:t>__(self):	# the constructor, define the CNN layers here</a:t>
            </a:r>
          </a:p>
          <a:p>
            <a:pPr marL="0" indent="0">
              <a:buNone/>
            </a:pPr>
            <a:r>
              <a:rPr lang="en-US" sz="2400" dirty="0"/>
              <a:t>        		super(</a:t>
            </a:r>
            <a:r>
              <a:rPr lang="en-US" sz="2400" dirty="0" err="1"/>
              <a:t>EyeNet</a:t>
            </a:r>
            <a:r>
              <a:rPr lang="en-US" sz="2400" dirty="0"/>
              <a:t>, self).__</a:t>
            </a:r>
            <a:r>
              <a:rPr lang="en-US" sz="2400" dirty="0" err="1"/>
              <a:t>init</a:t>
            </a:r>
            <a:r>
              <a:rPr lang="en-US" sz="2400" dirty="0"/>
              <a:t>__()	# method calling </a:t>
            </a:r>
            <a:r>
              <a:rPr lang="en-US" sz="2400" dirty="0" err="1"/>
              <a:t>PyTorch</a:t>
            </a:r>
            <a:r>
              <a:rPr lang="en-US" sz="2400" dirty="0"/>
              <a:t> base class constructor. </a:t>
            </a:r>
          </a:p>
          <a:p>
            <a:pPr marL="0" indent="0">
              <a:buNone/>
            </a:pPr>
            <a:r>
              <a:rPr lang="en-US" sz="2400" dirty="0"/>
              <a:t>	</a:t>
            </a:r>
          </a:p>
          <a:p>
            <a:pPr marL="0" indent="0">
              <a:buNone/>
            </a:pPr>
            <a:r>
              <a:rPr lang="en-US" sz="2400" dirty="0"/>
              <a:t>	def forward(self, x): # organize the forward step here</a:t>
            </a:r>
          </a:p>
          <a:p>
            <a:pPr marL="0" indent="0">
              <a:buNone/>
            </a:pPr>
            <a:r>
              <a:rPr lang="en-US" sz="2400" dirty="0"/>
              <a:t>		pass</a:t>
            </a:r>
          </a:p>
          <a:p>
            <a:pPr marL="0" indent="0">
              <a:buNone/>
            </a:pPr>
            <a:r>
              <a:rPr lang="en-US" dirty="0"/>
              <a:t>	</a:t>
            </a:r>
          </a:p>
        </p:txBody>
      </p:sp>
    </p:spTree>
    <p:extLst>
      <p:ext uri="{BB962C8B-B14F-4D97-AF65-F5344CB8AC3E}">
        <p14:creationId xmlns:p14="http://schemas.microsoft.com/office/powerpoint/2010/main" val="13312933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A4CF7E-901F-ECE5-B1DF-4EE877ECAE9C}"/>
              </a:ext>
            </a:extLst>
          </p:cNvPr>
          <p:cNvSpPr>
            <a:spLocks noGrp="1"/>
          </p:cNvSpPr>
          <p:nvPr>
            <p:ph type="title"/>
          </p:nvPr>
        </p:nvSpPr>
        <p:spPr>
          <a:xfrm>
            <a:off x="667263" y="231764"/>
            <a:ext cx="8796454" cy="471216"/>
          </a:xfrm>
        </p:spPr>
        <p:txBody>
          <a:bodyPr>
            <a:normAutofit fontScale="90000"/>
          </a:bodyPr>
          <a:lstStyle/>
          <a:p>
            <a:r>
              <a:rPr lang="en-US" dirty="0"/>
              <a:t>Define the following architecture.</a:t>
            </a:r>
          </a:p>
        </p:txBody>
      </p:sp>
      <p:sp>
        <p:nvSpPr>
          <p:cNvPr id="3" name="Content Placeholder 2">
            <a:extLst>
              <a:ext uri="{FF2B5EF4-FFF2-40B4-BE49-F238E27FC236}">
                <a16:creationId xmlns:a16="http://schemas.microsoft.com/office/drawing/2014/main" id="{0D075001-BDE1-77BA-A9A4-74B794159041}"/>
              </a:ext>
            </a:extLst>
          </p:cNvPr>
          <p:cNvSpPr>
            <a:spLocks noGrp="1"/>
          </p:cNvSpPr>
          <p:nvPr>
            <p:ph idx="1"/>
          </p:nvPr>
        </p:nvSpPr>
        <p:spPr>
          <a:xfrm>
            <a:off x="667263" y="820369"/>
            <a:ext cx="7589661" cy="3069397"/>
          </a:xfrm>
        </p:spPr>
        <p:txBody>
          <a:bodyPr>
            <a:noAutofit/>
          </a:bodyPr>
          <a:lstStyle/>
          <a:p>
            <a:pPr marL="0" indent="0">
              <a:buNone/>
            </a:pPr>
            <a:r>
              <a:rPr lang="en-US" sz="1200" dirty="0"/>
              <a:t>import </a:t>
            </a:r>
            <a:r>
              <a:rPr lang="en-US" sz="1200" dirty="0" err="1"/>
              <a:t>torch.nn.functional</a:t>
            </a:r>
            <a:r>
              <a:rPr lang="en-US" sz="1200" dirty="0"/>
              <a:t> as F</a:t>
            </a:r>
          </a:p>
          <a:p>
            <a:pPr marL="0" indent="0">
              <a:buNone/>
            </a:pPr>
            <a:r>
              <a:rPr lang="en-US" sz="1200" dirty="0"/>
              <a:t>class </a:t>
            </a:r>
            <a:r>
              <a:rPr lang="en-US" sz="1200" dirty="0" err="1"/>
              <a:t>EyeNet</a:t>
            </a:r>
            <a:r>
              <a:rPr lang="en-US" sz="1200" dirty="0"/>
              <a:t>(</a:t>
            </a:r>
            <a:r>
              <a:rPr lang="en-US" sz="1200" dirty="0" err="1"/>
              <a:t>nn.Module</a:t>
            </a:r>
            <a:r>
              <a:rPr lang="en-US" sz="1200" dirty="0"/>
              <a:t>):</a:t>
            </a:r>
          </a:p>
          <a:p>
            <a:pPr marL="0" indent="0">
              <a:buNone/>
            </a:pPr>
            <a:r>
              <a:rPr lang="en-US" sz="1200" dirty="0"/>
              <a:t>	def __</a:t>
            </a:r>
            <a:r>
              <a:rPr lang="en-US" sz="1200" dirty="0" err="1"/>
              <a:t>init</a:t>
            </a:r>
            <a:r>
              <a:rPr lang="en-US" sz="1200" dirty="0"/>
              <a:t>__(self): 	</a:t>
            </a:r>
          </a:p>
          <a:p>
            <a:pPr marL="0" indent="0">
              <a:buNone/>
            </a:pPr>
            <a:r>
              <a:rPr lang="en-US" sz="1200" dirty="0"/>
              <a:t>        		super(</a:t>
            </a:r>
            <a:r>
              <a:rPr lang="en-US" sz="1200" dirty="0" err="1"/>
              <a:t>EyeNet</a:t>
            </a:r>
            <a:r>
              <a:rPr lang="en-US" sz="1200" dirty="0"/>
              <a:t>, self).__</a:t>
            </a:r>
            <a:r>
              <a:rPr lang="en-US" sz="1200" dirty="0" err="1"/>
              <a:t>init</a:t>
            </a:r>
            <a:r>
              <a:rPr lang="en-US" sz="1200" dirty="0"/>
              <a:t>__()</a:t>
            </a:r>
          </a:p>
          <a:p>
            <a:pPr marL="0" indent="0">
              <a:buNone/>
            </a:pPr>
            <a:r>
              <a:rPr lang="en-US" sz="1200" dirty="0"/>
              <a:t>		</a:t>
            </a:r>
            <a:r>
              <a:rPr lang="en-US" sz="1200" dirty="0" err="1"/>
              <a:t>self.convolve</a:t>
            </a:r>
            <a:r>
              <a:rPr lang="en-US" sz="1200" dirty="0"/>
              <a:t> = …</a:t>
            </a:r>
          </a:p>
          <a:p>
            <a:pPr marL="0" indent="0">
              <a:buNone/>
            </a:pPr>
            <a:r>
              <a:rPr lang="en-US" sz="1200" dirty="0"/>
              <a:t>		self.pool = …</a:t>
            </a:r>
          </a:p>
          <a:p>
            <a:pPr marL="0" indent="0">
              <a:buNone/>
            </a:pPr>
            <a:r>
              <a:rPr lang="en-US" sz="1200" dirty="0"/>
              <a:t>		</a:t>
            </a:r>
            <a:r>
              <a:rPr lang="en-US" sz="1200" dirty="0" err="1"/>
              <a:t>self.dense</a:t>
            </a:r>
            <a:r>
              <a:rPr lang="en-US" sz="1200" dirty="0"/>
              <a:t> = …</a:t>
            </a:r>
          </a:p>
          <a:p>
            <a:pPr marL="0" indent="0">
              <a:buNone/>
            </a:pPr>
            <a:r>
              <a:rPr lang="en-US" sz="1200" dirty="0"/>
              <a:t>		</a:t>
            </a:r>
            <a:r>
              <a:rPr lang="en-US" sz="1200" dirty="0" err="1"/>
              <a:t>self.dense_out</a:t>
            </a:r>
            <a:r>
              <a:rPr lang="en-US" sz="1200" dirty="0"/>
              <a:t> = …</a:t>
            </a:r>
          </a:p>
          <a:p>
            <a:pPr marL="0" indent="0">
              <a:buNone/>
            </a:pPr>
            <a:r>
              <a:rPr lang="en-US" sz="1200" dirty="0"/>
              <a:t>	def forward(self, x):</a:t>
            </a:r>
          </a:p>
          <a:p>
            <a:pPr marL="0" indent="0">
              <a:buNone/>
            </a:pPr>
            <a:r>
              <a:rPr lang="en-US" sz="1200" dirty="0"/>
              <a:t>		x = </a:t>
            </a:r>
            <a:r>
              <a:rPr lang="en-US" sz="1200" dirty="0" err="1"/>
              <a:t>self.convolve</a:t>
            </a:r>
            <a:r>
              <a:rPr lang="en-US" sz="1200" dirty="0"/>
              <a:t>(x)</a:t>
            </a:r>
          </a:p>
          <a:p>
            <a:pPr marL="0" indent="0">
              <a:buNone/>
            </a:pPr>
            <a:r>
              <a:rPr lang="en-US" sz="1200" dirty="0"/>
              <a:t>		x = F.relu(x)</a:t>
            </a:r>
          </a:p>
          <a:p>
            <a:pPr marL="0" indent="0">
              <a:buNone/>
            </a:pPr>
            <a:r>
              <a:rPr lang="en-US" sz="1200" dirty="0"/>
              <a:t>		x = self.pool(x)</a:t>
            </a:r>
          </a:p>
          <a:p>
            <a:pPr marL="0" indent="0">
              <a:buNone/>
            </a:pPr>
            <a:r>
              <a:rPr lang="en-US" sz="1200" dirty="0"/>
              <a:t>		x = torch.flatten(x, 1)</a:t>
            </a:r>
          </a:p>
          <a:p>
            <a:pPr marL="0" indent="0">
              <a:buNone/>
            </a:pPr>
            <a:r>
              <a:rPr lang="en-US" sz="1200" dirty="0"/>
              <a:t>		x = </a:t>
            </a:r>
            <a:r>
              <a:rPr lang="en-US" sz="1200" dirty="0" err="1"/>
              <a:t>self.dense</a:t>
            </a:r>
            <a:r>
              <a:rPr lang="en-US" sz="1200" dirty="0"/>
              <a:t>(x)</a:t>
            </a:r>
          </a:p>
          <a:p>
            <a:pPr marL="0" indent="0">
              <a:buNone/>
            </a:pPr>
            <a:r>
              <a:rPr lang="en-US" sz="1200" dirty="0"/>
              <a:t>		x = F.relu(x)</a:t>
            </a:r>
          </a:p>
          <a:p>
            <a:pPr marL="0" indent="0">
              <a:buNone/>
            </a:pPr>
            <a:r>
              <a:rPr lang="en-US" sz="1200" dirty="0"/>
              <a:t>		x = </a:t>
            </a:r>
            <a:r>
              <a:rPr lang="en-US" sz="1200" dirty="0" err="1"/>
              <a:t>self.dense_out</a:t>
            </a:r>
            <a:r>
              <a:rPr lang="en-US" sz="1200" dirty="0"/>
              <a:t>(x)</a:t>
            </a:r>
          </a:p>
          <a:p>
            <a:pPr marL="0" indent="0">
              <a:buNone/>
            </a:pPr>
            <a:r>
              <a:rPr lang="en-US" sz="1200" dirty="0"/>
              <a:t>		return x</a:t>
            </a:r>
          </a:p>
        </p:txBody>
      </p:sp>
    </p:spTree>
    <p:extLst>
      <p:ext uri="{BB962C8B-B14F-4D97-AF65-F5344CB8AC3E}">
        <p14:creationId xmlns:p14="http://schemas.microsoft.com/office/powerpoint/2010/main" val="10689282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62D341-B9F1-0757-53BA-1B59DAE68F6E}"/>
              </a:ext>
            </a:extLst>
          </p:cNvPr>
          <p:cNvSpPr>
            <a:spLocks noGrp="1"/>
          </p:cNvSpPr>
          <p:nvPr>
            <p:ph type="title"/>
          </p:nvPr>
        </p:nvSpPr>
        <p:spPr/>
        <p:txBody>
          <a:bodyPr/>
          <a:lstStyle/>
          <a:p>
            <a:r>
              <a:rPr lang="en-US" dirty="0"/>
              <a:t>Convolutional layer</a:t>
            </a:r>
          </a:p>
        </p:txBody>
      </p:sp>
      <p:sp>
        <p:nvSpPr>
          <p:cNvPr id="3" name="Content Placeholder 2">
            <a:extLst>
              <a:ext uri="{FF2B5EF4-FFF2-40B4-BE49-F238E27FC236}">
                <a16:creationId xmlns:a16="http://schemas.microsoft.com/office/drawing/2014/main" id="{638E59DA-E9AB-F3D7-E92E-ECE60D138381}"/>
              </a:ext>
            </a:extLst>
          </p:cNvPr>
          <p:cNvSpPr>
            <a:spLocks noGrp="1"/>
          </p:cNvSpPr>
          <p:nvPr>
            <p:ph idx="1"/>
          </p:nvPr>
        </p:nvSpPr>
        <p:spPr/>
        <p:txBody>
          <a:bodyPr>
            <a:normAutofit/>
          </a:bodyPr>
          <a:lstStyle/>
          <a:p>
            <a:pPr marL="0" indent="0">
              <a:buNone/>
            </a:pPr>
            <a:r>
              <a:rPr lang="en-US" dirty="0"/>
              <a:t>We have the image as a tensor now we need to obtain feature maps.</a:t>
            </a:r>
          </a:p>
          <a:p>
            <a:pPr marL="0" indent="0">
              <a:buNone/>
            </a:pPr>
            <a:r>
              <a:rPr lang="en-US" dirty="0"/>
              <a:t>Define a convolutional layer with </a:t>
            </a:r>
            <a:r>
              <a:rPr lang="en-US" dirty="0" err="1"/>
              <a:t>kernel_size</a:t>
            </a:r>
            <a:r>
              <a:rPr lang="en-US" dirty="0"/>
              <a:t>=3. </a:t>
            </a:r>
          </a:p>
          <a:p>
            <a:pPr marL="0" indent="0">
              <a:buNone/>
            </a:pPr>
            <a:r>
              <a:rPr lang="en-US" dirty="0"/>
              <a:t>class </a:t>
            </a:r>
            <a:r>
              <a:rPr lang="en-US" dirty="0" err="1"/>
              <a:t>EyeNet</a:t>
            </a:r>
            <a:r>
              <a:rPr lang="en-US" dirty="0"/>
              <a:t>(</a:t>
            </a:r>
            <a:r>
              <a:rPr lang="en-US" dirty="0" err="1"/>
              <a:t>nn.Module</a:t>
            </a:r>
            <a:r>
              <a:rPr lang="en-US" dirty="0"/>
              <a:t>):</a:t>
            </a:r>
          </a:p>
          <a:p>
            <a:pPr marL="0" indent="0">
              <a:buNone/>
            </a:pPr>
            <a:r>
              <a:rPr lang="en-US" dirty="0"/>
              <a:t>	def __</a:t>
            </a:r>
            <a:r>
              <a:rPr lang="en-US" dirty="0" err="1"/>
              <a:t>init</a:t>
            </a:r>
            <a:r>
              <a:rPr lang="en-US" dirty="0"/>
              <a:t>__(self): 	</a:t>
            </a:r>
          </a:p>
          <a:p>
            <a:pPr marL="0" indent="0">
              <a:buNone/>
            </a:pPr>
            <a:r>
              <a:rPr lang="en-US" dirty="0"/>
              <a:t>        		super(</a:t>
            </a:r>
            <a:r>
              <a:rPr lang="en-US" dirty="0" err="1"/>
              <a:t>EyeNet</a:t>
            </a:r>
            <a:r>
              <a:rPr lang="en-US" dirty="0"/>
              <a:t>, self).__</a:t>
            </a:r>
            <a:r>
              <a:rPr lang="en-US" dirty="0" err="1"/>
              <a:t>init</a:t>
            </a:r>
            <a:r>
              <a:rPr lang="en-US" dirty="0"/>
              <a:t>__()</a:t>
            </a:r>
          </a:p>
          <a:p>
            <a:pPr marL="0" indent="0">
              <a:buNone/>
            </a:pPr>
            <a:r>
              <a:rPr lang="en-US" dirty="0"/>
              <a:t>		</a:t>
            </a:r>
            <a:r>
              <a:rPr lang="en-US" dirty="0" err="1"/>
              <a:t>self.convolve</a:t>
            </a:r>
            <a:r>
              <a:rPr lang="en-US" dirty="0"/>
              <a:t> = nn.Conv2d(</a:t>
            </a:r>
            <a:r>
              <a:rPr lang="en-US" dirty="0" err="1"/>
              <a:t>in_channels</a:t>
            </a:r>
            <a:r>
              <a:rPr lang="en-US" dirty="0"/>
              <a:t>=1, </a:t>
            </a:r>
          </a:p>
          <a:p>
            <a:pPr marL="0" indent="0">
              <a:buNone/>
            </a:pPr>
            <a:r>
              <a:rPr lang="en-US" dirty="0"/>
              <a:t>						  </a:t>
            </a:r>
            <a:r>
              <a:rPr lang="en-US" dirty="0" err="1"/>
              <a:t>out_channels</a:t>
            </a:r>
            <a:r>
              <a:rPr lang="en-US" dirty="0"/>
              <a:t>=32, </a:t>
            </a:r>
          </a:p>
          <a:p>
            <a:pPr marL="0" indent="0">
              <a:buNone/>
            </a:pPr>
            <a:r>
              <a:rPr lang="en-US" dirty="0"/>
              <a:t>						  </a:t>
            </a:r>
            <a:r>
              <a:rPr lang="en-US" dirty="0" err="1"/>
              <a:t>kernel_size</a:t>
            </a:r>
            <a:r>
              <a:rPr lang="en-US" dirty="0"/>
              <a:t>=3)</a:t>
            </a:r>
          </a:p>
        </p:txBody>
      </p:sp>
    </p:spTree>
    <p:extLst>
      <p:ext uri="{BB962C8B-B14F-4D97-AF65-F5344CB8AC3E}">
        <p14:creationId xmlns:p14="http://schemas.microsoft.com/office/powerpoint/2010/main" val="24132451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BD7561-8759-8DD3-6EA5-9A75EC8BE9A1}"/>
              </a:ext>
            </a:extLst>
          </p:cNvPr>
          <p:cNvSpPr>
            <a:spLocks noGrp="1"/>
          </p:cNvSpPr>
          <p:nvPr>
            <p:ph type="title"/>
          </p:nvPr>
        </p:nvSpPr>
        <p:spPr/>
        <p:txBody>
          <a:bodyPr>
            <a:normAutofit/>
          </a:bodyPr>
          <a:lstStyle/>
          <a:p>
            <a:pPr marL="0" indent="0"/>
            <a:r>
              <a:rPr lang="en-US" sz="4000" dirty="0"/>
              <a:t>What happens in the convolutional layer?</a:t>
            </a:r>
            <a:endParaRPr lang="en-US" dirty="0"/>
          </a:p>
        </p:txBody>
      </p:sp>
      <p:sp>
        <p:nvSpPr>
          <p:cNvPr id="3" name="Content Placeholder 2">
            <a:extLst>
              <a:ext uri="{FF2B5EF4-FFF2-40B4-BE49-F238E27FC236}">
                <a16:creationId xmlns:a16="http://schemas.microsoft.com/office/drawing/2014/main" id="{95D21561-89E2-FDD1-4769-FECF0EB6F055}"/>
              </a:ext>
            </a:extLst>
          </p:cNvPr>
          <p:cNvSpPr>
            <a:spLocks noGrp="1"/>
          </p:cNvSpPr>
          <p:nvPr>
            <p:ph idx="1"/>
          </p:nvPr>
        </p:nvSpPr>
        <p:spPr/>
        <p:txBody>
          <a:bodyPr>
            <a:normAutofit fontScale="92500" lnSpcReduction="20000"/>
          </a:bodyPr>
          <a:lstStyle/>
          <a:p>
            <a:pPr marL="0" indent="0">
              <a:buNone/>
            </a:pPr>
            <a:r>
              <a:rPr lang="en-US" dirty="0"/>
              <a:t>def convolve(x): </a:t>
            </a:r>
          </a:p>
          <a:p>
            <a:pPr marL="0" indent="0">
              <a:buNone/>
            </a:pPr>
            <a:r>
              <a:rPr lang="en-US" dirty="0"/>
              <a:t>Take the upper left corner of the image to be the first 3pxlx3pxl patch.</a:t>
            </a:r>
          </a:p>
          <a:p>
            <a:pPr marL="0" indent="0">
              <a:buNone/>
            </a:pPr>
            <a:r>
              <a:rPr lang="en-US" dirty="0"/>
              <a:t>The convolutional layer produces a feature map by the following:</a:t>
            </a:r>
          </a:p>
          <a:p>
            <a:pPr marL="0" indent="0">
              <a:buNone/>
            </a:pPr>
            <a:r>
              <a:rPr lang="en-US" dirty="0"/>
              <a:t>Take 3x3 patches of the image (represented in tensor form)</a:t>
            </a:r>
          </a:p>
          <a:p>
            <a:pPr marL="0" indent="0">
              <a:buNone/>
            </a:pPr>
            <a:r>
              <a:rPr lang="en-US" dirty="0"/>
              <a:t>Take a 3x3 matrix of randomly-initialized weights called the kernel. </a:t>
            </a:r>
          </a:p>
          <a:p>
            <a:pPr marL="0" indent="0">
              <a:buNone/>
            </a:pPr>
            <a:r>
              <a:rPr lang="en-US" dirty="0"/>
              <a:t>Take a randomly initialized bias term. </a:t>
            </a:r>
          </a:p>
          <a:p>
            <a:pPr marL="0" indent="0">
              <a:buNone/>
            </a:pPr>
            <a:r>
              <a:rPr lang="en-US" dirty="0"/>
              <a:t>Then elementwise multiply the 3x3 kernel with the 3x3 patch. </a:t>
            </a:r>
          </a:p>
          <a:p>
            <a:pPr marL="0" indent="0">
              <a:buNone/>
            </a:pPr>
            <a:r>
              <a:rPr lang="en-US" dirty="0"/>
              <a:t>Then sum all entries in the transformed patch. Finally add the bias term.</a:t>
            </a:r>
          </a:p>
          <a:p>
            <a:pPr marL="0" indent="0">
              <a:buNone/>
            </a:pPr>
            <a:r>
              <a:rPr lang="en-US" dirty="0"/>
              <a:t>Repeat for all subsequent valid patches with the same kernel and bias term.</a:t>
            </a:r>
          </a:p>
          <a:p>
            <a:pPr marL="0" indent="0">
              <a:buNone/>
            </a:pPr>
            <a:r>
              <a:rPr lang="en-US" dirty="0"/>
              <a:t>Construct the feature map as the matrix of the output scalars with entries corresponding to the original patch’s position.</a:t>
            </a:r>
          </a:p>
        </p:txBody>
      </p:sp>
    </p:spTree>
    <p:extLst>
      <p:ext uri="{BB962C8B-B14F-4D97-AF65-F5344CB8AC3E}">
        <p14:creationId xmlns:p14="http://schemas.microsoft.com/office/powerpoint/2010/main" val="42279191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FBD3AFBE-8E8E-08A6-43B7-DFD94C0B21F3}"/>
              </a:ext>
            </a:extLst>
          </p:cNvPr>
          <p:cNvPicPr>
            <a:picLocks noGrp="1" noChangeAspect="1"/>
          </p:cNvPicPr>
          <p:nvPr>
            <p:ph idx="1"/>
          </p:nvPr>
        </p:nvPicPr>
        <p:blipFill>
          <a:blip r:embed="rId3"/>
          <a:srcRect r="24907"/>
          <a:stretch>
            <a:fillRect/>
          </a:stretch>
        </p:blipFill>
        <p:spPr>
          <a:xfrm>
            <a:off x="2470506" y="73810"/>
            <a:ext cx="6903426" cy="1876270"/>
          </a:xfrm>
          <a:prstGeom prst="rect">
            <a:avLst/>
          </a:prstGeom>
        </p:spPr>
      </p:pic>
      <p:sp>
        <p:nvSpPr>
          <p:cNvPr id="6" name="TextBox 5">
            <a:extLst>
              <a:ext uri="{FF2B5EF4-FFF2-40B4-BE49-F238E27FC236}">
                <a16:creationId xmlns:a16="http://schemas.microsoft.com/office/drawing/2014/main" id="{DB4BE57E-65E5-D39F-DDF2-16CAD452687C}"/>
              </a:ext>
            </a:extLst>
          </p:cNvPr>
          <p:cNvSpPr txBox="1"/>
          <p:nvPr/>
        </p:nvSpPr>
        <p:spPr>
          <a:xfrm>
            <a:off x="9446137" y="656770"/>
            <a:ext cx="1806498" cy="707886"/>
          </a:xfrm>
          <a:prstGeom prst="rect">
            <a:avLst/>
          </a:prstGeom>
          <a:noFill/>
        </p:spPr>
        <p:txBody>
          <a:bodyPr wrap="square" rtlCol="0">
            <a:spAutoFit/>
          </a:bodyPr>
          <a:lstStyle/>
          <a:p>
            <a:r>
              <a:rPr lang="en-US" sz="4000" dirty="0"/>
              <a:t>=  C </a:t>
            </a:r>
          </a:p>
        </p:txBody>
      </p:sp>
      <p:sp>
        <p:nvSpPr>
          <p:cNvPr id="7" name="TextBox 6">
            <a:extLst>
              <a:ext uri="{FF2B5EF4-FFF2-40B4-BE49-F238E27FC236}">
                <a16:creationId xmlns:a16="http://schemas.microsoft.com/office/drawing/2014/main" id="{C42F6F23-30CB-AB5E-25A2-0793B444A822}"/>
              </a:ext>
            </a:extLst>
          </p:cNvPr>
          <p:cNvSpPr txBox="1"/>
          <p:nvPr/>
        </p:nvSpPr>
        <p:spPr>
          <a:xfrm>
            <a:off x="1889898" y="3822187"/>
            <a:ext cx="1806498" cy="707886"/>
          </a:xfrm>
          <a:prstGeom prst="rect">
            <a:avLst/>
          </a:prstGeom>
          <a:noFill/>
        </p:spPr>
        <p:txBody>
          <a:bodyPr wrap="square" rtlCol="0">
            <a:spAutoFit/>
          </a:bodyPr>
          <a:lstStyle/>
          <a:p>
            <a:r>
              <a:rPr lang="en-US" sz="4000" dirty="0"/>
              <a:t>C = </a:t>
            </a:r>
          </a:p>
        </p:txBody>
      </p:sp>
      <p:pic>
        <p:nvPicPr>
          <p:cNvPr id="9" name="Picture 8">
            <a:extLst>
              <a:ext uri="{FF2B5EF4-FFF2-40B4-BE49-F238E27FC236}">
                <a16:creationId xmlns:a16="http://schemas.microsoft.com/office/drawing/2014/main" id="{B7A8CB9E-3C04-0DA5-2E6D-F147071C2CAB}"/>
              </a:ext>
            </a:extLst>
          </p:cNvPr>
          <p:cNvPicPr>
            <a:picLocks noChangeAspect="1"/>
          </p:cNvPicPr>
          <p:nvPr/>
        </p:nvPicPr>
        <p:blipFill>
          <a:blip r:embed="rId4"/>
          <a:stretch>
            <a:fillRect/>
          </a:stretch>
        </p:blipFill>
        <p:spPr>
          <a:xfrm>
            <a:off x="2692786" y="3178449"/>
            <a:ext cx="2546030" cy="1995362"/>
          </a:xfrm>
          <a:prstGeom prst="rect">
            <a:avLst/>
          </a:prstGeom>
        </p:spPr>
      </p:pic>
      <p:pic>
        <p:nvPicPr>
          <p:cNvPr id="11" name="Picture 10">
            <a:extLst>
              <a:ext uri="{FF2B5EF4-FFF2-40B4-BE49-F238E27FC236}">
                <a16:creationId xmlns:a16="http://schemas.microsoft.com/office/drawing/2014/main" id="{B8B83E8E-E66D-5C79-100F-4CD1D666E8F1}"/>
              </a:ext>
            </a:extLst>
          </p:cNvPr>
          <p:cNvPicPr>
            <a:picLocks noChangeAspect="1"/>
          </p:cNvPicPr>
          <p:nvPr/>
        </p:nvPicPr>
        <p:blipFill>
          <a:blip r:embed="rId5"/>
          <a:stretch>
            <a:fillRect/>
          </a:stretch>
        </p:blipFill>
        <p:spPr>
          <a:xfrm>
            <a:off x="6276162" y="2733093"/>
            <a:ext cx="3743325" cy="2886075"/>
          </a:xfrm>
          <a:prstGeom prst="rect">
            <a:avLst/>
          </a:prstGeom>
        </p:spPr>
      </p:pic>
      <p:sp>
        <p:nvSpPr>
          <p:cNvPr id="12" name="TextBox 11">
            <a:extLst>
              <a:ext uri="{FF2B5EF4-FFF2-40B4-BE49-F238E27FC236}">
                <a16:creationId xmlns:a16="http://schemas.microsoft.com/office/drawing/2014/main" id="{4C34C031-0208-D91D-A023-45A7296D34E7}"/>
              </a:ext>
            </a:extLst>
          </p:cNvPr>
          <p:cNvSpPr txBox="1"/>
          <p:nvPr/>
        </p:nvSpPr>
        <p:spPr>
          <a:xfrm rot="16200000">
            <a:off x="2761215" y="1154032"/>
            <a:ext cx="1806498" cy="707886"/>
          </a:xfrm>
          <a:prstGeom prst="rect">
            <a:avLst/>
          </a:prstGeom>
          <a:noFill/>
        </p:spPr>
        <p:txBody>
          <a:bodyPr wrap="square" rtlCol="0">
            <a:spAutoFit/>
          </a:bodyPr>
          <a:lstStyle/>
          <a:p>
            <a:r>
              <a:rPr lang="en-US" sz="4000" dirty="0"/>
              <a:t> =</a:t>
            </a:r>
          </a:p>
        </p:txBody>
      </p:sp>
      <p:sp>
        <p:nvSpPr>
          <p:cNvPr id="13" name="TextBox 12">
            <a:extLst>
              <a:ext uri="{FF2B5EF4-FFF2-40B4-BE49-F238E27FC236}">
                <a16:creationId xmlns:a16="http://schemas.microsoft.com/office/drawing/2014/main" id="{9DBFC994-30D1-E0F4-E568-0A41A5CE30B3}"/>
              </a:ext>
            </a:extLst>
          </p:cNvPr>
          <p:cNvSpPr txBox="1"/>
          <p:nvPr/>
        </p:nvSpPr>
        <p:spPr>
          <a:xfrm rot="16200000">
            <a:off x="8049093" y="1223269"/>
            <a:ext cx="1806498" cy="707886"/>
          </a:xfrm>
          <a:prstGeom prst="rect">
            <a:avLst/>
          </a:prstGeom>
          <a:noFill/>
        </p:spPr>
        <p:txBody>
          <a:bodyPr wrap="square" rtlCol="0">
            <a:spAutoFit/>
          </a:bodyPr>
          <a:lstStyle/>
          <a:p>
            <a:r>
              <a:rPr lang="en-US" sz="4000" dirty="0"/>
              <a:t> </a:t>
            </a:r>
          </a:p>
        </p:txBody>
      </p:sp>
      <p:sp>
        <p:nvSpPr>
          <p:cNvPr id="14" name="TextBox 13">
            <a:extLst>
              <a:ext uri="{FF2B5EF4-FFF2-40B4-BE49-F238E27FC236}">
                <a16:creationId xmlns:a16="http://schemas.microsoft.com/office/drawing/2014/main" id="{F0D52620-12B3-1B91-A52C-43EBCFDF0593}"/>
              </a:ext>
            </a:extLst>
          </p:cNvPr>
          <p:cNvSpPr txBox="1"/>
          <p:nvPr/>
        </p:nvSpPr>
        <p:spPr>
          <a:xfrm>
            <a:off x="3349606" y="2188776"/>
            <a:ext cx="1806498" cy="707886"/>
          </a:xfrm>
          <a:prstGeom prst="rect">
            <a:avLst/>
          </a:prstGeom>
          <a:noFill/>
        </p:spPr>
        <p:txBody>
          <a:bodyPr wrap="square" rtlCol="0">
            <a:spAutoFit/>
          </a:bodyPr>
          <a:lstStyle/>
          <a:p>
            <a:r>
              <a:rPr lang="en-US" sz="4000" dirty="0"/>
              <a:t> K</a:t>
            </a:r>
          </a:p>
        </p:txBody>
      </p:sp>
      <p:sp>
        <p:nvSpPr>
          <p:cNvPr id="16" name="TextBox 15">
            <a:extLst>
              <a:ext uri="{FF2B5EF4-FFF2-40B4-BE49-F238E27FC236}">
                <a16:creationId xmlns:a16="http://schemas.microsoft.com/office/drawing/2014/main" id="{10C88896-995E-1170-5AF3-88FDE8D3802B}"/>
              </a:ext>
            </a:extLst>
          </p:cNvPr>
          <p:cNvSpPr txBox="1"/>
          <p:nvPr/>
        </p:nvSpPr>
        <p:spPr>
          <a:xfrm>
            <a:off x="1740869" y="666449"/>
            <a:ext cx="1806498" cy="707886"/>
          </a:xfrm>
          <a:prstGeom prst="rect">
            <a:avLst/>
          </a:prstGeom>
          <a:noFill/>
        </p:spPr>
        <p:txBody>
          <a:bodyPr wrap="square" rtlCol="0">
            <a:spAutoFit/>
          </a:bodyPr>
          <a:lstStyle/>
          <a:p>
            <a:r>
              <a:rPr lang="en-US" sz="4000" dirty="0"/>
              <a:t>1.</a:t>
            </a:r>
          </a:p>
        </p:txBody>
      </p:sp>
      <p:sp>
        <p:nvSpPr>
          <p:cNvPr id="17" name="TextBox 16">
            <a:extLst>
              <a:ext uri="{FF2B5EF4-FFF2-40B4-BE49-F238E27FC236}">
                <a16:creationId xmlns:a16="http://schemas.microsoft.com/office/drawing/2014/main" id="{A6CFDCF2-F9DE-56C0-6017-10567184BEB6}"/>
              </a:ext>
            </a:extLst>
          </p:cNvPr>
          <p:cNvSpPr txBox="1"/>
          <p:nvPr/>
        </p:nvSpPr>
        <p:spPr>
          <a:xfrm>
            <a:off x="986649" y="3819509"/>
            <a:ext cx="1806498" cy="707886"/>
          </a:xfrm>
          <a:prstGeom prst="rect">
            <a:avLst/>
          </a:prstGeom>
          <a:noFill/>
        </p:spPr>
        <p:txBody>
          <a:bodyPr wrap="square" rtlCol="0">
            <a:spAutoFit/>
          </a:bodyPr>
          <a:lstStyle/>
          <a:p>
            <a:r>
              <a:rPr lang="en-US" sz="4000" dirty="0"/>
              <a:t>2.</a:t>
            </a:r>
          </a:p>
        </p:txBody>
      </p:sp>
      <p:sp>
        <p:nvSpPr>
          <p:cNvPr id="18" name="TextBox 17">
            <a:extLst>
              <a:ext uri="{FF2B5EF4-FFF2-40B4-BE49-F238E27FC236}">
                <a16:creationId xmlns:a16="http://schemas.microsoft.com/office/drawing/2014/main" id="{B5B28807-EDB7-09A4-D4B9-912E5B2B9E06}"/>
              </a:ext>
            </a:extLst>
          </p:cNvPr>
          <p:cNvSpPr txBox="1"/>
          <p:nvPr/>
        </p:nvSpPr>
        <p:spPr>
          <a:xfrm>
            <a:off x="5842543" y="3822187"/>
            <a:ext cx="1806498" cy="707886"/>
          </a:xfrm>
          <a:prstGeom prst="rect">
            <a:avLst/>
          </a:prstGeom>
          <a:noFill/>
        </p:spPr>
        <p:txBody>
          <a:bodyPr wrap="square" rtlCol="0">
            <a:spAutoFit/>
          </a:bodyPr>
          <a:lstStyle/>
          <a:p>
            <a:r>
              <a:rPr lang="en-US" sz="4000" dirty="0"/>
              <a:t>3.</a:t>
            </a:r>
          </a:p>
        </p:txBody>
      </p:sp>
      <p:sp>
        <p:nvSpPr>
          <p:cNvPr id="20" name="TextBox 19">
            <a:extLst>
              <a:ext uri="{FF2B5EF4-FFF2-40B4-BE49-F238E27FC236}">
                <a16:creationId xmlns:a16="http://schemas.microsoft.com/office/drawing/2014/main" id="{0A658F61-E6C9-646C-0090-3EC9D4A535BA}"/>
              </a:ext>
            </a:extLst>
          </p:cNvPr>
          <p:cNvSpPr txBox="1"/>
          <p:nvPr/>
        </p:nvSpPr>
        <p:spPr>
          <a:xfrm rot="16200000">
            <a:off x="6916402" y="1154032"/>
            <a:ext cx="1806498" cy="707886"/>
          </a:xfrm>
          <a:prstGeom prst="rect">
            <a:avLst/>
          </a:prstGeom>
          <a:noFill/>
        </p:spPr>
        <p:txBody>
          <a:bodyPr wrap="square" rtlCol="0">
            <a:spAutoFit/>
          </a:bodyPr>
          <a:lstStyle/>
          <a:p>
            <a:r>
              <a:rPr lang="en-US" sz="4000" dirty="0"/>
              <a:t> =</a:t>
            </a:r>
          </a:p>
        </p:txBody>
      </p:sp>
      <p:sp>
        <p:nvSpPr>
          <p:cNvPr id="21" name="TextBox 20">
            <a:extLst>
              <a:ext uri="{FF2B5EF4-FFF2-40B4-BE49-F238E27FC236}">
                <a16:creationId xmlns:a16="http://schemas.microsoft.com/office/drawing/2014/main" id="{E9EA8A79-0EDA-9109-BC88-7796709B83F2}"/>
              </a:ext>
            </a:extLst>
          </p:cNvPr>
          <p:cNvSpPr txBox="1"/>
          <p:nvPr/>
        </p:nvSpPr>
        <p:spPr>
          <a:xfrm>
            <a:off x="6846729" y="2176908"/>
            <a:ext cx="2653729" cy="707886"/>
          </a:xfrm>
          <a:prstGeom prst="rect">
            <a:avLst/>
          </a:prstGeom>
          <a:noFill/>
        </p:spPr>
        <p:txBody>
          <a:bodyPr wrap="square" rtlCol="0">
            <a:spAutoFit/>
          </a:bodyPr>
          <a:lstStyle/>
          <a:p>
            <a:r>
              <a:rPr lang="en-US" sz="4000" dirty="0"/>
              <a:t> 3x3 patch</a:t>
            </a:r>
          </a:p>
        </p:txBody>
      </p:sp>
      <p:sp>
        <p:nvSpPr>
          <p:cNvPr id="24" name="TextBox 23">
            <a:extLst>
              <a:ext uri="{FF2B5EF4-FFF2-40B4-BE49-F238E27FC236}">
                <a16:creationId xmlns:a16="http://schemas.microsoft.com/office/drawing/2014/main" id="{00801FE2-274C-6AC9-61E4-E884418CAA49}"/>
              </a:ext>
            </a:extLst>
          </p:cNvPr>
          <p:cNvSpPr txBox="1"/>
          <p:nvPr/>
        </p:nvSpPr>
        <p:spPr>
          <a:xfrm>
            <a:off x="1589572" y="5411229"/>
            <a:ext cx="3520068" cy="707886"/>
          </a:xfrm>
          <a:prstGeom prst="rect">
            <a:avLst/>
          </a:prstGeom>
          <a:noFill/>
        </p:spPr>
        <p:txBody>
          <a:bodyPr wrap="square" rtlCol="0">
            <a:spAutoFit/>
          </a:bodyPr>
          <a:lstStyle/>
          <a:p>
            <a:r>
              <a:rPr lang="en-US" sz="4000" dirty="0"/>
              <a:t>4. z = y + bias</a:t>
            </a:r>
          </a:p>
        </p:txBody>
      </p:sp>
      <p:sp>
        <p:nvSpPr>
          <p:cNvPr id="25" name="TextBox 24">
            <a:extLst>
              <a:ext uri="{FF2B5EF4-FFF2-40B4-BE49-F238E27FC236}">
                <a16:creationId xmlns:a16="http://schemas.microsoft.com/office/drawing/2014/main" id="{B5DDEE2F-CDA1-78F6-7B56-178915DED0B0}"/>
              </a:ext>
            </a:extLst>
          </p:cNvPr>
          <p:cNvSpPr txBox="1"/>
          <p:nvPr/>
        </p:nvSpPr>
        <p:spPr>
          <a:xfrm>
            <a:off x="5260422" y="5405566"/>
            <a:ext cx="6805197" cy="1323439"/>
          </a:xfrm>
          <a:prstGeom prst="rect">
            <a:avLst/>
          </a:prstGeom>
          <a:noFill/>
        </p:spPr>
        <p:txBody>
          <a:bodyPr wrap="square" rtlCol="0">
            <a:spAutoFit/>
          </a:bodyPr>
          <a:lstStyle/>
          <a:p>
            <a:r>
              <a:rPr lang="en-US" sz="4000" dirty="0"/>
              <a:t>5. Construct the feature map as a tensor of output scalars z.</a:t>
            </a:r>
          </a:p>
        </p:txBody>
      </p:sp>
    </p:spTree>
    <p:extLst>
      <p:ext uri="{BB962C8B-B14F-4D97-AF65-F5344CB8AC3E}">
        <p14:creationId xmlns:p14="http://schemas.microsoft.com/office/powerpoint/2010/main" val="34214961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FC544D-CB5D-03EC-47DE-5CF4D9E56CD0}"/>
              </a:ext>
            </a:extLst>
          </p:cNvPr>
          <p:cNvSpPr>
            <a:spLocks noGrp="1"/>
          </p:cNvSpPr>
          <p:nvPr>
            <p:ph type="title"/>
          </p:nvPr>
        </p:nvSpPr>
        <p:spPr/>
        <p:txBody>
          <a:bodyPr/>
          <a:lstStyle/>
          <a:p>
            <a:r>
              <a:rPr lang="en-US" dirty="0"/>
              <a:t>Feature map</a:t>
            </a:r>
          </a:p>
        </p:txBody>
      </p:sp>
      <p:sp>
        <p:nvSpPr>
          <p:cNvPr id="3" name="Content Placeholder 2">
            <a:extLst>
              <a:ext uri="{FF2B5EF4-FFF2-40B4-BE49-F238E27FC236}">
                <a16:creationId xmlns:a16="http://schemas.microsoft.com/office/drawing/2014/main" id="{4E49D7A2-1639-3C51-0290-27C66B3A2B31}"/>
              </a:ext>
            </a:extLst>
          </p:cNvPr>
          <p:cNvSpPr>
            <a:spLocks noGrp="1"/>
          </p:cNvSpPr>
          <p:nvPr>
            <p:ph idx="1"/>
          </p:nvPr>
        </p:nvSpPr>
        <p:spPr/>
        <p:txBody>
          <a:bodyPr>
            <a:normAutofit fontScale="92500" lnSpcReduction="10000"/>
          </a:bodyPr>
          <a:lstStyle/>
          <a:p>
            <a:pPr marL="0" indent="0">
              <a:buNone/>
            </a:pPr>
            <a:r>
              <a:rPr lang="en-US" dirty="0"/>
              <a:t>Every valid 3x3 patch produces a respective scalar value in the feature map.</a:t>
            </a:r>
          </a:p>
          <a:p>
            <a:pPr marL="0" indent="0">
              <a:buNone/>
            </a:pPr>
            <a:r>
              <a:rPr lang="en-US" dirty="0"/>
              <a:t>This operation transforms the shape of our input tensor from</a:t>
            </a:r>
          </a:p>
          <a:p>
            <a:pPr marL="0" indent="0">
              <a:buNone/>
            </a:pPr>
            <a:r>
              <a:rPr lang="en-US" dirty="0"/>
              <a:t>(1, 256, 256) to (1, 254, 254). </a:t>
            </a:r>
          </a:p>
          <a:p>
            <a:pPr marL="0" indent="0">
              <a:buNone/>
            </a:pPr>
            <a:r>
              <a:rPr lang="en-US" dirty="0"/>
              <a:t>Where does the shrinking in dimension come from? </a:t>
            </a:r>
          </a:p>
          <a:p>
            <a:pPr marL="0" indent="0">
              <a:buNone/>
            </a:pPr>
            <a:r>
              <a:rPr lang="en-US" dirty="0"/>
              <a:t>The kernel cannot act on patches starting at x=255 or y=255. This is because the patch contains indices that will exceed the boundary of the image. The function moves on to the next valid patch. At the end a shape of (1, 254, 254).</a:t>
            </a:r>
          </a:p>
          <a:p>
            <a:pPr marL="0" indent="0">
              <a:buNone/>
            </a:pPr>
            <a:r>
              <a:rPr lang="en-US" dirty="0"/>
              <a:t>			</a:t>
            </a:r>
            <a:r>
              <a:rPr lang="en-US" dirty="0" err="1"/>
              <a:t>F_map_dim</a:t>
            </a:r>
            <a:r>
              <a:rPr lang="en-US" dirty="0"/>
              <a:t> = [(x – k + 2p)/s] + 1</a:t>
            </a:r>
          </a:p>
          <a:p>
            <a:pPr marL="0" indent="0">
              <a:buNone/>
            </a:pPr>
            <a:r>
              <a:rPr lang="en-US" dirty="0"/>
              <a:t>x = input height/width, k = kernel height/width, p = padding, s = stride</a:t>
            </a:r>
          </a:p>
        </p:txBody>
      </p:sp>
    </p:spTree>
    <p:extLst>
      <p:ext uri="{BB962C8B-B14F-4D97-AF65-F5344CB8AC3E}">
        <p14:creationId xmlns:p14="http://schemas.microsoft.com/office/powerpoint/2010/main" val="36278885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AA683-0A86-DE00-4F7B-146F24A8E4B4}"/>
              </a:ext>
            </a:extLst>
          </p:cNvPr>
          <p:cNvSpPr>
            <a:spLocks noGrp="1"/>
          </p:cNvSpPr>
          <p:nvPr>
            <p:ph type="title"/>
          </p:nvPr>
        </p:nvSpPr>
        <p:spPr/>
        <p:txBody>
          <a:bodyPr/>
          <a:lstStyle/>
          <a:p>
            <a:r>
              <a:rPr lang="en-US" dirty="0"/>
              <a:t>On stride and padding</a:t>
            </a:r>
          </a:p>
        </p:txBody>
      </p:sp>
      <p:sp>
        <p:nvSpPr>
          <p:cNvPr id="3" name="Content Placeholder 2">
            <a:extLst>
              <a:ext uri="{FF2B5EF4-FFF2-40B4-BE49-F238E27FC236}">
                <a16:creationId xmlns:a16="http://schemas.microsoft.com/office/drawing/2014/main" id="{F45B5545-37EA-0B85-C015-69F7212BEA77}"/>
              </a:ext>
            </a:extLst>
          </p:cNvPr>
          <p:cNvSpPr>
            <a:spLocks noGrp="1"/>
          </p:cNvSpPr>
          <p:nvPr>
            <p:ph idx="1"/>
          </p:nvPr>
        </p:nvSpPr>
        <p:spPr/>
        <p:txBody>
          <a:bodyPr>
            <a:normAutofit fontScale="92500"/>
          </a:bodyPr>
          <a:lstStyle/>
          <a:p>
            <a:pPr marL="0" indent="0">
              <a:buNone/>
            </a:pPr>
            <a:r>
              <a:rPr lang="en-US" dirty="0"/>
              <a:t>Stride controls how the convolutional kernel moves across the input image.</a:t>
            </a:r>
            <a:br>
              <a:rPr lang="en-US" dirty="0"/>
            </a:br>
            <a:r>
              <a:rPr lang="en-US" dirty="0"/>
              <a:t>A stride of 1 means the kernel shifts one pixel at a time and evaluates every possible patch.</a:t>
            </a:r>
            <a:br>
              <a:rPr lang="en-US" dirty="0"/>
            </a:br>
            <a:r>
              <a:rPr lang="en-US" dirty="0"/>
              <a:t>A stride of 2 means the kernel moves two pixels at a time, skipping intermediate positions.</a:t>
            </a:r>
          </a:p>
          <a:p>
            <a:pPr marL="0" indent="0">
              <a:buNone/>
            </a:pPr>
            <a:endParaRPr lang="en-US" dirty="0"/>
          </a:p>
          <a:p>
            <a:pPr marL="0" indent="0">
              <a:buNone/>
            </a:pPr>
            <a:r>
              <a:rPr lang="en-US" dirty="0"/>
              <a:t>Padding adds additional pixels (usually set to 0) to the image to control the dimension of the feature maps. In our case, we lose 2 pixels of width and height when we apply the first convolutional layer. Let’s account for that by setting a padding of 1. This gives us back a 256x256 map.</a:t>
            </a:r>
          </a:p>
        </p:txBody>
      </p:sp>
    </p:spTree>
    <p:extLst>
      <p:ext uri="{BB962C8B-B14F-4D97-AF65-F5344CB8AC3E}">
        <p14:creationId xmlns:p14="http://schemas.microsoft.com/office/powerpoint/2010/main" val="1447113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2D798F-B00D-8D58-240B-DBCF23E24C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7CA8C9-EED9-A0DA-A6CB-5EDC8A801CF9}"/>
              </a:ext>
            </a:extLst>
          </p:cNvPr>
          <p:cNvSpPr>
            <a:spLocks noGrp="1"/>
          </p:cNvSpPr>
          <p:nvPr>
            <p:ph type="title"/>
          </p:nvPr>
        </p:nvSpPr>
        <p:spPr/>
        <p:txBody>
          <a:bodyPr/>
          <a:lstStyle/>
          <a:p>
            <a:r>
              <a:rPr lang="en-US" dirty="0"/>
              <a:t>On stride and padding (cont.)</a:t>
            </a:r>
          </a:p>
        </p:txBody>
      </p:sp>
      <p:sp>
        <p:nvSpPr>
          <p:cNvPr id="3" name="Content Placeholder 2">
            <a:extLst>
              <a:ext uri="{FF2B5EF4-FFF2-40B4-BE49-F238E27FC236}">
                <a16:creationId xmlns:a16="http://schemas.microsoft.com/office/drawing/2014/main" id="{2181F50F-4CE6-ABAB-7429-9AAC6D9329DC}"/>
              </a:ext>
            </a:extLst>
          </p:cNvPr>
          <p:cNvSpPr>
            <a:spLocks noGrp="1"/>
          </p:cNvSpPr>
          <p:nvPr>
            <p:ph idx="1"/>
          </p:nvPr>
        </p:nvSpPr>
        <p:spPr/>
        <p:txBody>
          <a:bodyPr>
            <a:normAutofit fontScale="85000" lnSpcReduction="20000"/>
          </a:bodyPr>
          <a:lstStyle/>
          <a:p>
            <a:pPr marL="0" indent="0">
              <a:buNone/>
            </a:pPr>
            <a:r>
              <a:rPr lang="en-US" dirty="0"/>
              <a:t>In the torch model we defined the first convolutional layer as follows:</a:t>
            </a:r>
          </a:p>
          <a:p>
            <a:pPr marL="0" indent="0">
              <a:buNone/>
            </a:pPr>
            <a:r>
              <a:rPr lang="en-US" dirty="0"/>
              <a:t>		</a:t>
            </a:r>
            <a:r>
              <a:rPr lang="en-US" dirty="0" err="1"/>
              <a:t>self.convolve</a:t>
            </a:r>
            <a:r>
              <a:rPr lang="en-US" dirty="0"/>
              <a:t> = nn.Conv2d(</a:t>
            </a:r>
            <a:r>
              <a:rPr lang="en-US" dirty="0" err="1"/>
              <a:t>in_channels</a:t>
            </a:r>
            <a:r>
              <a:rPr lang="en-US" dirty="0"/>
              <a:t>=1, </a:t>
            </a:r>
          </a:p>
          <a:p>
            <a:pPr marL="0" indent="0">
              <a:buNone/>
            </a:pPr>
            <a:r>
              <a:rPr lang="en-US" dirty="0"/>
              <a:t>					       </a:t>
            </a:r>
            <a:r>
              <a:rPr lang="en-US" dirty="0" err="1"/>
              <a:t>out_channels</a:t>
            </a:r>
            <a:r>
              <a:rPr lang="en-US" dirty="0"/>
              <a:t>=32, </a:t>
            </a:r>
          </a:p>
          <a:p>
            <a:pPr marL="0" indent="0">
              <a:buNone/>
            </a:pPr>
            <a:r>
              <a:rPr lang="en-US" dirty="0"/>
              <a:t>					       </a:t>
            </a:r>
            <a:r>
              <a:rPr lang="en-US" dirty="0" err="1"/>
              <a:t>kernel_size</a:t>
            </a:r>
            <a:r>
              <a:rPr lang="en-US" dirty="0"/>
              <a:t>=3)</a:t>
            </a:r>
          </a:p>
          <a:p>
            <a:pPr marL="0" indent="0">
              <a:buNone/>
            </a:pPr>
            <a:r>
              <a:rPr lang="en-US" dirty="0"/>
              <a:t>Omitting arguments for stride and padding sets them to default 1 and 0 respectively.</a:t>
            </a:r>
          </a:p>
          <a:p>
            <a:pPr marL="0" indent="0">
              <a:buNone/>
            </a:pPr>
            <a:r>
              <a:rPr lang="en-US" dirty="0"/>
              <a:t>		</a:t>
            </a:r>
            <a:r>
              <a:rPr lang="en-US" dirty="0" err="1"/>
              <a:t>self.convolve</a:t>
            </a:r>
            <a:r>
              <a:rPr lang="en-US" dirty="0"/>
              <a:t> = nn.Conv2d(</a:t>
            </a:r>
            <a:r>
              <a:rPr lang="en-US" dirty="0" err="1"/>
              <a:t>in_channels</a:t>
            </a:r>
            <a:r>
              <a:rPr lang="en-US" dirty="0"/>
              <a:t>=1, </a:t>
            </a:r>
          </a:p>
          <a:p>
            <a:pPr marL="0" indent="0">
              <a:buNone/>
            </a:pPr>
            <a:r>
              <a:rPr lang="en-US" dirty="0"/>
              <a:t>				        	       </a:t>
            </a:r>
            <a:r>
              <a:rPr lang="en-US" dirty="0" err="1"/>
              <a:t>out_channels</a:t>
            </a:r>
            <a:r>
              <a:rPr lang="en-US" dirty="0"/>
              <a:t>=32, </a:t>
            </a:r>
          </a:p>
          <a:p>
            <a:pPr marL="0" indent="0">
              <a:buNone/>
            </a:pPr>
            <a:r>
              <a:rPr lang="en-US" dirty="0"/>
              <a:t>					       </a:t>
            </a:r>
            <a:r>
              <a:rPr lang="en-US" dirty="0" err="1"/>
              <a:t>kernel_size</a:t>
            </a:r>
            <a:r>
              <a:rPr lang="en-US" dirty="0"/>
              <a:t>=3,</a:t>
            </a:r>
          </a:p>
          <a:p>
            <a:pPr marL="0" indent="0">
              <a:buNone/>
            </a:pPr>
            <a:r>
              <a:rPr lang="en-US" dirty="0"/>
              <a:t>				 	       stride=1,</a:t>
            </a:r>
          </a:p>
          <a:p>
            <a:pPr marL="0" indent="0">
              <a:buNone/>
            </a:pPr>
            <a:r>
              <a:rPr lang="en-US" dirty="0"/>
              <a:t>					       padding=0)</a:t>
            </a:r>
          </a:p>
          <a:p>
            <a:pPr marL="0" indent="0">
              <a:buNone/>
            </a:pPr>
            <a:endParaRPr lang="en-US" dirty="0"/>
          </a:p>
        </p:txBody>
      </p:sp>
    </p:spTree>
    <p:extLst>
      <p:ext uri="{BB962C8B-B14F-4D97-AF65-F5344CB8AC3E}">
        <p14:creationId xmlns:p14="http://schemas.microsoft.com/office/powerpoint/2010/main" val="6414095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702A4D-0D54-2622-37E7-A0A44DAB1373}"/>
              </a:ext>
            </a:extLst>
          </p:cNvPr>
          <p:cNvSpPr>
            <a:spLocks noGrp="1"/>
          </p:cNvSpPr>
          <p:nvPr>
            <p:ph type="title"/>
          </p:nvPr>
        </p:nvSpPr>
        <p:spPr/>
        <p:txBody>
          <a:bodyPr/>
          <a:lstStyle/>
          <a:p>
            <a:r>
              <a:rPr lang="en-US" dirty="0"/>
              <a:t>Output channels</a:t>
            </a:r>
          </a:p>
        </p:txBody>
      </p:sp>
      <p:sp>
        <p:nvSpPr>
          <p:cNvPr id="3" name="Content Placeholder 2">
            <a:extLst>
              <a:ext uri="{FF2B5EF4-FFF2-40B4-BE49-F238E27FC236}">
                <a16:creationId xmlns:a16="http://schemas.microsoft.com/office/drawing/2014/main" id="{223C3FA4-29D3-39FB-7413-EEC45226BC2D}"/>
              </a:ext>
            </a:extLst>
          </p:cNvPr>
          <p:cNvSpPr>
            <a:spLocks noGrp="1"/>
          </p:cNvSpPr>
          <p:nvPr>
            <p:ph idx="1"/>
          </p:nvPr>
        </p:nvSpPr>
        <p:spPr/>
        <p:txBody>
          <a:bodyPr>
            <a:normAutofit/>
          </a:bodyPr>
          <a:lstStyle/>
          <a:p>
            <a:pPr marL="0" indent="0">
              <a:buNone/>
            </a:pPr>
            <a:r>
              <a:rPr lang="en-US" dirty="0"/>
              <a:t>Performing the convolution as described before resulted in outputting a single feature map based off a single kernel and bias totaling 10 learnable parameters. But in the </a:t>
            </a:r>
            <a:r>
              <a:rPr lang="en-US" dirty="0" err="1"/>
              <a:t>EyeNet</a:t>
            </a:r>
            <a:r>
              <a:rPr lang="en-US" dirty="0"/>
              <a:t> class we specified the first convolutional layer to output 32 channels/feature maps.</a:t>
            </a:r>
          </a:p>
          <a:p>
            <a:pPr marL="0" indent="0">
              <a:buNone/>
            </a:pPr>
            <a:r>
              <a:rPr lang="en-US" dirty="0"/>
              <a:t>		        </a:t>
            </a:r>
            <a:r>
              <a:rPr lang="en-US" dirty="0" err="1"/>
              <a:t>self.convolve</a:t>
            </a:r>
            <a:r>
              <a:rPr lang="en-US" dirty="0"/>
              <a:t> = nn.Conv2d(1, 32, 3)</a:t>
            </a:r>
          </a:p>
          <a:p>
            <a:pPr marL="0" indent="0">
              <a:buNone/>
            </a:pPr>
            <a:r>
              <a:rPr lang="en-US" dirty="0"/>
              <a:t>Thus, the first layer introduces 32 different kernels and bias terms. Each pair corresponding to 32 different feature maps.</a:t>
            </a:r>
          </a:p>
          <a:p>
            <a:pPr marL="0" indent="0">
              <a:buNone/>
            </a:pPr>
            <a:r>
              <a:rPr lang="en-US" dirty="0"/>
              <a:t> </a:t>
            </a:r>
          </a:p>
          <a:p>
            <a:pPr marL="0" indent="0">
              <a:buNone/>
            </a:pPr>
            <a:r>
              <a:rPr lang="en-US" dirty="0"/>
              <a:t>Results in (9+1) * 32 = 320 parameters in the first layer.</a:t>
            </a:r>
          </a:p>
        </p:txBody>
      </p:sp>
    </p:spTree>
    <p:extLst>
      <p:ext uri="{BB962C8B-B14F-4D97-AF65-F5344CB8AC3E}">
        <p14:creationId xmlns:p14="http://schemas.microsoft.com/office/powerpoint/2010/main" val="21510890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05D63B-7247-E4BF-1222-AF2D85A76702}"/>
              </a:ext>
            </a:extLst>
          </p:cNvPr>
          <p:cNvSpPr>
            <a:spLocks noGrp="1"/>
          </p:cNvSpPr>
          <p:nvPr>
            <p:ph type="title"/>
          </p:nvPr>
        </p:nvSpPr>
        <p:spPr/>
        <p:txBody>
          <a:bodyPr/>
          <a:lstStyle/>
          <a:p>
            <a:r>
              <a:rPr lang="en-US" dirty="0"/>
              <a:t>Kernels for multiple channels</a:t>
            </a:r>
          </a:p>
        </p:txBody>
      </p:sp>
      <p:sp>
        <p:nvSpPr>
          <p:cNvPr id="3" name="Content Placeholder 2">
            <a:extLst>
              <a:ext uri="{FF2B5EF4-FFF2-40B4-BE49-F238E27FC236}">
                <a16:creationId xmlns:a16="http://schemas.microsoft.com/office/drawing/2014/main" id="{FDBB2A6D-B193-E8E6-9AD9-DF6548D41F5C}"/>
              </a:ext>
            </a:extLst>
          </p:cNvPr>
          <p:cNvSpPr>
            <a:spLocks noGrp="1"/>
          </p:cNvSpPr>
          <p:nvPr>
            <p:ph idx="1"/>
          </p:nvPr>
        </p:nvSpPr>
        <p:spPr/>
        <p:txBody>
          <a:bodyPr>
            <a:normAutofit fontScale="92500" lnSpcReduction="10000"/>
          </a:bodyPr>
          <a:lstStyle/>
          <a:p>
            <a:pPr marL="0" indent="0">
              <a:buNone/>
            </a:pPr>
            <a:r>
              <a:rPr lang="en-US" dirty="0"/>
              <a:t>In </a:t>
            </a:r>
            <a:r>
              <a:rPr lang="en-US" dirty="0" err="1"/>
              <a:t>self.convolve</a:t>
            </a:r>
            <a:r>
              <a:rPr lang="en-US" dirty="0"/>
              <a:t> we used a kernel of size 3 which operates on 3x3 patches of our single input image. </a:t>
            </a:r>
          </a:p>
          <a:p>
            <a:pPr marL="0" indent="0">
              <a:buNone/>
            </a:pPr>
            <a:r>
              <a:rPr lang="en-US" dirty="0"/>
              <a:t>Now remember the shape of our preprocessed image is (1, 256, 256).</a:t>
            </a:r>
          </a:p>
          <a:p>
            <a:pPr marL="0" indent="0">
              <a:buNone/>
            </a:pPr>
            <a:r>
              <a:rPr lang="en-US" dirty="0"/>
              <a:t>This means our input has a depth of 1 and so we apply a (1x3x3) kernel.</a:t>
            </a:r>
          </a:p>
          <a:p>
            <a:pPr marL="0" indent="0">
              <a:buNone/>
            </a:pPr>
            <a:r>
              <a:rPr lang="en-US" dirty="0"/>
              <a:t>To have kernels operate across multiple channels we really use a kernel of dimension 1x3x3. A convolution layer such as </a:t>
            </a:r>
          </a:p>
          <a:p>
            <a:pPr marL="0" indent="0">
              <a:buNone/>
            </a:pPr>
            <a:r>
              <a:rPr lang="en-US" dirty="0" err="1"/>
              <a:t>self.convolve</a:t>
            </a:r>
            <a:r>
              <a:rPr lang="en-US" dirty="0"/>
              <a:t> = nn.Conv2d(32, 1, 3) uses a 32x3x3 kernel that operates on 32x3x3 regions of the input. nn.Conv2d(32, 7, 3) uses 7 32x3x3 kernels.</a:t>
            </a:r>
          </a:p>
          <a:p>
            <a:pPr marL="0" indent="0">
              <a:buNone/>
            </a:pPr>
            <a:r>
              <a:rPr lang="en-US" dirty="0"/>
              <a:t>Thus, the number of parameters a convolutional layer introduces is given by: </a:t>
            </a:r>
            <a:r>
              <a:rPr lang="en-US" dirty="0" err="1"/>
              <a:t>conv_params</a:t>
            </a:r>
            <a:r>
              <a:rPr lang="en-US" dirty="0"/>
              <a:t> = (</a:t>
            </a:r>
            <a:r>
              <a:rPr lang="en-US" dirty="0" err="1"/>
              <a:t>input_channel</a:t>
            </a:r>
            <a:r>
              <a:rPr lang="en-US" dirty="0"/>
              <a:t>*</a:t>
            </a:r>
            <a:r>
              <a:rPr lang="en-US" dirty="0" err="1"/>
              <a:t>kernel_size</a:t>
            </a:r>
            <a:r>
              <a:rPr lang="en-US" dirty="0"/>
              <a:t>*kernel_size+1) * output channels.</a:t>
            </a:r>
          </a:p>
        </p:txBody>
      </p:sp>
    </p:spTree>
    <p:extLst>
      <p:ext uri="{BB962C8B-B14F-4D97-AF65-F5344CB8AC3E}">
        <p14:creationId xmlns:p14="http://schemas.microsoft.com/office/powerpoint/2010/main" val="25314035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E18DFA-2FB9-0652-2C55-F63F2E504CBC}"/>
              </a:ext>
            </a:extLst>
          </p:cNvPr>
          <p:cNvSpPr>
            <a:spLocks noGrp="1"/>
          </p:cNvSpPr>
          <p:nvPr>
            <p:ph type="title"/>
          </p:nvPr>
        </p:nvSpPr>
        <p:spPr/>
        <p:txBody>
          <a:bodyPr/>
          <a:lstStyle/>
          <a:p>
            <a:r>
              <a:rPr lang="en-US" dirty="0"/>
              <a:t>Activation function</a:t>
            </a:r>
          </a:p>
        </p:txBody>
      </p:sp>
      <p:sp>
        <p:nvSpPr>
          <p:cNvPr id="3" name="Content Placeholder 2">
            <a:extLst>
              <a:ext uri="{FF2B5EF4-FFF2-40B4-BE49-F238E27FC236}">
                <a16:creationId xmlns:a16="http://schemas.microsoft.com/office/drawing/2014/main" id="{86DB0E80-FD9A-7C08-92EA-2307734060BE}"/>
              </a:ext>
            </a:extLst>
          </p:cNvPr>
          <p:cNvSpPr>
            <a:spLocks noGrp="1"/>
          </p:cNvSpPr>
          <p:nvPr>
            <p:ph idx="1"/>
          </p:nvPr>
        </p:nvSpPr>
        <p:spPr/>
        <p:txBody>
          <a:bodyPr/>
          <a:lstStyle/>
          <a:p>
            <a:pPr marL="0" indent="0">
              <a:buNone/>
            </a:pPr>
            <a:r>
              <a:rPr lang="en-US" dirty="0"/>
              <a:t>We can now pass that feature map into an activation function to introduce nonlinear effects in the model. We will use the </a:t>
            </a:r>
            <a:r>
              <a:rPr lang="en-US" dirty="0" err="1"/>
              <a:t>ReLU</a:t>
            </a:r>
            <a:r>
              <a:rPr lang="en-US" dirty="0"/>
              <a:t> function</a:t>
            </a:r>
          </a:p>
          <a:p>
            <a:pPr marL="0" indent="0">
              <a:buNone/>
            </a:pPr>
            <a:endParaRPr lang="en-US" dirty="0"/>
          </a:p>
          <a:p>
            <a:pPr marL="0" indent="0">
              <a:buNone/>
            </a:pPr>
            <a:endParaRPr lang="en-US" dirty="0"/>
          </a:p>
          <a:p>
            <a:pPr marL="0" indent="0">
              <a:buNone/>
            </a:pPr>
            <a:endParaRPr lang="en-US" dirty="0"/>
          </a:p>
          <a:p>
            <a:pPr marL="0" indent="0">
              <a:buNone/>
            </a:pPr>
            <a:r>
              <a:rPr lang="en-US" dirty="0"/>
              <a:t>Thus, after we pass in the feature maps from the convolutional layer we obtain maps containing strictly positive entries and zeros for previously negative entries.</a:t>
            </a:r>
          </a:p>
        </p:txBody>
      </p:sp>
      <p:pic>
        <p:nvPicPr>
          <p:cNvPr id="5" name="Picture 4">
            <a:extLst>
              <a:ext uri="{FF2B5EF4-FFF2-40B4-BE49-F238E27FC236}">
                <a16:creationId xmlns:a16="http://schemas.microsoft.com/office/drawing/2014/main" id="{EC148111-01A9-0DD3-9D9B-49FE7DD6605C}"/>
              </a:ext>
            </a:extLst>
          </p:cNvPr>
          <p:cNvPicPr>
            <a:picLocks noChangeAspect="1"/>
          </p:cNvPicPr>
          <p:nvPr/>
        </p:nvPicPr>
        <p:blipFill>
          <a:blip r:embed="rId2"/>
          <a:stretch>
            <a:fillRect/>
          </a:stretch>
        </p:blipFill>
        <p:spPr>
          <a:xfrm>
            <a:off x="4353444" y="2744114"/>
            <a:ext cx="3846823" cy="1554431"/>
          </a:xfrm>
          <a:prstGeom prst="rect">
            <a:avLst/>
          </a:prstGeom>
        </p:spPr>
      </p:pic>
      <p:pic>
        <p:nvPicPr>
          <p:cNvPr id="7" name="Picture 6">
            <a:extLst>
              <a:ext uri="{FF2B5EF4-FFF2-40B4-BE49-F238E27FC236}">
                <a16:creationId xmlns:a16="http://schemas.microsoft.com/office/drawing/2014/main" id="{9CC809EF-309A-476D-A4C7-D947F0891B04}"/>
              </a:ext>
            </a:extLst>
          </p:cNvPr>
          <p:cNvPicPr>
            <a:picLocks noChangeAspect="1"/>
          </p:cNvPicPr>
          <p:nvPr/>
        </p:nvPicPr>
        <p:blipFill>
          <a:blip r:embed="rId3"/>
          <a:stretch>
            <a:fillRect/>
          </a:stretch>
        </p:blipFill>
        <p:spPr>
          <a:xfrm>
            <a:off x="2631918" y="3143966"/>
            <a:ext cx="1851220" cy="754728"/>
          </a:xfrm>
          <a:prstGeom prst="rect">
            <a:avLst/>
          </a:prstGeom>
        </p:spPr>
      </p:pic>
    </p:spTree>
    <p:extLst>
      <p:ext uri="{BB962C8B-B14F-4D97-AF65-F5344CB8AC3E}">
        <p14:creationId xmlns:p14="http://schemas.microsoft.com/office/powerpoint/2010/main" val="14753330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27FCFE-179B-8253-5BF2-87D2004934B4}"/>
              </a:ext>
            </a:extLst>
          </p:cNvPr>
          <p:cNvSpPr>
            <a:spLocks noGrp="1"/>
          </p:cNvSpPr>
          <p:nvPr>
            <p:ph type="title"/>
          </p:nvPr>
        </p:nvSpPr>
        <p:spPr/>
        <p:txBody>
          <a:bodyPr/>
          <a:lstStyle/>
          <a:p>
            <a:r>
              <a:rPr lang="en-US" dirty="0"/>
              <a:t>Pooling</a:t>
            </a:r>
          </a:p>
        </p:txBody>
      </p:sp>
      <p:sp>
        <p:nvSpPr>
          <p:cNvPr id="3" name="Content Placeholder 2">
            <a:extLst>
              <a:ext uri="{FF2B5EF4-FFF2-40B4-BE49-F238E27FC236}">
                <a16:creationId xmlns:a16="http://schemas.microsoft.com/office/drawing/2014/main" id="{E3391421-F2D1-A876-29FC-2DB5B0D9BC11}"/>
              </a:ext>
            </a:extLst>
          </p:cNvPr>
          <p:cNvSpPr>
            <a:spLocks noGrp="1"/>
          </p:cNvSpPr>
          <p:nvPr>
            <p:ph idx="1"/>
          </p:nvPr>
        </p:nvSpPr>
        <p:spPr/>
        <p:txBody>
          <a:bodyPr/>
          <a:lstStyle/>
          <a:p>
            <a:pPr marL="0" indent="0">
              <a:buNone/>
            </a:pPr>
            <a:r>
              <a:rPr lang="en-US" dirty="0"/>
              <a:t>Pooling is loosely defined as combining nearby data into one representative value.</a:t>
            </a:r>
          </a:p>
          <a:p>
            <a:pPr marL="0" indent="0">
              <a:buNone/>
            </a:pPr>
            <a:endParaRPr lang="en-US" dirty="0"/>
          </a:p>
          <a:p>
            <a:pPr marL="0" indent="0">
              <a:buNone/>
            </a:pPr>
            <a:r>
              <a:rPr lang="en-US" dirty="0"/>
              <a:t>Max pooling operates on local patches of the feature map, similar to convolution. A sliding window (kernel) moves across the input, and each region is </a:t>
            </a:r>
            <a:r>
              <a:rPr lang="en-US" u="sng" dirty="0"/>
              <a:t>reduced to its maximum value</a:t>
            </a:r>
            <a:r>
              <a:rPr lang="en-US" dirty="0"/>
              <a:t>.</a:t>
            </a:r>
          </a:p>
          <a:p>
            <a:pPr marL="0" indent="0">
              <a:buNone/>
            </a:pPr>
            <a:endParaRPr lang="en-US" dirty="0"/>
          </a:p>
          <a:p>
            <a:pPr marL="0" indent="0">
              <a:buNone/>
            </a:pPr>
            <a:r>
              <a:rPr lang="en-US" dirty="0"/>
              <a:t>We will use the MaxPool2d() method in </a:t>
            </a:r>
            <a:r>
              <a:rPr lang="en-US" dirty="0" err="1"/>
              <a:t>PyTorch</a:t>
            </a:r>
            <a:r>
              <a:rPr lang="en-US" dirty="0"/>
              <a:t>.</a:t>
            </a:r>
          </a:p>
        </p:txBody>
      </p:sp>
    </p:spTree>
    <p:extLst>
      <p:ext uri="{BB962C8B-B14F-4D97-AF65-F5344CB8AC3E}">
        <p14:creationId xmlns:p14="http://schemas.microsoft.com/office/powerpoint/2010/main" val="21711691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4DAA6-CDEE-BAD0-F56D-52DCD143FDDD}"/>
              </a:ext>
            </a:extLst>
          </p:cNvPr>
          <p:cNvSpPr>
            <a:spLocks noGrp="1"/>
          </p:cNvSpPr>
          <p:nvPr>
            <p:ph type="title"/>
          </p:nvPr>
        </p:nvSpPr>
        <p:spPr/>
        <p:txBody>
          <a:bodyPr/>
          <a:lstStyle/>
          <a:p>
            <a:r>
              <a:rPr lang="en-US" dirty="0"/>
              <a:t>MaxPool2d()</a:t>
            </a:r>
          </a:p>
        </p:txBody>
      </p:sp>
      <p:sp>
        <p:nvSpPr>
          <p:cNvPr id="3" name="Content Placeholder 2">
            <a:extLst>
              <a:ext uri="{FF2B5EF4-FFF2-40B4-BE49-F238E27FC236}">
                <a16:creationId xmlns:a16="http://schemas.microsoft.com/office/drawing/2014/main" id="{FDCD4322-45AA-CB20-AA2A-0C084FA0CD61}"/>
              </a:ext>
            </a:extLst>
          </p:cNvPr>
          <p:cNvSpPr>
            <a:spLocks noGrp="1"/>
          </p:cNvSpPr>
          <p:nvPr>
            <p:ph idx="1"/>
          </p:nvPr>
        </p:nvSpPr>
        <p:spPr/>
        <p:txBody>
          <a:bodyPr>
            <a:normAutofit fontScale="92500" lnSpcReduction="10000"/>
          </a:bodyPr>
          <a:lstStyle/>
          <a:p>
            <a:pPr marL="0" indent="0">
              <a:buNone/>
            </a:pPr>
            <a:r>
              <a:rPr lang="en-US" dirty="0"/>
              <a:t>class </a:t>
            </a:r>
            <a:r>
              <a:rPr lang="en-US" dirty="0" err="1"/>
              <a:t>EyeNet</a:t>
            </a:r>
            <a:r>
              <a:rPr lang="en-US" dirty="0"/>
              <a:t>(</a:t>
            </a:r>
            <a:r>
              <a:rPr lang="en-US" dirty="0" err="1"/>
              <a:t>nn.Module</a:t>
            </a:r>
            <a:r>
              <a:rPr lang="en-US" dirty="0"/>
              <a:t>):</a:t>
            </a:r>
          </a:p>
          <a:p>
            <a:pPr marL="0" indent="0">
              <a:buNone/>
            </a:pPr>
            <a:r>
              <a:rPr lang="en-US" dirty="0"/>
              <a:t>	def __</a:t>
            </a:r>
            <a:r>
              <a:rPr lang="en-US" dirty="0" err="1"/>
              <a:t>init</a:t>
            </a:r>
            <a:r>
              <a:rPr lang="en-US" dirty="0"/>
              <a:t>__(self): 	</a:t>
            </a:r>
          </a:p>
          <a:p>
            <a:pPr marL="0" indent="0">
              <a:buNone/>
            </a:pPr>
            <a:r>
              <a:rPr lang="en-US" dirty="0"/>
              <a:t>        		super(</a:t>
            </a:r>
            <a:r>
              <a:rPr lang="en-US" dirty="0" err="1"/>
              <a:t>EyeNet</a:t>
            </a:r>
            <a:r>
              <a:rPr lang="en-US" dirty="0"/>
              <a:t>, self).__</a:t>
            </a:r>
            <a:r>
              <a:rPr lang="en-US" dirty="0" err="1"/>
              <a:t>init</a:t>
            </a:r>
            <a:r>
              <a:rPr lang="en-US" dirty="0"/>
              <a:t>__()</a:t>
            </a:r>
          </a:p>
          <a:p>
            <a:pPr marL="0" indent="0">
              <a:buNone/>
            </a:pPr>
            <a:r>
              <a:rPr lang="en-US" dirty="0"/>
              <a:t>		self.pool = MaxPool2d(</a:t>
            </a:r>
            <a:r>
              <a:rPr lang="en-US" dirty="0" err="1"/>
              <a:t>kernel_size</a:t>
            </a:r>
            <a:r>
              <a:rPr lang="en-US" dirty="0"/>
              <a:t>=2, stride=2)</a:t>
            </a:r>
          </a:p>
          <a:p>
            <a:pPr marL="0" indent="0">
              <a:buNone/>
            </a:pPr>
            <a:endParaRPr lang="en-US" dirty="0"/>
          </a:p>
          <a:p>
            <a:pPr marL="0" indent="0">
              <a:buNone/>
            </a:pPr>
            <a:r>
              <a:rPr lang="en-US" dirty="0"/>
              <a:t>Here we specify the size of the patches and the subsets of patches to operate on with the stride parameter. Stride=2 means perform the algorithm on 2x2 patches starting at every other pixel. </a:t>
            </a:r>
          </a:p>
          <a:p>
            <a:pPr marL="0" indent="0">
              <a:buNone/>
            </a:pPr>
            <a:r>
              <a:rPr lang="en-US" dirty="0"/>
              <a:t>Having stride=2 produces a shape of 1x128x128, on our 1x256x256 input. We apply the same formula for dimension as the convolutional layer. This halves the dimension of the input map.</a:t>
            </a:r>
          </a:p>
        </p:txBody>
      </p:sp>
    </p:spTree>
    <p:extLst>
      <p:ext uri="{BB962C8B-B14F-4D97-AF65-F5344CB8AC3E}">
        <p14:creationId xmlns:p14="http://schemas.microsoft.com/office/powerpoint/2010/main" val="15986233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C158B2B-CFC4-346A-A3B3-813EE2FF3F8B}"/>
              </a:ext>
            </a:extLst>
          </p:cNvPr>
          <p:cNvSpPr>
            <a:spLocks noGrp="1"/>
          </p:cNvSpPr>
          <p:nvPr>
            <p:ph idx="1"/>
          </p:nvPr>
        </p:nvSpPr>
        <p:spPr>
          <a:xfrm>
            <a:off x="457672" y="537330"/>
            <a:ext cx="10989276" cy="5960720"/>
          </a:xfrm>
        </p:spPr>
        <p:txBody>
          <a:bodyPr>
            <a:normAutofit fontScale="70000" lnSpcReduction="20000"/>
          </a:bodyPr>
          <a:lstStyle/>
          <a:p>
            <a:pPr marL="0" indent="0">
              <a:buNone/>
            </a:pPr>
            <a:r>
              <a:rPr lang="en-US" dirty="0"/>
              <a:t>class </a:t>
            </a:r>
            <a:r>
              <a:rPr lang="en-US" dirty="0" err="1"/>
              <a:t>EyeNet</a:t>
            </a:r>
            <a:r>
              <a:rPr lang="en-US" dirty="0"/>
              <a:t>(</a:t>
            </a:r>
            <a:r>
              <a:rPr lang="en-US" dirty="0" err="1"/>
              <a:t>nn.Module</a:t>
            </a:r>
            <a:r>
              <a:rPr lang="en-US" dirty="0"/>
              <a:t>):</a:t>
            </a:r>
          </a:p>
          <a:p>
            <a:pPr marL="0" indent="0">
              <a:buNone/>
            </a:pPr>
            <a:r>
              <a:rPr lang="en-US" dirty="0"/>
              <a:t>	def __</a:t>
            </a:r>
            <a:r>
              <a:rPr lang="en-US" dirty="0" err="1"/>
              <a:t>init</a:t>
            </a:r>
            <a:r>
              <a:rPr lang="en-US" dirty="0"/>
              <a:t>__(self): 	</a:t>
            </a:r>
          </a:p>
          <a:p>
            <a:pPr marL="0" indent="0">
              <a:buNone/>
            </a:pPr>
            <a:r>
              <a:rPr lang="en-US" dirty="0"/>
              <a:t>        		super(</a:t>
            </a:r>
            <a:r>
              <a:rPr lang="en-US" dirty="0" err="1"/>
              <a:t>EyeNet</a:t>
            </a:r>
            <a:r>
              <a:rPr lang="en-US" dirty="0"/>
              <a:t>, self).__</a:t>
            </a:r>
            <a:r>
              <a:rPr lang="en-US" dirty="0" err="1"/>
              <a:t>init</a:t>
            </a:r>
            <a:r>
              <a:rPr lang="en-US" dirty="0"/>
              <a:t>__()</a:t>
            </a:r>
          </a:p>
          <a:p>
            <a:pPr marL="0" indent="0">
              <a:buNone/>
            </a:pPr>
            <a:r>
              <a:rPr lang="en-US" dirty="0"/>
              <a:t>		</a:t>
            </a:r>
            <a:r>
              <a:rPr lang="en-US" dirty="0" err="1"/>
              <a:t>self.convolve</a:t>
            </a:r>
            <a:r>
              <a:rPr lang="en-US" dirty="0"/>
              <a:t> = nn.Conv2d(</a:t>
            </a:r>
            <a:r>
              <a:rPr lang="en-US" dirty="0" err="1"/>
              <a:t>in_channels</a:t>
            </a:r>
            <a:r>
              <a:rPr lang="en-US" dirty="0"/>
              <a:t>=1, </a:t>
            </a:r>
            <a:r>
              <a:rPr lang="en-US" dirty="0" err="1"/>
              <a:t>out_channels</a:t>
            </a:r>
            <a:r>
              <a:rPr lang="en-US" dirty="0"/>
              <a:t>=6, </a:t>
            </a:r>
            <a:r>
              <a:rPr lang="en-US" dirty="0" err="1"/>
              <a:t>kernel_size</a:t>
            </a:r>
            <a:r>
              <a:rPr lang="en-US" dirty="0"/>
              <a:t>=5, padding=1)</a:t>
            </a:r>
          </a:p>
          <a:p>
            <a:pPr marL="0" indent="0">
              <a:buNone/>
            </a:pPr>
            <a:r>
              <a:rPr lang="en-US" dirty="0"/>
              <a:t>		self.pool = nn.MaxPool2d(</a:t>
            </a:r>
            <a:r>
              <a:rPr lang="en-US" dirty="0" err="1"/>
              <a:t>kernel_size</a:t>
            </a:r>
            <a:r>
              <a:rPr lang="en-US" dirty="0"/>
              <a:t>=2, stride=2)</a:t>
            </a:r>
          </a:p>
          <a:p>
            <a:pPr marL="0" indent="0">
              <a:buNone/>
            </a:pPr>
            <a:r>
              <a:rPr lang="en-US" dirty="0"/>
              <a:t>		</a:t>
            </a:r>
            <a:r>
              <a:rPr lang="en-US" dirty="0" err="1"/>
              <a:t>self.dense</a:t>
            </a:r>
            <a:r>
              <a:rPr lang="en-US" dirty="0"/>
              <a:t> = …</a:t>
            </a:r>
          </a:p>
          <a:p>
            <a:pPr marL="0" indent="0">
              <a:buNone/>
            </a:pPr>
            <a:r>
              <a:rPr lang="en-US" dirty="0"/>
              <a:t>		</a:t>
            </a:r>
            <a:r>
              <a:rPr lang="en-US" dirty="0" err="1"/>
              <a:t>self.dense_out</a:t>
            </a:r>
            <a:r>
              <a:rPr lang="en-US" dirty="0"/>
              <a:t> = …</a:t>
            </a:r>
          </a:p>
          <a:p>
            <a:pPr marL="0" indent="0">
              <a:buNone/>
            </a:pPr>
            <a:r>
              <a:rPr lang="en-US" dirty="0"/>
              <a:t>	def forward(self, x):</a:t>
            </a:r>
          </a:p>
          <a:p>
            <a:pPr marL="0" indent="0">
              <a:buNone/>
            </a:pPr>
            <a:r>
              <a:rPr lang="en-US" dirty="0"/>
              <a:t>		x = </a:t>
            </a:r>
            <a:r>
              <a:rPr lang="en-US" dirty="0" err="1"/>
              <a:t>self.convolve</a:t>
            </a:r>
            <a:r>
              <a:rPr lang="en-US" dirty="0"/>
              <a:t>(x) # shape: (1x256x256) --&gt; (6x252x252)</a:t>
            </a:r>
          </a:p>
          <a:p>
            <a:pPr marL="0" indent="0">
              <a:buNone/>
            </a:pPr>
            <a:r>
              <a:rPr lang="en-US" dirty="0"/>
              <a:t>		x = F.relu(x) # shape: (6x252x252) --&gt; (6x252x252)</a:t>
            </a:r>
          </a:p>
          <a:p>
            <a:pPr marL="0" indent="0">
              <a:buNone/>
            </a:pPr>
            <a:r>
              <a:rPr lang="en-US" dirty="0"/>
              <a:t>		x = self.pool(x) # shape: (6x252x252) --&gt; (6x126x126)</a:t>
            </a:r>
          </a:p>
          <a:p>
            <a:pPr marL="0" indent="0">
              <a:buNone/>
            </a:pPr>
            <a:r>
              <a:rPr lang="en-US" dirty="0"/>
              <a:t>		x = torch.flatten(x, 1) # shape: (6x126x126) --&gt; (1x(6*126*126))</a:t>
            </a:r>
          </a:p>
          <a:p>
            <a:pPr marL="0" indent="0">
              <a:buNone/>
            </a:pPr>
            <a:r>
              <a:rPr lang="en-US" dirty="0"/>
              <a:t>		x = </a:t>
            </a:r>
            <a:r>
              <a:rPr lang="en-US" dirty="0" err="1"/>
              <a:t>self.dense</a:t>
            </a:r>
            <a:r>
              <a:rPr lang="en-US" dirty="0"/>
              <a:t>(x)</a:t>
            </a:r>
          </a:p>
          <a:p>
            <a:pPr marL="0" indent="0">
              <a:buNone/>
            </a:pPr>
            <a:r>
              <a:rPr lang="en-US" dirty="0"/>
              <a:t>		x = F.relu(x)</a:t>
            </a:r>
          </a:p>
          <a:p>
            <a:pPr marL="0" indent="0">
              <a:buNone/>
            </a:pPr>
            <a:r>
              <a:rPr lang="en-US" dirty="0"/>
              <a:t>		x = </a:t>
            </a:r>
            <a:r>
              <a:rPr lang="en-US" dirty="0" err="1"/>
              <a:t>self.dense_out</a:t>
            </a:r>
            <a:r>
              <a:rPr lang="en-US" dirty="0"/>
              <a:t>(x)</a:t>
            </a:r>
          </a:p>
          <a:p>
            <a:pPr marL="0" indent="0">
              <a:buNone/>
            </a:pPr>
            <a:r>
              <a:rPr lang="en-US" dirty="0"/>
              <a:t>		return x</a:t>
            </a:r>
          </a:p>
          <a:p>
            <a:pPr marL="0" indent="0">
              <a:buNone/>
            </a:pPr>
            <a:endParaRPr lang="en-US" dirty="0"/>
          </a:p>
        </p:txBody>
      </p:sp>
    </p:spTree>
    <p:extLst>
      <p:ext uri="{BB962C8B-B14F-4D97-AF65-F5344CB8AC3E}">
        <p14:creationId xmlns:p14="http://schemas.microsoft.com/office/powerpoint/2010/main" val="28457286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91CFF3-569C-BC74-FBA1-EA792D366299}"/>
              </a:ext>
            </a:extLst>
          </p:cNvPr>
          <p:cNvSpPr>
            <a:spLocks noGrp="1"/>
          </p:cNvSpPr>
          <p:nvPr>
            <p:ph type="title"/>
          </p:nvPr>
        </p:nvSpPr>
        <p:spPr/>
        <p:txBody>
          <a:bodyPr/>
          <a:lstStyle/>
          <a:p>
            <a:r>
              <a:rPr lang="en-US" dirty="0"/>
              <a:t>Fully-connected layers</a:t>
            </a:r>
          </a:p>
        </p:txBody>
      </p:sp>
      <p:sp>
        <p:nvSpPr>
          <p:cNvPr id="3" name="Content Placeholder 2">
            <a:extLst>
              <a:ext uri="{FF2B5EF4-FFF2-40B4-BE49-F238E27FC236}">
                <a16:creationId xmlns:a16="http://schemas.microsoft.com/office/drawing/2014/main" id="{3E7ED7D8-F552-C4DB-2936-0C7BD7824880}"/>
              </a:ext>
            </a:extLst>
          </p:cNvPr>
          <p:cNvSpPr>
            <a:spLocks noGrp="1"/>
          </p:cNvSpPr>
          <p:nvPr>
            <p:ph idx="1"/>
          </p:nvPr>
        </p:nvSpPr>
        <p:spPr/>
        <p:txBody>
          <a:bodyPr>
            <a:normAutofit lnSpcReduction="10000"/>
          </a:bodyPr>
          <a:lstStyle/>
          <a:p>
            <a:pPr marL="0" indent="0">
              <a:buNone/>
            </a:pPr>
            <a:r>
              <a:rPr lang="en-US" dirty="0"/>
              <a:t>After obtaining a final set of feature maps from the network, flatten the tensor into a 1-dimensional array and feed into the multilayer perceptron portion of the net for classification. </a:t>
            </a:r>
          </a:p>
          <a:p>
            <a:pPr marL="0" indent="0">
              <a:buNone/>
            </a:pPr>
            <a:r>
              <a:rPr lang="en-US" dirty="0"/>
              <a:t>The 1-D array of values is taken in and connected to a specified number of output neurons each with a set of weights, one for each element in the array , and an additional bias terms. Thus, the number of parameters for the initial dense layer can be calculated as:</a:t>
            </a:r>
          </a:p>
          <a:p>
            <a:pPr marL="0" indent="0">
              <a:buNone/>
            </a:pPr>
            <a:r>
              <a:rPr lang="en-US" dirty="0"/>
              <a:t> </a:t>
            </a:r>
          </a:p>
          <a:p>
            <a:pPr marL="0" indent="0">
              <a:buNone/>
            </a:pPr>
            <a:r>
              <a:rPr lang="en-US" sz="2400" dirty="0"/>
              <a:t># of parameters in initial dense layer </a:t>
            </a:r>
          </a:p>
          <a:p>
            <a:pPr marL="0" indent="0">
              <a:buNone/>
            </a:pPr>
            <a:r>
              <a:rPr lang="en-US" sz="2400" dirty="0"/>
              <a:t>= </a:t>
            </a:r>
            <a:r>
              <a:rPr lang="en-US" sz="2400" dirty="0" err="1"/>
              <a:t>len</a:t>
            </a:r>
            <a:r>
              <a:rPr lang="en-US" sz="2400" dirty="0"/>
              <a:t>(</a:t>
            </a:r>
            <a:r>
              <a:rPr lang="en-US" sz="2400" dirty="0" err="1"/>
              <a:t>flattened_features</a:t>
            </a:r>
            <a:r>
              <a:rPr lang="en-US" sz="2400" dirty="0"/>
              <a:t>) * </a:t>
            </a:r>
            <a:r>
              <a:rPr lang="en-US" sz="2400" dirty="0" err="1"/>
              <a:t>output_neurons</a:t>
            </a:r>
            <a:r>
              <a:rPr lang="en-US" sz="2400" dirty="0"/>
              <a:t> + </a:t>
            </a:r>
            <a:r>
              <a:rPr lang="en-US" sz="2400" dirty="0" err="1"/>
              <a:t>output_neurons</a:t>
            </a:r>
            <a:r>
              <a:rPr lang="en-US" sz="2400" dirty="0"/>
              <a:t> </a:t>
            </a:r>
          </a:p>
          <a:p>
            <a:pPr marL="0" indent="0">
              <a:buNone/>
            </a:pPr>
            <a:r>
              <a:rPr lang="en-US" sz="2400" dirty="0"/>
              <a:t>(number of weights plus bias terms for the first layer)</a:t>
            </a:r>
          </a:p>
        </p:txBody>
      </p:sp>
    </p:spTree>
    <p:extLst>
      <p:ext uri="{BB962C8B-B14F-4D97-AF65-F5344CB8AC3E}">
        <p14:creationId xmlns:p14="http://schemas.microsoft.com/office/powerpoint/2010/main" val="11698967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E89C2B-D52E-3F64-43D6-280B312DD50A}"/>
              </a:ext>
            </a:extLst>
          </p:cNvPr>
          <p:cNvSpPr>
            <a:spLocks noGrp="1"/>
          </p:cNvSpPr>
          <p:nvPr>
            <p:ph type="title"/>
          </p:nvPr>
        </p:nvSpPr>
        <p:spPr/>
        <p:txBody>
          <a:bodyPr/>
          <a:lstStyle/>
          <a:p>
            <a:r>
              <a:rPr lang="en-US" dirty="0"/>
              <a:t>Construct hidden layers and the output layer for classification.</a:t>
            </a:r>
          </a:p>
        </p:txBody>
      </p:sp>
      <p:sp>
        <p:nvSpPr>
          <p:cNvPr id="3" name="Content Placeholder 2">
            <a:extLst>
              <a:ext uri="{FF2B5EF4-FFF2-40B4-BE49-F238E27FC236}">
                <a16:creationId xmlns:a16="http://schemas.microsoft.com/office/drawing/2014/main" id="{7348A526-D277-D9F7-F73A-F4AA6056773D}"/>
              </a:ext>
            </a:extLst>
          </p:cNvPr>
          <p:cNvSpPr>
            <a:spLocks noGrp="1"/>
          </p:cNvSpPr>
          <p:nvPr>
            <p:ph idx="1"/>
          </p:nvPr>
        </p:nvSpPr>
        <p:spPr/>
        <p:txBody>
          <a:bodyPr/>
          <a:lstStyle/>
          <a:p>
            <a:pPr marL="0" indent="0">
              <a:buNone/>
            </a:pPr>
            <a:r>
              <a:rPr lang="en-US" dirty="0"/>
              <a:t>We can define additional hidden layers simply by passing in the size of the input into a set of output neurons. Each layer increases the number of parameters by the following:</a:t>
            </a:r>
          </a:p>
          <a:p>
            <a:pPr marL="0" indent="0">
              <a:buNone/>
            </a:pPr>
            <a:r>
              <a:rPr lang="en-US" dirty="0"/>
              <a:t>	# of new parameters per hidden layer </a:t>
            </a:r>
          </a:p>
          <a:p>
            <a:pPr marL="0" indent="0">
              <a:buNone/>
            </a:pPr>
            <a:r>
              <a:rPr lang="en-US" dirty="0"/>
              <a:t>	= </a:t>
            </a:r>
            <a:r>
              <a:rPr lang="en-US" dirty="0" err="1"/>
              <a:t>input_size</a:t>
            </a:r>
            <a:r>
              <a:rPr lang="en-US" dirty="0"/>
              <a:t> * </a:t>
            </a:r>
            <a:r>
              <a:rPr lang="en-US" dirty="0" err="1"/>
              <a:t>output_size</a:t>
            </a:r>
            <a:r>
              <a:rPr lang="en-US" dirty="0"/>
              <a:t> +  </a:t>
            </a:r>
            <a:r>
              <a:rPr lang="en-US" dirty="0" err="1"/>
              <a:t>output_size</a:t>
            </a:r>
            <a:endParaRPr lang="en-US" dirty="0"/>
          </a:p>
          <a:p>
            <a:pPr marL="0" indent="0">
              <a:buNone/>
            </a:pPr>
            <a:r>
              <a:rPr lang="en-US" dirty="0"/>
              <a:t>The output layer needs to classify the input into one of four classes:</a:t>
            </a:r>
          </a:p>
          <a:p>
            <a:pPr marL="0" indent="0">
              <a:buNone/>
            </a:pPr>
            <a:r>
              <a:rPr lang="en-US" dirty="0"/>
              <a:t>			[</a:t>
            </a:r>
            <a:r>
              <a:rPr lang="de-DE" dirty="0"/>
              <a:t>CNV, DME, DRUSEN, NORMAL]</a:t>
            </a:r>
          </a:p>
          <a:p>
            <a:pPr marL="0" indent="0">
              <a:buNone/>
            </a:pPr>
            <a:r>
              <a:rPr lang="de-DE" dirty="0"/>
              <a:t>We require the output layer to have four output neurons.</a:t>
            </a:r>
          </a:p>
          <a:p>
            <a:pPr marL="0" indent="0">
              <a:buNone/>
            </a:pPr>
            <a:r>
              <a:rPr lang="en-US" dirty="0"/>
              <a:t> </a:t>
            </a:r>
          </a:p>
        </p:txBody>
      </p:sp>
    </p:spTree>
    <p:extLst>
      <p:ext uri="{BB962C8B-B14F-4D97-AF65-F5344CB8AC3E}">
        <p14:creationId xmlns:p14="http://schemas.microsoft.com/office/powerpoint/2010/main" val="23799325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8C2BCD-13EA-4723-A6B1-D06AD341FC2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1ABB2FF-802D-0789-F39A-8F4061296DF8}"/>
              </a:ext>
            </a:extLst>
          </p:cNvPr>
          <p:cNvSpPr>
            <a:spLocks noGrp="1"/>
          </p:cNvSpPr>
          <p:nvPr>
            <p:ph idx="1"/>
          </p:nvPr>
        </p:nvSpPr>
        <p:spPr>
          <a:xfrm>
            <a:off x="345988" y="216243"/>
            <a:ext cx="11763633" cy="6567616"/>
          </a:xfrm>
        </p:spPr>
        <p:txBody>
          <a:bodyPr>
            <a:normAutofit fontScale="25000" lnSpcReduction="20000"/>
          </a:bodyPr>
          <a:lstStyle/>
          <a:p>
            <a:pPr marL="0" indent="0">
              <a:buNone/>
            </a:pPr>
            <a:r>
              <a:rPr lang="en-US" sz="5600" dirty="0"/>
              <a:t>class </a:t>
            </a:r>
            <a:r>
              <a:rPr lang="en-US" sz="5600" dirty="0" err="1"/>
              <a:t>EyeNet</a:t>
            </a:r>
            <a:r>
              <a:rPr lang="en-US" sz="5600" dirty="0"/>
              <a:t>(</a:t>
            </a:r>
            <a:r>
              <a:rPr lang="en-US" sz="5600" dirty="0" err="1"/>
              <a:t>nn.Module</a:t>
            </a:r>
            <a:r>
              <a:rPr lang="en-US" sz="5600" dirty="0"/>
              <a:t>):</a:t>
            </a:r>
          </a:p>
          <a:p>
            <a:pPr marL="0" indent="0">
              <a:buNone/>
            </a:pPr>
            <a:r>
              <a:rPr lang="en-US" sz="5600" dirty="0"/>
              <a:t>	def __</a:t>
            </a:r>
            <a:r>
              <a:rPr lang="en-US" sz="5600" dirty="0" err="1"/>
              <a:t>init</a:t>
            </a:r>
            <a:r>
              <a:rPr lang="en-US" sz="5600" dirty="0"/>
              <a:t>__(self): 	</a:t>
            </a:r>
          </a:p>
          <a:p>
            <a:pPr marL="0" indent="0">
              <a:buNone/>
            </a:pPr>
            <a:r>
              <a:rPr lang="en-US" sz="5600" dirty="0"/>
              <a:t>        		super(</a:t>
            </a:r>
            <a:r>
              <a:rPr lang="en-US" sz="5600" dirty="0" err="1"/>
              <a:t>EyeNet</a:t>
            </a:r>
            <a:r>
              <a:rPr lang="en-US" sz="5600" dirty="0"/>
              <a:t>, self).__</a:t>
            </a:r>
            <a:r>
              <a:rPr lang="en-US" sz="5600" dirty="0" err="1"/>
              <a:t>init</a:t>
            </a:r>
            <a:r>
              <a:rPr lang="en-US" sz="5600" dirty="0"/>
              <a:t>__()</a:t>
            </a:r>
          </a:p>
          <a:p>
            <a:pPr marL="0" indent="0">
              <a:buNone/>
            </a:pPr>
            <a:r>
              <a:rPr lang="en-US" sz="5600" dirty="0"/>
              <a:t>		</a:t>
            </a:r>
            <a:r>
              <a:rPr lang="en-US" sz="5600" dirty="0" err="1"/>
              <a:t>self.convolve</a:t>
            </a:r>
            <a:r>
              <a:rPr lang="en-US" sz="5600" dirty="0"/>
              <a:t> = nn.Conv2d(</a:t>
            </a:r>
            <a:r>
              <a:rPr lang="en-US" sz="5600" dirty="0" err="1"/>
              <a:t>in_channels</a:t>
            </a:r>
            <a:r>
              <a:rPr lang="en-US" sz="5600" dirty="0"/>
              <a:t>=1, </a:t>
            </a:r>
            <a:r>
              <a:rPr lang="en-US" sz="5600" dirty="0" err="1"/>
              <a:t>out_channels</a:t>
            </a:r>
            <a:r>
              <a:rPr lang="en-US" sz="5600" dirty="0"/>
              <a:t>=6, </a:t>
            </a:r>
            <a:r>
              <a:rPr lang="en-US" sz="5600" dirty="0" err="1"/>
              <a:t>kernel_size</a:t>
            </a:r>
            <a:r>
              <a:rPr lang="en-US" sz="5600" dirty="0"/>
              <a:t>=5) # introduces 1*6*5*5 + 6 parameters</a:t>
            </a:r>
          </a:p>
          <a:p>
            <a:pPr marL="0" indent="0">
              <a:buNone/>
            </a:pPr>
            <a:r>
              <a:rPr lang="en-US" sz="5600" dirty="0"/>
              <a:t>		self.convolve2 = nn.Conv2d(</a:t>
            </a:r>
            <a:r>
              <a:rPr lang="en-US" sz="5600" dirty="0" err="1"/>
              <a:t>in_channels</a:t>
            </a:r>
            <a:r>
              <a:rPr lang="en-US" sz="5600" dirty="0"/>
              <a:t>=6, </a:t>
            </a:r>
            <a:r>
              <a:rPr lang="en-US" sz="5600" dirty="0" err="1"/>
              <a:t>out_channels</a:t>
            </a:r>
            <a:r>
              <a:rPr lang="en-US" sz="5600" dirty="0"/>
              <a:t>=16, </a:t>
            </a:r>
            <a:r>
              <a:rPr lang="en-US" sz="5600" dirty="0" err="1"/>
              <a:t>kernel_size</a:t>
            </a:r>
            <a:r>
              <a:rPr lang="en-US" sz="5600" dirty="0"/>
              <a:t>=5) # introduces 6*16*5*5 + 16 parameters</a:t>
            </a:r>
          </a:p>
          <a:p>
            <a:pPr marL="0" indent="0">
              <a:buNone/>
            </a:pPr>
            <a:r>
              <a:rPr lang="en-US" sz="5600" dirty="0"/>
              <a:t>		self.pool = nn.MaxPool2d(</a:t>
            </a:r>
            <a:r>
              <a:rPr lang="en-US" sz="5600" dirty="0" err="1"/>
              <a:t>kernel_size</a:t>
            </a:r>
            <a:r>
              <a:rPr lang="en-US" sz="5600" dirty="0"/>
              <a:t>=2, stride=2)</a:t>
            </a:r>
          </a:p>
          <a:p>
            <a:pPr marL="0" indent="0">
              <a:buNone/>
            </a:pPr>
            <a:r>
              <a:rPr lang="en-US" sz="5600" dirty="0"/>
              <a:t>		</a:t>
            </a:r>
            <a:r>
              <a:rPr lang="en-US" sz="5600" dirty="0" err="1"/>
              <a:t>self.dense</a:t>
            </a:r>
            <a:r>
              <a:rPr lang="en-US" sz="5600" dirty="0"/>
              <a:t> = </a:t>
            </a:r>
            <a:r>
              <a:rPr lang="en-US" sz="5600" dirty="0" err="1"/>
              <a:t>nn.Linear</a:t>
            </a:r>
            <a:r>
              <a:rPr lang="en-US" sz="5600" dirty="0"/>
              <a:t>(16 * 61 * 61, 120) # introduces 16*61*61*120 + 120 parameters</a:t>
            </a:r>
          </a:p>
          <a:p>
            <a:pPr marL="0" indent="0">
              <a:buNone/>
            </a:pPr>
            <a:r>
              <a:rPr lang="en-US" sz="5600" dirty="0"/>
              <a:t>		self.dense2 = </a:t>
            </a:r>
            <a:r>
              <a:rPr lang="en-US" sz="5600" dirty="0" err="1"/>
              <a:t>nn.Linear</a:t>
            </a:r>
            <a:r>
              <a:rPr lang="en-US" sz="5600" dirty="0"/>
              <a:t>(120, 84) # introduces 120*84 + 84 parameters</a:t>
            </a:r>
          </a:p>
          <a:p>
            <a:pPr marL="0" indent="0">
              <a:buNone/>
            </a:pPr>
            <a:r>
              <a:rPr lang="en-US" sz="5600" dirty="0"/>
              <a:t>		</a:t>
            </a:r>
            <a:r>
              <a:rPr lang="en-US" sz="5600" dirty="0" err="1"/>
              <a:t>self.dense_out</a:t>
            </a:r>
            <a:r>
              <a:rPr lang="en-US" sz="5600" dirty="0"/>
              <a:t> = </a:t>
            </a:r>
            <a:r>
              <a:rPr lang="en-US" sz="5600" dirty="0" err="1"/>
              <a:t>nn.Linear</a:t>
            </a:r>
            <a:r>
              <a:rPr lang="en-US" sz="5600" dirty="0"/>
              <a:t>(84, 4) # introduces 84*4 + 4 parameters</a:t>
            </a:r>
          </a:p>
          <a:p>
            <a:pPr marL="0" indent="0">
              <a:buNone/>
            </a:pPr>
            <a:r>
              <a:rPr lang="en-US" sz="5600" dirty="0"/>
              <a:t>	def forward(self, x):</a:t>
            </a:r>
          </a:p>
          <a:p>
            <a:pPr marL="0" indent="0">
              <a:buNone/>
            </a:pPr>
            <a:r>
              <a:rPr lang="en-US" sz="5600" dirty="0"/>
              <a:t>		x = </a:t>
            </a:r>
            <a:r>
              <a:rPr lang="en-US" sz="5600" dirty="0" err="1"/>
              <a:t>self.convolve</a:t>
            </a:r>
            <a:r>
              <a:rPr lang="en-US" sz="5600" dirty="0"/>
              <a:t>(x) # shape: (1x256x256) --&gt; (6x252x252) </a:t>
            </a:r>
          </a:p>
          <a:p>
            <a:pPr marL="0" indent="0">
              <a:buNone/>
            </a:pPr>
            <a:r>
              <a:rPr lang="en-US" sz="5600" dirty="0"/>
              <a:t>		x = F.relu(x) # shape: (6x252x252) --&gt; (6x252x252)</a:t>
            </a:r>
          </a:p>
          <a:p>
            <a:pPr marL="0" indent="0">
              <a:buNone/>
            </a:pPr>
            <a:r>
              <a:rPr lang="en-US" sz="5600" dirty="0"/>
              <a:t>		x = self.pool(x) # shape: (6x252x252) --&gt; (6x126x126)</a:t>
            </a:r>
          </a:p>
          <a:p>
            <a:pPr marL="0" indent="0">
              <a:buNone/>
            </a:pPr>
            <a:r>
              <a:rPr lang="en-US" sz="5600" dirty="0"/>
              <a:t>		x = self.convolve2(x) # shape: (6x126x126) --&gt; (16x122x122)</a:t>
            </a:r>
          </a:p>
          <a:p>
            <a:pPr marL="0" indent="0">
              <a:buNone/>
            </a:pPr>
            <a:r>
              <a:rPr lang="en-US" sz="5600" dirty="0"/>
              <a:t>		x = F.relu(x)</a:t>
            </a:r>
          </a:p>
          <a:p>
            <a:pPr marL="0" indent="0">
              <a:buNone/>
            </a:pPr>
            <a:r>
              <a:rPr lang="en-US" sz="5600" dirty="0"/>
              <a:t>		x = self.pool(x) # shape: (16x122x122) --&gt; (16x61x61)</a:t>
            </a:r>
          </a:p>
          <a:p>
            <a:pPr marL="0" indent="0">
              <a:buNone/>
            </a:pPr>
            <a:r>
              <a:rPr lang="en-US" sz="5600" dirty="0"/>
              <a:t>		x = torch.flatten(x, 1) # shape: (16x61x61) --&gt; (1x(16*61*61))</a:t>
            </a:r>
          </a:p>
          <a:p>
            <a:pPr marL="0" indent="0">
              <a:buNone/>
            </a:pPr>
            <a:r>
              <a:rPr lang="en-US" sz="5600" dirty="0"/>
              <a:t>		x = </a:t>
            </a:r>
            <a:r>
              <a:rPr lang="en-US" sz="5600" dirty="0" err="1"/>
              <a:t>self.dense</a:t>
            </a:r>
            <a:r>
              <a:rPr lang="en-US" sz="5600" dirty="0"/>
              <a:t>(x) # shape: (16*61*61) --&gt; (120)</a:t>
            </a:r>
          </a:p>
          <a:p>
            <a:pPr marL="0" indent="0">
              <a:buNone/>
            </a:pPr>
            <a:r>
              <a:rPr lang="en-US" sz="5600" dirty="0"/>
              <a:t>		x = F.relu(x)</a:t>
            </a:r>
          </a:p>
          <a:p>
            <a:pPr marL="0" indent="0">
              <a:buNone/>
            </a:pPr>
            <a:r>
              <a:rPr lang="en-US" sz="5600" dirty="0"/>
              <a:t>		x = self.dense2(x) # (120 ) -&gt; (84)</a:t>
            </a:r>
          </a:p>
          <a:p>
            <a:pPr marL="0" indent="0">
              <a:buNone/>
            </a:pPr>
            <a:r>
              <a:rPr lang="en-US" sz="5600" dirty="0"/>
              <a:t>		x = F.relu(x)</a:t>
            </a:r>
          </a:p>
          <a:p>
            <a:pPr marL="0" indent="0">
              <a:buNone/>
            </a:pPr>
            <a:r>
              <a:rPr lang="en-US" sz="5600" dirty="0"/>
              <a:t>		x = </a:t>
            </a:r>
            <a:r>
              <a:rPr lang="en-US" sz="5600" dirty="0" err="1"/>
              <a:t>self.dense_out</a:t>
            </a:r>
            <a:r>
              <a:rPr lang="en-US" sz="5600" dirty="0"/>
              <a:t>(x) # (84) -&gt; (4), outputs 4 logits (z1, z2, z3, z4).</a:t>
            </a:r>
          </a:p>
          <a:p>
            <a:pPr marL="0" indent="0">
              <a:buNone/>
            </a:pPr>
            <a:r>
              <a:rPr lang="en-US" sz="5600" dirty="0"/>
              <a:t>		return x</a:t>
            </a:r>
          </a:p>
          <a:p>
            <a:pPr marL="0" indent="0">
              <a:buNone/>
            </a:pPr>
            <a:endParaRPr lang="en-US" dirty="0"/>
          </a:p>
        </p:txBody>
      </p:sp>
    </p:spTree>
    <p:extLst>
      <p:ext uri="{BB962C8B-B14F-4D97-AF65-F5344CB8AC3E}">
        <p14:creationId xmlns:p14="http://schemas.microsoft.com/office/powerpoint/2010/main" val="23721068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D8FE2-1F21-88FA-B9BC-07DB3BA26CFA}"/>
              </a:ext>
            </a:extLst>
          </p:cNvPr>
          <p:cNvSpPr>
            <a:spLocks noGrp="1"/>
          </p:cNvSpPr>
          <p:nvPr>
            <p:ph type="title"/>
          </p:nvPr>
        </p:nvSpPr>
        <p:spPr/>
        <p:txBody>
          <a:bodyPr/>
          <a:lstStyle/>
          <a:p>
            <a:r>
              <a:rPr lang="en-US" dirty="0"/>
              <a:t>Passing in batches of images</a:t>
            </a:r>
          </a:p>
        </p:txBody>
      </p:sp>
      <p:sp>
        <p:nvSpPr>
          <p:cNvPr id="3" name="Content Placeholder 2">
            <a:extLst>
              <a:ext uri="{FF2B5EF4-FFF2-40B4-BE49-F238E27FC236}">
                <a16:creationId xmlns:a16="http://schemas.microsoft.com/office/drawing/2014/main" id="{DF9B06CE-736E-285F-901A-7D170345B8E8}"/>
              </a:ext>
            </a:extLst>
          </p:cNvPr>
          <p:cNvSpPr>
            <a:spLocks noGrp="1"/>
          </p:cNvSpPr>
          <p:nvPr>
            <p:ph idx="1"/>
          </p:nvPr>
        </p:nvSpPr>
        <p:spPr/>
        <p:txBody>
          <a:bodyPr>
            <a:normAutofit fontScale="92500" lnSpcReduction="10000"/>
          </a:bodyPr>
          <a:lstStyle/>
          <a:p>
            <a:pPr marL="0" indent="0">
              <a:buNone/>
            </a:pPr>
            <a:r>
              <a:rPr lang="en-US" dirty="0"/>
              <a:t>To speed up computations, have the model train on batches of images. To do this we set up </a:t>
            </a:r>
            <a:r>
              <a:rPr lang="en-US" dirty="0" err="1"/>
              <a:t>DataLoaders</a:t>
            </a:r>
            <a:r>
              <a:rPr lang="en-US" dirty="0"/>
              <a:t>.</a:t>
            </a:r>
          </a:p>
          <a:p>
            <a:pPr marL="0" indent="0">
              <a:buNone/>
            </a:pPr>
            <a:endParaRPr lang="en-US" dirty="0"/>
          </a:p>
          <a:p>
            <a:pPr marL="0" indent="0">
              <a:buNone/>
            </a:pPr>
            <a:r>
              <a:rPr lang="en-US" dirty="0"/>
              <a:t>from </a:t>
            </a:r>
            <a:r>
              <a:rPr lang="en-US" dirty="0" err="1"/>
              <a:t>torch.utils.data</a:t>
            </a:r>
            <a:r>
              <a:rPr lang="en-US" dirty="0"/>
              <a:t> import </a:t>
            </a:r>
            <a:r>
              <a:rPr lang="en-US" dirty="0" err="1"/>
              <a:t>DataLoader</a:t>
            </a:r>
            <a:br>
              <a:rPr lang="en-US" dirty="0"/>
            </a:br>
            <a:endParaRPr lang="en-US" dirty="0"/>
          </a:p>
          <a:p>
            <a:pPr marL="0" indent="0">
              <a:buNone/>
            </a:pPr>
            <a:r>
              <a:rPr lang="en-US" dirty="0" err="1"/>
              <a:t>train_loader</a:t>
            </a:r>
            <a:r>
              <a:rPr lang="en-US" dirty="0"/>
              <a:t> = </a:t>
            </a:r>
            <a:r>
              <a:rPr lang="en-US" dirty="0" err="1"/>
              <a:t>DataLoader</a:t>
            </a:r>
            <a:r>
              <a:rPr lang="en-US" dirty="0"/>
              <a:t>(</a:t>
            </a:r>
            <a:r>
              <a:rPr lang="en-US" dirty="0" err="1"/>
              <a:t>train_dataset</a:t>
            </a:r>
            <a:r>
              <a:rPr lang="en-US" dirty="0"/>
              <a:t>, </a:t>
            </a:r>
            <a:r>
              <a:rPr lang="en-US" dirty="0" err="1"/>
              <a:t>batch_size</a:t>
            </a:r>
            <a:r>
              <a:rPr lang="en-US" dirty="0"/>
              <a:t>=32, shuffle=True)</a:t>
            </a:r>
          </a:p>
          <a:p>
            <a:pPr marL="0" indent="0">
              <a:buNone/>
            </a:pPr>
            <a:r>
              <a:rPr lang="en-US" dirty="0" err="1"/>
              <a:t>val_loader</a:t>
            </a:r>
            <a:r>
              <a:rPr lang="en-US" dirty="0"/>
              <a:t>   =  </a:t>
            </a:r>
            <a:r>
              <a:rPr lang="en-US" dirty="0" err="1"/>
              <a:t>DataLoader</a:t>
            </a:r>
            <a:r>
              <a:rPr lang="en-US" dirty="0"/>
              <a:t>(</a:t>
            </a:r>
            <a:r>
              <a:rPr lang="en-US" dirty="0" err="1"/>
              <a:t>val_dataset</a:t>
            </a:r>
            <a:r>
              <a:rPr lang="en-US" dirty="0"/>
              <a:t>, </a:t>
            </a:r>
            <a:r>
              <a:rPr lang="en-US" dirty="0" err="1"/>
              <a:t>batch_size</a:t>
            </a:r>
            <a:r>
              <a:rPr lang="en-US" dirty="0"/>
              <a:t>=32, shuffle=False)</a:t>
            </a:r>
          </a:p>
          <a:p>
            <a:pPr marL="0" indent="0">
              <a:buNone/>
            </a:pPr>
            <a:r>
              <a:rPr lang="en-US" dirty="0" err="1"/>
              <a:t>test_loader</a:t>
            </a:r>
            <a:r>
              <a:rPr lang="en-US" dirty="0"/>
              <a:t>  = </a:t>
            </a:r>
            <a:r>
              <a:rPr lang="en-US" dirty="0" err="1"/>
              <a:t>DataLoader</a:t>
            </a:r>
            <a:r>
              <a:rPr lang="en-US" dirty="0"/>
              <a:t>(</a:t>
            </a:r>
            <a:r>
              <a:rPr lang="en-US" dirty="0" err="1"/>
              <a:t>test_dataset</a:t>
            </a:r>
            <a:r>
              <a:rPr lang="en-US" dirty="0"/>
              <a:t>, </a:t>
            </a:r>
            <a:r>
              <a:rPr lang="en-US" dirty="0" err="1"/>
              <a:t>batch_size</a:t>
            </a:r>
            <a:r>
              <a:rPr lang="en-US" dirty="0"/>
              <a:t>=32, shuffle=False)</a:t>
            </a:r>
          </a:p>
          <a:p>
            <a:pPr marL="0" indent="0">
              <a:buNone/>
            </a:pPr>
            <a:r>
              <a:rPr lang="en-US" dirty="0"/>
              <a:t>Batching introduces a batch dimension to our shape.</a:t>
            </a:r>
          </a:p>
          <a:p>
            <a:pPr marL="0" indent="0">
              <a:buNone/>
            </a:pPr>
            <a:r>
              <a:rPr lang="en-US" dirty="0"/>
              <a:t>Go from shape (batch=1 , 1, 256, 256) -&gt; (batch=32, 1, 256, 256)</a:t>
            </a:r>
          </a:p>
        </p:txBody>
      </p:sp>
    </p:spTree>
    <p:extLst>
      <p:ext uri="{BB962C8B-B14F-4D97-AF65-F5344CB8AC3E}">
        <p14:creationId xmlns:p14="http://schemas.microsoft.com/office/powerpoint/2010/main" val="372756323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5C5D9D-B9D7-10C2-ADBE-EE90D4EB15A0}"/>
              </a:ext>
            </a:extLst>
          </p:cNvPr>
          <p:cNvSpPr>
            <a:spLocks noGrp="1"/>
          </p:cNvSpPr>
          <p:nvPr>
            <p:ph type="title"/>
          </p:nvPr>
        </p:nvSpPr>
        <p:spPr/>
        <p:txBody>
          <a:bodyPr/>
          <a:lstStyle/>
          <a:p>
            <a:r>
              <a:rPr lang="en-US" dirty="0"/>
              <a:t>Loss function</a:t>
            </a:r>
          </a:p>
        </p:txBody>
      </p:sp>
      <p:sp>
        <p:nvSpPr>
          <p:cNvPr id="3" name="Content Placeholder 2">
            <a:extLst>
              <a:ext uri="{FF2B5EF4-FFF2-40B4-BE49-F238E27FC236}">
                <a16:creationId xmlns:a16="http://schemas.microsoft.com/office/drawing/2014/main" id="{98473363-DA33-E988-0B7C-2F5476D3BE85}"/>
              </a:ext>
            </a:extLst>
          </p:cNvPr>
          <p:cNvSpPr>
            <a:spLocks noGrp="1"/>
          </p:cNvSpPr>
          <p:nvPr>
            <p:ph idx="1"/>
          </p:nvPr>
        </p:nvSpPr>
        <p:spPr/>
        <p:txBody>
          <a:bodyPr>
            <a:normAutofit/>
          </a:bodyPr>
          <a:lstStyle/>
          <a:p>
            <a:pPr marL="0" indent="0">
              <a:buNone/>
            </a:pPr>
            <a:r>
              <a:rPr lang="en-US" dirty="0"/>
              <a:t>Classification models must be able to output some predicted class to compare against a given training sample’s true class and ultimately predicting on unseen test samples.</a:t>
            </a:r>
          </a:p>
          <a:p>
            <a:pPr marL="0" indent="0">
              <a:buNone/>
            </a:pPr>
            <a:r>
              <a:rPr lang="en-US" dirty="0"/>
              <a:t>After the final layer in the CNN we have 4 logits, (z1, z2, z3, z4) each corresponding to classes [0, 1, 2, 3] by index.</a:t>
            </a:r>
          </a:p>
          <a:p>
            <a:pPr marL="0" indent="0">
              <a:buNone/>
            </a:pPr>
            <a:r>
              <a:rPr lang="en-US" dirty="0"/>
              <a:t>How do we associate logits with probabilities of a sample being any one class? </a:t>
            </a:r>
          </a:p>
          <a:p>
            <a:pPr marL="0" indent="0">
              <a:buNone/>
            </a:pPr>
            <a:r>
              <a:rPr lang="en-US" dirty="0"/>
              <a:t>If we do that then we can make a prediction by choosing the class with the highest probability.</a:t>
            </a:r>
          </a:p>
        </p:txBody>
      </p:sp>
    </p:spTree>
    <p:extLst>
      <p:ext uri="{BB962C8B-B14F-4D97-AF65-F5344CB8AC3E}">
        <p14:creationId xmlns:p14="http://schemas.microsoft.com/office/powerpoint/2010/main" val="204038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10D97F-2212-F3BF-1088-4B86ECED8AA7}"/>
              </a:ext>
            </a:extLst>
          </p:cNvPr>
          <p:cNvSpPr>
            <a:spLocks noGrp="1"/>
          </p:cNvSpPr>
          <p:nvPr>
            <p:ph type="title"/>
          </p:nvPr>
        </p:nvSpPr>
        <p:spPr/>
        <p:txBody>
          <a:bodyPr/>
          <a:lstStyle/>
          <a:p>
            <a:r>
              <a:rPr lang="en-US" dirty="0"/>
              <a:t>Loss function (cont.)</a:t>
            </a:r>
          </a:p>
        </p:txBody>
      </p:sp>
      <p:sp>
        <p:nvSpPr>
          <p:cNvPr id="3" name="Content Placeholder 2">
            <a:extLst>
              <a:ext uri="{FF2B5EF4-FFF2-40B4-BE49-F238E27FC236}">
                <a16:creationId xmlns:a16="http://schemas.microsoft.com/office/drawing/2014/main" id="{5AC1C81E-D6BF-D10F-5F13-834747E02CF4}"/>
              </a:ext>
            </a:extLst>
          </p:cNvPr>
          <p:cNvSpPr>
            <a:spLocks noGrp="1"/>
          </p:cNvSpPr>
          <p:nvPr>
            <p:ph idx="1"/>
          </p:nvPr>
        </p:nvSpPr>
        <p:spPr/>
        <p:txBody>
          <a:bodyPr/>
          <a:lstStyle/>
          <a:p>
            <a:pPr marL="0" indent="0">
              <a:buNone/>
            </a:pPr>
            <a:r>
              <a:rPr lang="en-US" dirty="0"/>
              <a:t>For multiple class problems we use the soft-max function on the logits.</a:t>
            </a:r>
          </a:p>
          <a:p>
            <a:pPr marL="0" indent="0">
              <a:buNone/>
            </a:pPr>
            <a:endParaRPr lang="en-US" dirty="0"/>
          </a:p>
        </p:txBody>
      </p:sp>
      <p:pic>
        <p:nvPicPr>
          <p:cNvPr id="7" name="Picture 6">
            <a:extLst>
              <a:ext uri="{FF2B5EF4-FFF2-40B4-BE49-F238E27FC236}">
                <a16:creationId xmlns:a16="http://schemas.microsoft.com/office/drawing/2014/main" id="{672E9985-1AFB-8B05-BC73-9CB0B1FABF48}"/>
              </a:ext>
            </a:extLst>
          </p:cNvPr>
          <p:cNvPicPr>
            <a:picLocks noChangeAspect="1"/>
          </p:cNvPicPr>
          <p:nvPr/>
        </p:nvPicPr>
        <p:blipFill>
          <a:blip r:embed="rId2"/>
          <a:srcRect t="16960" b="11031"/>
          <a:stretch>
            <a:fillRect/>
          </a:stretch>
        </p:blipFill>
        <p:spPr>
          <a:xfrm>
            <a:off x="3532357" y="2867020"/>
            <a:ext cx="4433233" cy="1738058"/>
          </a:xfrm>
          <a:prstGeom prst="rect">
            <a:avLst/>
          </a:prstGeom>
        </p:spPr>
      </p:pic>
      <p:sp>
        <p:nvSpPr>
          <p:cNvPr id="9" name="TextBox 8">
            <a:extLst>
              <a:ext uri="{FF2B5EF4-FFF2-40B4-BE49-F238E27FC236}">
                <a16:creationId xmlns:a16="http://schemas.microsoft.com/office/drawing/2014/main" id="{9F42FE2B-A926-E77B-02AD-085770BDCC7C}"/>
              </a:ext>
            </a:extLst>
          </p:cNvPr>
          <p:cNvSpPr txBox="1"/>
          <p:nvPr/>
        </p:nvSpPr>
        <p:spPr>
          <a:xfrm>
            <a:off x="984202" y="5465460"/>
            <a:ext cx="10369598" cy="923330"/>
          </a:xfrm>
          <a:prstGeom prst="rect">
            <a:avLst/>
          </a:prstGeom>
          <a:noFill/>
        </p:spPr>
        <p:txBody>
          <a:bodyPr wrap="square" rtlCol="0">
            <a:spAutoFit/>
          </a:bodyPr>
          <a:lstStyle/>
          <a:p>
            <a:r>
              <a:rPr lang="en-US" dirty="0"/>
              <a:t>The </a:t>
            </a:r>
            <a:r>
              <a:rPr lang="en-US" dirty="0" err="1"/>
              <a:t>softmax</a:t>
            </a:r>
            <a:r>
              <a:rPr lang="en-US" dirty="0"/>
              <a:t> activation function returns an array of transformed logits all between [0, 1] that sum to 1.</a:t>
            </a:r>
          </a:p>
          <a:p>
            <a:r>
              <a:rPr lang="en-US" dirty="0"/>
              <a:t>The transformed logits represent probabilties of the input being each class.</a:t>
            </a:r>
          </a:p>
          <a:p>
            <a:r>
              <a:rPr lang="en-US" dirty="0"/>
              <a:t>The model will predict the class based on the largest probability.</a:t>
            </a:r>
          </a:p>
        </p:txBody>
      </p:sp>
    </p:spTree>
    <p:extLst>
      <p:ext uri="{BB962C8B-B14F-4D97-AF65-F5344CB8AC3E}">
        <p14:creationId xmlns:p14="http://schemas.microsoft.com/office/powerpoint/2010/main" val="426595032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B6AA99-0EC5-B03B-9E8F-3F85988B9B50}"/>
              </a:ext>
            </a:extLst>
          </p:cNvPr>
          <p:cNvSpPr>
            <a:spLocks noGrp="1"/>
          </p:cNvSpPr>
          <p:nvPr>
            <p:ph type="title"/>
          </p:nvPr>
        </p:nvSpPr>
        <p:spPr/>
        <p:txBody>
          <a:bodyPr/>
          <a:lstStyle/>
          <a:p>
            <a:r>
              <a:rPr lang="en-US" dirty="0"/>
              <a:t>Loss function (cont.)</a:t>
            </a:r>
          </a:p>
        </p:txBody>
      </p:sp>
      <p:sp>
        <p:nvSpPr>
          <p:cNvPr id="3" name="Content Placeholder 2">
            <a:extLst>
              <a:ext uri="{FF2B5EF4-FFF2-40B4-BE49-F238E27FC236}">
                <a16:creationId xmlns:a16="http://schemas.microsoft.com/office/drawing/2014/main" id="{29EB7CBB-7986-A71F-CF8C-15A8637C9CCD}"/>
              </a:ext>
            </a:extLst>
          </p:cNvPr>
          <p:cNvSpPr>
            <a:spLocks noGrp="1"/>
          </p:cNvSpPr>
          <p:nvPr>
            <p:ph idx="1"/>
          </p:nvPr>
        </p:nvSpPr>
        <p:spPr/>
        <p:txBody>
          <a:bodyPr>
            <a:normAutofit fontScale="92500" lnSpcReduction="10000"/>
          </a:bodyPr>
          <a:lstStyle/>
          <a:p>
            <a:pPr marL="0" indent="0">
              <a:buNone/>
            </a:pPr>
            <a:r>
              <a:rPr lang="en-US" dirty="0"/>
              <a:t>The loss/cost function measures how well the predicted logits match the true class labels.</a:t>
            </a:r>
          </a:p>
          <a:p>
            <a:pPr marL="0" indent="0">
              <a:buNone/>
            </a:pPr>
            <a:r>
              <a:rPr lang="en-US" dirty="0"/>
              <a:t>For classification, we use the cross-entropy loss, which compares the predicted probability of the correct class to the true label.</a:t>
            </a:r>
          </a:p>
          <a:p>
            <a:pPr marL="0" indent="0">
              <a:buNone/>
            </a:pPr>
            <a:r>
              <a:rPr lang="en-US" dirty="0"/>
              <a:t>It penalizes the model when the probability assigned to the correct class is low, and encourages the model to assign higher probability to the correct class. (Like a scorer for the model)</a:t>
            </a:r>
          </a:p>
          <a:p>
            <a:pPr marL="0" indent="0">
              <a:buNone/>
            </a:pPr>
            <a:r>
              <a:rPr lang="en-US" dirty="0"/>
              <a:t>We use </a:t>
            </a:r>
            <a:r>
              <a:rPr lang="en-US" dirty="0" err="1"/>
              <a:t>CrossEntropyLoss</a:t>
            </a:r>
            <a:r>
              <a:rPr lang="en-US" dirty="0"/>
              <a:t>() from </a:t>
            </a:r>
            <a:r>
              <a:rPr lang="en-US" dirty="0" err="1"/>
              <a:t>PyTorch</a:t>
            </a:r>
            <a:r>
              <a:rPr lang="en-US" dirty="0"/>
              <a:t>.</a:t>
            </a:r>
          </a:p>
          <a:p>
            <a:pPr marL="0" indent="0">
              <a:buNone/>
            </a:pPr>
            <a:r>
              <a:rPr lang="en-US" dirty="0"/>
              <a:t>Read more on the loss function in </a:t>
            </a:r>
            <a:r>
              <a:rPr lang="en-US" dirty="0" err="1"/>
              <a:t>PyTorch</a:t>
            </a:r>
            <a:r>
              <a:rPr lang="en-US" dirty="0"/>
              <a:t>: https://docs.pytorch.org/docs/stable/generated/torch.nn.CrossEntropyLoss.html#torch.nn.CrossEntropyLoss</a:t>
            </a:r>
          </a:p>
          <a:p>
            <a:pPr marL="0" indent="0">
              <a:buNone/>
            </a:pPr>
            <a:endParaRPr lang="en-US" dirty="0"/>
          </a:p>
        </p:txBody>
      </p:sp>
    </p:spTree>
    <p:extLst>
      <p:ext uri="{BB962C8B-B14F-4D97-AF65-F5344CB8AC3E}">
        <p14:creationId xmlns:p14="http://schemas.microsoft.com/office/powerpoint/2010/main" val="257449925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5EF953-990D-40FC-5BD0-0A78CA5B757F}"/>
              </a:ext>
            </a:extLst>
          </p:cNvPr>
          <p:cNvSpPr>
            <a:spLocks noGrp="1"/>
          </p:cNvSpPr>
          <p:nvPr>
            <p:ph type="title"/>
          </p:nvPr>
        </p:nvSpPr>
        <p:spPr/>
        <p:txBody>
          <a:bodyPr/>
          <a:lstStyle/>
          <a:p>
            <a:r>
              <a:rPr lang="en-US" dirty="0"/>
              <a:t>Batching and the loss function</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4450EEB2-7608-AD35-BC14-F2DE6DC4DA38}"/>
                  </a:ext>
                </a:extLst>
              </p:cNvPr>
              <p:cNvSpPr>
                <a:spLocks noGrp="1"/>
              </p:cNvSpPr>
              <p:nvPr>
                <p:ph idx="1"/>
              </p:nvPr>
            </p:nvSpPr>
            <p:spPr/>
            <p:txBody>
              <a:bodyPr/>
              <a:lstStyle/>
              <a:p>
                <a:pPr marL="0" indent="0">
                  <a:buNone/>
                </a:pPr>
                <a:r>
                  <a:rPr lang="en-US" dirty="0"/>
                  <a:t>During training, the model processes a batch of </a:t>
                </a:r>
                <a14:m>
                  <m:oMath xmlns:m="http://schemas.openxmlformats.org/officeDocument/2006/math">
                    <m:r>
                      <a:rPr lang="en-US" i="1"/>
                      <m:t>𝐵</m:t>
                    </m:r>
                  </m:oMath>
                </a14:m>
                <a:r>
                  <a:rPr lang="en-US" dirty="0"/>
                  <a:t>samples.</a:t>
                </a:r>
                <a:br>
                  <a:rPr lang="en-US" dirty="0"/>
                </a:br>
                <a:r>
                  <a:rPr lang="en-US" dirty="0"/>
                  <a:t>The loss function computes an individual loss for each sample.</a:t>
                </a:r>
              </a:p>
              <a:p>
                <a:pPr marL="0" indent="0">
                  <a:buNone/>
                </a:pPr>
                <a:br>
                  <a:rPr lang="en-US" dirty="0"/>
                </a:br>
                <a:r>
                  <a:rPr lang="en-US" dirty="0"/>
                  <a:t>By default, </a:t>
                </a:r>
                <a:r>
                  <a:rPr lang="en-US" dirty="0" err="1"/>
                  <a:t>PyTorch</a:t>
                </a:r>
                <a:r>
                  <a:rPr lang="en-US" dirty="0"/>
                  <a:t> averages these losses to produce a single scalar loss used for backpropagation.</a:t>
                </a:r>
              </a:p>
            </p:txBody>
          </p:sp>
        </mc:Choice>
        <mc:Fallback>
          <p:sp>
            <p:nvSpPr>
              <p:cNvPr id="3" name="Content Placeholder 2">
                <a:extLst>
                  <a:ext uri="{FF2B5EF4-FFF2-40B4-BE49-F238E27FC236}">
                    <a16:creationId xmlns:a16="http://schemas.microsoft.com/office/drawing/2014/main" id="{4450EEB2-7608-AD35-BC14-F2DE6DC4DA38}"/>
                  </a:ext>
                </a:extLst>
              </p:cNvPr>
              <p:cNvSpPr>
                <a:spLocks noGrp="1" noRot="1" noChangeAspect="1" noMove="1" noResize="1" noEditPoints="1" noAdjustHandles="1" noChangeArrowheads="1" noChangeShapeType="1" noTextEdit="1"/>
              </p:cNvSpPr>
              <p:nvPr>
                <p:ph idx="1"/>
              </p:nvPr>
            </p:nvSpPr>
            <p:spPr>
              <a:blipFill>
                <a:blip r:embed="rId2"/>
                <a:stretch>
                  <a:fillRect l="-1217" t="-2241" r="-1449"/>
                </a:stretch>
              </a:blipFill>
            </p:spPr>
            <p:txBody>
              <a:bodyPr/>
              <a:lstStyle/>
              <a:p>
                <a:r>
                  <a:rPr lang="en-US">
                    <a:noFill/>
                  </a:rPr>
                  <a:t> </a:t>
                </a:r>
              </a:p>
            </p:txBody>
          </p:sp>
        </mc:Fallback>
      </mc:AlternateContent>
    </p:spTree>
    <p:extLst>
      <p:ext uri="{BB962C8B-B14F-4D97-AF65-F5344CB8AC3E}">
        <p14:creationId xmlns:p14="http://schemas.microsoft.com/office/powerpoint/2010/main" val="49334292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17A159-4147-3954-5275-9F426299FE5E}"/>
              </a:ext>
            </a:extLst>
          </p:cNvPr>
          <p:cNvSpPr>
            <a:spLocks noGrp="1"/>
          </p:cNvSpPr>
          <p:nvPr>
            <p:ph type="title"/>
          </p:nvPr>
        </p:nvSpPr>
        <p:spPr/>
        <p:txBody>
          <a:bodyPr/>
          <a:lstStyle/>
          <a:p>
            <a:r>
              <a:rPr lang="en-US" dirty="0"/>
              <a:t>Optimizing parameters</a:t>
            </a:r>
          </a:p>
        </p:txBody>
      </p:sp>
      <p:sp>
        <p:nvSpPr>
          <p:cNvPr id="3" name="Content Placeholder 2">
            <a:extLst>
              <a:ext uri="{FF2B5EF4-FFF2-40B4-BE49-F238E27FC236}">
                <a16:creationId xmlns:a16="http://schemas.microsoft.com/office/drawing/2014/main" id="{16C0AA31-5A98-A60E-95B7-37A940230507}"/>
              </a:ext>
            </a:extLst>
          </p:cNvPr>
          <p:cNvSpPr>
            <a:spLocks noGrp="1"/>
          </p:cNvSpPr>
          <p:nvPr>
            <p:ph idx="1"/>
          </p:nvPr>
        </p:nvSpPr>
        <p:spPr/>
        <p:txBody>
          <a:bodyPr>
            <a:normAutofit fontScale="92500" lnSpcReduction="10000"/>
          </a:bodyPr>
          <a:lstStyle/>
          <a:p>
            <a:pPr marL="0" indent="0">
              <a:buNone/>
            </a:pPr>
            <a:r>
              <a:rPr lang="en-US" dirty="0"/>
              <a:t>The loss function depends on the model parameters interacting with the training data. The goal of training is to choose parameter values that minimize the loss function.</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r>
              <a:rPr lang="en-US" dirty="0"/>
              <a:t>The gradient descent algorithm is performed with the optimizer solver.</a:t>
            </a:r>
          </a:p>
          <a:p>
            <a:pPr marL="0" indent="0">
              <a:buNone/>
            </a:pPr>
            <a:r>
              <a:rPr lang="en-US" dirty="0"/>
              <a:t>Read more on gradient descent in </a:t>
            </a:r>
            <a:r>
              <a:rPr lang="en-US" dirty="0" err="1"/>
              <a:t>PyTorch</a:t>
            </a:r>
            <a:r>
              <a:rPr lang="en-US" dirty="0"/>
              <a:t>: https://docs.pytorch.org/docs/stable/generated/torch.optim.SGD.html#torch.optim.SGD.step</a:t>
            </a:r>
          </a:p>
        </p:txBody>
      </p:sp>
      <p:pic>
        <p:nvPicPr>
          <p:cNvPr id="2054" name="Picture 6">
            <a:extLst>
              <a:ext uri="{FF2B5EF4-FFF2-40B4-BE49-F238E27FC236}">
                <a16:creationId xmlns:a16="http://schemas.microsoft.com/office/drawing/2014/main" id="{CF5F13A7-186C-A74A-0052-46D939A02BD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534" t="8375" r="15068" b="2074"/>
          <a:stretch>
            <a:fillRect/>
          </a:stretch>
        </p:blipFill>
        <p:spPr bwMode="auto">
          <a:xfrm>
            <a:off x="4572000" y="2747275"/>
            <a:ext cx="1940011" cy="17938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2686603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49CC1A-7E1B-A25A-3520-BCB3184D2DEE}"/>
              </a:ext>
            </a:extLst>
          </p:cNvPr>
          <p:cNvSpPr>
            <a:spLocks noGrp="1"/>
          </p:cNvSpPr>
          <p:nvPr>
            <p:ph type="title"/>
          </p:nvPr>
        </p:nvSpPr>
        <p:spPr/>
        <p:txBody>
          <a:bodyPr/>
          <a:lstStyle/>
          <a:p>
            <a:r>
              <a:rPr lang="en-US" dirty="0"/>
              <a:t>How many parameters in our model so far?</a:t>
            </a:r>
          </a:p>
        </p:txBody>
      </p:sp>
      <p:sp>
        <p:nvSpPr>
          <p:cNvPr id="3" name="Content Placeholder 2">
            <a:extLst>
              <a:ext uri="{FF2B5EF4-FFF2-40B4-BE49-F238E27FC236}">
                <a16:creationId xmlns:a16="http://schemas.microsoft.com/office/drawing/2014/main" id="{0076D724-12EA-2285-B488-2CD1E2C3B0C9}"/>
              </a:ext>
            </a:extLst>
          </p:cNvPr>
          <p:cNvSpPr>
            <a:spLocks noGrp="1"/>
          </p:cNvSpPr>
          <p:nvPr>
            <p:ph idx="1"/>
          </p:nvPr>
        </p:nvSpPr>
        <p:spPr/>
        <p:txBody>
          <a:bodyPr>
            <a:normAutofit fontScale="92500" lnSpcReduction="20000"/>
          </a:bodyPr>
          <a:lstStyle/>
          <a:p>
            <a:pPr marL="0" indent="0">
              <a:buNone/>
            </a:pPr>
            <a:r>
              <a:rPr lang="en-US" dirty="0" err="1"/>
              <a:t>self.convolve</a:t>
            </a:r>
            <a:r>
              <a:rPr lang="en-US" dirty="0"/>
              <a:t> = nn.Conv2d(</a:t>
            </a:r>
            <a:r>
              <a:rPr lang="en-US" dirty="0" err="1"/>
              <a:t>in_channels</a:t>
            </a:r>
            <a:r>
              <a:rPr lang="en-US" dirty="0"/>
              <a:t>=1, </a:t>
            </a:r>
            <a:r>
              <a:rPr lang="en-US" dirty="0" err="1"/>
              <a:t>out_channels</a:t>
            </a:r>
            <a:r>
              <a:rPr lang="en-US" dirty="0"/>
              <a:t>=6, </a:t>
            </a:r>
            <a:r>
              <a:rPr lang="en-US" dirty="0" err="1"/>
              <a:t>kernel_size</a:t>
            </a:r>
            <a:r>
              <a:rPr lang="en-US" dirty="0"/>
              <a:t>=5) # introduces 1*6*5*5 + 6 parameters</a:t>
            </a:r>
          </a:p>
          <a:p>
            <a:pPr marL="0" indent="0">
              <a:buNone/>
            </a:pPr>
            <a:r>
              <a:rPr lang="en-US" dirty="0"/>
              <a:t>self.convolve2 = nn.Conv2d(</a:t>
            </a:r>
            <a:r>
              <a:rPr lang="en-US" dirty="0" err="1"/>
              <a:t>in_channels</a:t>
            </a:r>
            <a:r>
              <a:rPr lang="en-US" dirty="0"/>
              <a:t>=6, </a:t>
            </a:r>
            <a:r>
              <a:rPr lang="en-US" dirty="0" err="1"/>
              <a:t>out_channels</a:t>
            </a:r>
            <a:r>
              <a:rPr lang="en-US" dirty="0"/>
              <a:t>=16, </a:t>
            </a:r>
            <a:r>
              <a:rPr lang="en-US" dirty="0" err="1"/>
              <a:t>kernel_size</a:t>
            </a:r>
            <a:r>
              <a:rPr lang="en-US" dirty="0"/>
              <a:t>=5) # 6*16*5*5 + 16 parameters</a:t>
            </a:r>
          </a:p>
          <a:p>
            <a:pPr marL="0" indent="0">
              <a:buNone/>
            </a:pPr>
            <a:r>
              <a:rPr lang="en-US" dirty="0" err="1"/>
              <a:t>self.dense</a:t>
            </a:r>
            <a:r>
              <a:rPr lang="en-US" dirty="0"/>
              <a:t> = </a:t>
            </a:r>
            <a:r>
              <a:rPr lang="en-US" dirty="0" err="1"/>
              <a:t>nn.Linear</a:t>
            </a:r>
            <a:r>
              <a:rPr lang="en-US" dirty="0"/>
              <a:t>(16 * 61 * 61, 120) </a:t>
            </a:r>
          </a:p>
          <a:p>
            <a:pPr marL="0" indent="0">
              <a:buNone/>
            </a:pPr>
            <a:r>
              <a:rPr lang="en-US" dirty="0"/>
              <a:t># 16*61*61*120 + 120 parameters</a:t>
            </a:r>
          </a:p>
          <a:p>
            <a:pPr marL="0" indent="0">
              <a:buNone/>
            </a:pPr>
            <a:r>
              <a:rPr lang="en-US" dirty="0"/>
              <a:t>self.dense2 = </a:t>
            </a:r>
            <a:r>
              <a:rPr lang="en-US" dirty="0" err="1"/>
              <a:t>nn.Linear</a:t>
            </a:r>
            <a:r>
              <a:rPr lang="en-US" dirty="0"/>
              <a:t>(120, 84)</a:t>
            </a:r>
          </a:p>
          <a:p>
            <a:pPr marL="0" indent="0">
              <a:buNone/>
            </a:pPr>
            <a:r>
              <a:rPr lang="en-US" dirty="0"/>
              <a:t># 120*84 + 84 parameters</a:t>
            </a:r>
          </a:p>
          <a:p>
            <a:pPr marL="0" indent="0">
              <a:buNone/>
            </a:pPr>
            <a:r>
              <a:rPr lang="en-US" dirty="0" err="1"/>
              <a:t>self.dense_out</a:t>
            </a:r>
            <a:r>
              <a:rPr lang="en-US" dirty="0"/>
              <a:t> = </a:t>
            </a:r>
            <a:r>
              <a:rPr lang="en-US" dirty="0" err="1"/>
              <a:t>nn.Linear</a:t>
            </a:r>
            <a:r>
              <a:rPr lang="en-US" dirty="0"/>
              <a:t>(84, 4)</a:t>
            </a:r>
          </a:p>
          <a:p>
            <a:pPr marL="0" indent="0">
              <a:buNone/>
            </a:pPr>
            <a:r>
              <a:rPr lang="en-US" dirty="0"/>
              <a:t># 84*4 + 4 parameters			</a:t>
            </a:r>
          </a:p>
          <a:p>
            <a:pPr marL="0" indent="0">
              <a:buNone/>
            </a:pPr>
            <a:r>
              <a:rPr lang="en-US" dirty="0"/>
              <a:t># </a:t>
            </a:r>
            <a:r>
              <a:rPr lang="en-US" dirty="0" err="1"/>
              <a:t>total_params</a:t>
            </a:r>
            <a:r>
              <a:rPr lang="en-US" dirty="0"/>
              <a:t> = 156 + 2416 + 7144440 + 10164 + 340 = 7157516</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312187338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098B42-4A87-68CE-3E4D-E27FD5669A23}"/>
              </a:ext>
            </a:extLst>
          </p:cNvPr>
          <p:cNvSpPr>
            <a:spLocks noGrp="1"/>
          </p:cNvSpPr>
          <p:nvPr>
            <p:ph type="title"/>
          </p:nvPr>
        </p:nvSpPr>
        <p:spPr/>
        <p:txBody>
          <a:bodyPr/>
          <a:lstStyle/>
          <a:p>
            <a:r>
              <a:rPr lang="en-US" dirty="0"/>
              <a:t>Define loss function and optimizer</a:t>
            </a:r>
          </a:p>
        </p:txBody>
      </p:sp>
      <p:sp>
        <p:nvSpPr>
          <p:cNvPr id="3" name="Content Placeholder 2">
            <a:extLst>
              <a:ext uri="{FF2B5EF4-FFF2-40B4-BE49-F238E27FC236}">
                <a16:creationId xmlns:a16="http://schemas.microsoft.com/office/drawing/2014/main" id="{9B6B1A94-2BE6-A8FB-415D-57DDD3B13678}"/>
              </a:ext>
            </a:extLst>
          </p:cNvPr>
          <p:cNvSpPr>
            <a:spLocks noGrp="1"/>
          </p:cNvSpPr>
          <p:nvPr>
            <p:ph idx="1"/>
          </p:nvPr>
        </p:nvSpPr>
        <p:spPr/>
        <p:txBody>
          <a:bodyPr>
            <a:normAutofit/>
          </a:bodyPr>
          <a:lstStyle/>
          <a:p>
            <a:pPr marL="0" indent="0">
              <a:buNone/>
            </a:pPr>
            <a:endParaRPr lang="en-US" sz="2400" dirty="0"/>
          </a:p>
          <a:p>
            <a:pPr marL="0" indent="0">
              <a:buNone/>
            </a:pPr>
            <a:r>
              <a:rPr lang="en-US" sz="2400" dirty="0"/>
              <a:t>import </a:t>
            </a:r>
            <a:r>
              <a:rPr lang="en-US" sz="2400" dirty="0" err="1"/>
              <a:t>torch.optim</a:t>
            </a:r>
            <a:r>
              <a:rPr lang="en-US" sz="2400" dirty="0"/>
              <a:t> as </a:t>
            </a:r>
            <a:r>
              <a:rPr lang="en-US" sz="2400" dirty="0" err="1"/>
              <a:t>optim</a:t>
            </a:r>
            <a:endParaRPr lang="en-US" sz="2400" dirty="0"/>
          </a:p>
          <a:p>
            <a:pPr marL="0" indent="0">
              <a:buNone/>
            </a:pPr>
            <a:endParaRPr lang="en-US" sz="2400" dirty="0"/>
          </a:p>
          <a:p>
            <a:pPr marL="0" indent="0">
              <a:buNone/>
            </a:pPr>
            <a:r>
              <a:rPr lang="en-US" sz="2400" dirty="0"/>
              <a:t># Define loss function and optimizer for the backwards pass</a:t>
            </a:r>
          </a:p>
          <a:p>
            <a:pPr marL="0" indent="0">
              <a:buNone/>
            </a:pPr>
            <a:r>
              <a:rPr lang="en-US" sz="2400" dirty="0"/>
              <a:t>criterion = </a:t>
            </a:r>
            <a:r>
              <a:rPr lang="en-US" sz="2400" dirty="0" err="1"/>
              <a:t>nn.CrossEntropyLoss</a:t>
            </a:r>
            <a:r>
              <a:rPr lang="en-US" sz="2400" dirty="0"/>
              <a:t>() # loss function which applies </a:t>
            </a:r>
            <a:r>
              <a:rPr lang="en-US" sz="2400" dirty="0" err="1"/>
              <a:t>softmax</a:t>
            </a:r>
            <a:r>
              <a:rPr lang="en-US" sz="2400" dirty="0"/>
              <a:t> internally</a:t>
            </a:r>
          </a:p>
          <a:p>
            <a:pPr marL="0" indent="0">
              <a:buNone/>
            </a:pPr>
            <a:r>
              <a:rPr lang="en-US" sz="2400" dirty="0"/>
              <a:t># We will use SGD with momentum to optimize parameters</a:t>
            </a:r>
          </a:p>
          <a:p>
            <a:pPr marL="0" indent="0">
              <a:buNone/>
            </a:pPr>
            <a:r>
              <a:rPr lang="en-US" sz="2400" dirty="0"/>
              <a:t>optimizer = </a:t>
            </a:r>
            <a:r>
              <a:rPr lang="en-US" sz="2400" dirty="0" err="1"/>
              <a:t>optim.SGD</a:t>
            </a:r>
            <a:r>
              <a:rPr lang="en-US" sz="2400" dirty="0"/>
              <a:t>(</a:t>
            </a:r>
            <a:r>
              <a:rPr lang="en-US" sz="2400" dirty="0" err="1"/>
              <a:t>eyenet.parameters</a:t>
            </a:r>
            <a:r>
              <a:rPr lang="en-US" sz="2400" dirty="0"/>
              <a:t>(), </a:t>
            </a:r>
            <a:r>
              <a:rPr lang="en-US" sz="2400" dirty="0" err="1"/>
              <a:t>lr</a:t>
            </a:r>
            <a:r>
              <a:rPr lang="en-US" sz="2400" dirty="0"/>
              <a:t> = 0.001, momentum = 0.9)</a:t>
            </a:r>
          </a:p>
        </p:txBody>
      </p:sp>
    </p:spTree>
    <p:extLst>
      <p:ext uri="{BB962C8B-B14F-4D97-AF65-F5344CB8AC3E}">
        <p14:creationId xmlns:p14="http://schemas.microsoft.com/office/powerpoint/2010/main" val="428823196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61B28C-1DCE-5240-6566-A2BBAC184678}"/>
              </a:ext>
            </a:extLst>
          </p:cNvPr>
          <p:cNvSpPr>
            <a:spLocks noGrp="1"/>
          </p:cNvSpPr>
          <p:nvPr>
            <p:ph type="title"/>
          </p:nvPr>
        </p:nvSpPr>
        <p:spPr>
          <a:xfrm>
            <a:off x="687836" y="272892"/>
            <a:ext cx="10515600" cy="1325563"/>
          </a:xfrm>
        </p:spPr>
        <p:txBody>
          <a:bodyPr/>
          <a:lstStyle/>
          <a:p>
            <a:r>
              <a:rPr lang="en-US" dirty="0"/>
              <a:t>Training loop</a:t>
            </a:r>
          </a:p>
        </p:txBody>
      </p:sp>
      <p:sp>
        <p:nvSpPr>
          <p:cNvPr id="3" name="Content Placeholder 2">
            <a:extLst>
              <a:ext uri="{FF2B5EF4-FFF2-40B4-BE49-F238E27FC236}">
                <a16:creationId xmlns:a16="http://schemas.microsoft.com/office/drawing/2014/main" id="{25222890-9EBF-9AF6-297B-9A2677A58963}"/>
              </a:ext>
            </a:extLst>
          </p:cNvPr>
          <p:cNvSpPr>
            <a:spLocks noGrp="1"/>
          </p:cNvSpPr>
          <p:nvPr>
            <p:ph idx="1"/>
          </p:nvPr>
        </p:nvSpPr>
        <p:spPr>
          <a:xfrm>
            <a:off x="687836" y="1598455"/>
            <a:ext cx="10816328" cy="4955436"/>
          </a:xfrm>
        </p:spPr>
        <p:txBody>
          <a:bodyPr>
            <a:normAutofit fontScale="85000" lnSpcReduction="10000"/>
          </a:bodyPr>
          <a:lstStyle/>
          <a:p>
            <a:pPr marL="0" indent="0">
              <a:buNone/>
            </a:pPr>
            <a:r>
              <a:rPr lang="en-US" sz="2400" dirty="0" err="1"/>
              <a:t>eyenet</a:t>
            </a:r>
            <a:r>
              <a:rPr lang="en-US" sz="2400" dirty="0"/>
              <a:t> = </a:t>
            </a:r>
            <a:r>
              <a:rPr lang="en-US" sz="2400" dirty="0" err="1"/>
              <a:t>EyeNet</a:t>
            </a:r>
            <a:r>
              <a:rPr lang="en-US" sz="2400" dirty="0"/>
              <a:t>()</a:t>
            </a:r>
          </a:p>
          <a:p>
            <a:pPr marL="0" indent="0">
              <a:buNone/>
            </a:pPr>
            <a:r>
              <a:rPr lang="en-US" sz="2400" dirty="0" err="1"/>
              <a:t>running_loss</a:t>
            </a:r>
            <a:r>
              <a:rPr lang="en-US" sz="2400" dirty="0"/>
              <a:t> = 0.0</a:t>
            </a:r>
          </a:p>
          <a:p>
            <a:pPr marL="0" indent="0">
              <a:buNone/>
            </a:pPr>
            <a:r>
              <a:rPr lang="en-US" sz="2400" dirty="0"/>
              <a:t>	for </a:t>
            </a:r>
            <a:r>
              <a:rPr lang="en-US" sz="2400" dirty="0" err="1"/>
              <a:t>i</a:t>
            </a:r>
            <a:r>
              <a:rPr lang="en-US" sz="2400" dirty="0"/>
              <a:t>, data in enumerate(</a:t>
            </a:r>
            <a:r>
              <a:rPr lang="en-US" sz="2400" dirty="0" err="1"/>
              <a:t>train_loader</a:t>
            </a:r>
            <a:r>
              <a:rPr lang="en-US" sz="2400" dirty="0"/>
              <a:t>, 0): # Iterate over all batches in loader.</a:t>
            </a:r>
          </a:p>
          <a:p>
            <a:pPr marL="0" indent="0">
              <a:buNone/>
            </a:pPr>
            <a:r>
              <a:rPr lang="en-US" sz="2400" dirty="0"/>
              <a:t>		inputs, labels = data # Assign each batch to the inputs and their respective labels.</a:t>
            </a:r>
          </a:p>
          <a:p>
            <a:pPr marL="0" indent="0">
              <a:buNone/>
            </a:pPr>
            <a:r>
              <a:rPr lang="en-US" sz="2400" dirty="0"/>
              <a:t>		</a:t>
            </a:r>
            <a:r>
              <a:rPr lang="en-US" sz="2400" dirty="0" err="1"/>
              <a:t>optimizer.zero_grad</a:t>
            </a:r>
            <a:r>
              <a:rPr lang="en-US" sz="2400" dirty="0"/>
              <a:t>() # Reset parameter gradients to zero</a:t>
            </a:r>
          </a:p>
          <a:p>
            <a:pPr marL="0" indent="0">
              <a:buNone/>
            </a:pPr>
            <a:r>
              <a:rPr lang="en-US" sz="2400" dirty="0"/>
              <a:t>	</a:t>
            </a:r>
          </a:p>
          <a:p>
            <a:pPr marL="0" indent="0">
              <a:buNone/>
            </a:pPr>
            <a:r>
              <a:rPr lang="en-US" dirty="0"/>
              <a:t>		</a:t>
            </a:r>
            <a:r>
              <a:rPr lang="en-US" sz="2400" dirty="0"/>
              <a:t># Forward pass, then backward pass and optimize</a:t>
            </a:r>
          </a:p>
          <a:p>
            <a:pPr marL="0" indent="0">
              <a:buNone/>
            </a:pPr>
            <a:r>
              <a:rPr lang="en-US" sz="2400" dirty="0"/>
              <a:t>        		outputs = </a:t>
            </a:r>
            <a:r>
              <a:rPr lang="en-US" sz="2400" dirty="0" err="1"/>
              <a:t>eyenet</a:t>
            </a:r>
            <a:r>
              <a:rPr lang="en-US" sz="2400" dirty="0"/>
              <a:t>(inputs) # Perform the forward pass on the training samples, 			#gives back a batch of 32 sets of 4 logits</a:t>
            </a:r>
          </a:p>
          <a:p>
            <a:pPr marL="0" indent="0">
              <a:buNone/>
            </a:pPr>
            <a:r>
              <a:rPr lang="en-US" sz="2400" dirty="0"/>
              <a:t>        		loss = criterion(outputs, labels) # Calculate the loss which compares the predicted 		#label with the true label of each training sample passed in.</a:t>
            </a:r>
          </a:p>
          <a:p>
            <a:pPr marL="0" indent="0">
              <a:buNone/>
            </a:pPr>
            <a:r>
              <a:rPr lang="en-US" sz="2400" dirty="0"/>
              <a:t>		</a:t>
            </a:r>
            <a:r>
              <a:rPr lang="en-US" sz="2400" dirty="0" err="1"/>
              <a:t>loss.backward</a:t>
            </a:r>
            <a:r>
              <a:rPr lang="en-US" sz="2400" dirty="0"/>
              <a:t>() # Perform backpropagation algorithm</a:t>
            </a:r>
          </a:p>
          <a:p>
            <a:pPr marL="457200" lvl="1" indent="0">
              <a:buNone/>
            </a:pPr>
            <a:r>
              <a:rPr lang="en-US" dirty="0"/>
              <a:t>	   	</a:t>
            </a:r>
            <a:r>
              <a:rPr lang="en-US" dirty="0" err="1"/>
              <a:t>optimizer.step</a:t>
            </a:r>
            <a:r>
              <a:rPr lang="en-US" dirty="0"/>
              <a:t>() # Update parameters according to gradient descent on the loss.</a:t>
            </a:r>
          </a:p>
          <a:p>
            <a:pPr marL="457200" lvl="1" indent="0">
              <a:buNone/>
            </a:pPr>
            <a:r>
              <a:rPr lang="en-US" sz="2400" dirty="0"/>
              <a:t>		</a:t>
            </a:r>
            <a:r>
              <a:rPr lang="en-US" dirty="0" err="1"/>
              <a:t>running_loss</a:t>
            </a:r>
            <a:r>
              <a:rPr lang="en-US" dirty="0"/>
              <a:t> += </a:t>
            </a:r>
            <a:r>
              <a:rPr lang="en-US" dirty="0" err="1"/>
              <a:t>loss.item</a:t>
            </a:r>
            <a:r>
              <a:rPr lang="en-US" dirty="0"/>
              <a:t>()</a:t>
            </a:r>
            <a:r>
              <a:rPr lang="en-US" sz="2400" dirty="0"/>
              <a:t>	</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16475443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F8C9CE-BE01-4AB3-685E-259D8D5725ED}"/>
              </a:ext>
            </a:extLst>
          </p:cNvPr>
          <p:cNvSpPr>
            <a:spLocks noGrp="1"/>
          </p:cNvSpPr>
          <p:nvPr>
            <p:ph type="title"/>
          </p:nvPr>
        </p:nvSpPr>
        <p:spPr/>
        <p:txBody>
          <a:bodyPr/>
          <a:lstStyle/>
          <a:p>
            <a:r>
              <a:rPr lang="en-US" dirty="0"/>
              <a:t>Enable GPU device</a:t>
            </a:r>
          </a:p>
        </p:txBody>
      </p:sp>
      <p:sp>
        <p:nvSpPr>
          <p:cNvPr id="3" name="Content Placeholder 2">
            <a:extLst>
              <a:ext uri="{FF2B5EF4-FFF2-40B4-BE49-F238E27FC236}">
                <a16:creationId xmlns:a16="http://schemas.microsoft.com/office/drawing/2014/main" id="{B4580397-0260-267B-89BA-931450FE2D75}"/>
              </a:ext>
            </a:extLst>
          </p:cNvPr>
          <p:cNvSpPr>
            <a:spLocks noGrp="1"/>
          </p:cNvSpPr>
          <p:nvPr>
            <p:ph idx="1"/>
          </p:nvPr>
        </p:nvSpPr>
        <p:spPr/>
        <p:txBody>
          <a:bodyPr>
            <a:normAutofit fontScale="77500" lnSpcReduction="20000"/>
          </a:bodyPr>
          <a:lstStyle/>
          <a:p>
            <a:pPr marL="0" indent="0">
              <a:buNone/>
            </a:pPr>
            <a:r>
              <a:rPr lang="en-US" dirty="0"/>
              <a:t>device = </a:t>
            </a:r>
            <a:r>
              <a:rPr lang="en-US" dirty="0" err="1"/>
              <a:t>torch.device</a:t>
            </a:r>
            <a:r>
              <a:rPr lang="en-US" dirty="0"/>
              <a:t>("</a:t>
            </a:r>
            <a:r>
              <a:rPr lang="en-US" dirty="0" err="1"/>
              <a:t>cuda</a:t>
            </a:r>
            <a:r>
              <a:rPr lang="en-US" dirty="0"/>
              <a:t>" if </a:t>
            </a:r>
            <a:r>
              <a:rPr lang="en-US" dirty="0" err="1"/>
              <a:t>torch.cuda.is_available</a:t>
            </a:r>
            <a:r>
              <a:rPr lang="en-US" dirty="0"/>
              <a:t>() else "</a:t>
            </a:r>
            <a:r>
              <a:rPr lang="en-US" dirty="0" err="1"/>
              <a:t>cpu</a:t>
            </a:r>
            <a:r>
              <a:rPr lang="en-US" dirty="0"/>
              <a:t>")</a:t>
            </a:r>
          </a:p>
          <a:p>
            <a:pPr marL="0" indent="0">
              <a:buNone/>
            </a:pPr>
            <a:r>
              <a:rPr lang="en-US" dirty="0"/>
              <a:t># Instantiate model on GPU</a:t>
            </a:r>
          </a:p>
          <a:p>
            <a:pPr marL="0" indent="0">
              <a:buNone/>
            </a:pPr>
            <a:r>
              <a:rPr lang="en-US" dirty="0" err="1"/>
              <a:t>eyenet</a:t>
            </a:r>
            <a:r>
              <a:rPr lang="en-US" dirty="0"/>
              <a:t> = </a:t>
            </a:r>
            <a:r>
              <a:rPr lang="en-US" dirty="0" err="1"/>
              <a:t>EyeNet</a:t>
            </a:r>
            <a:r>
              <a:rPr lang="en-US" dirty="0"/>
              <a:t>().to(device)</a:t>
            </a:r>
          </a:p>
          <a:p>
            <a:pPr marL="0" indent="0">
              <a:buNone/>
            </a:pPr>
            <a:endParaRPr lang="en-US" dirty="0"/>
          </a:p>
          <a:p>
            <a:pPr marL="0" indent="0">
              <a:buNone/>
            </a:pPr>
            <a:r>
              <a:rPr lang="en-US" dirty="0"/>
              <a:t>Then, in the training loop add:</a:t>
            </a:r>
          </a:p>
          <a:p>
            <a:pPr marL="0" indent="0">
              <a:buNone/>
            </a:pPr>
            <a:endParaRPr lang="en-US" dirty="0"/>
          </a:p>
          <a:p>
            <a:pPr marL="0" indent="0">
              <a:buNone/>
            </a:pPr>
            <a:r>
              <a:rPr lang="en-US" dirty="0"/>
              <a:t>for </a:t>
            </a:r>
            <a:r>
              <a:rPr lang="en-US" dirty="0" err="1"/>
              <a:t>i</a:t>
            </a:r>
            <a:r>
              <a:rPr lang="en-US" dirty="0"/>
              <a:t>, data in enumerate(</a:t>
            </a:r>
            <a:r>
              <a:rPr lang="en-US" dirty="0" err="1"/>
              <a:t>train_loader</a:t>
            </a:r>
            <a:r>
              <a:rPr lang="en-US" dirty="0"/>
              <a:t>, 0):</a:t>
            </a:r>
          </a:p>
          <a:p>
            <a:pPr marL="0" indent="0">
              <a:buNone/>
            </a:pPr>
            <a:r>
              <a:rPr lang="en-US" dirty="0"/>
              <a:t>        # Get the inputs and labels and move them to GPU</a:t>
            </a:r>
          </a:p>
          <a:p>
            <a:pPr marL="0" indent="0">
              <a:buNone/>
            </a:pPr>
            <a:r>
              <a:rPr lang="en-US" dirty="0"/>
              <a:t>        inputs, labels = data</a:t>
            </a:r>
          </a:p>
          <a:p>
            <a:pPr marL="0" indent="0">
              <a:buNone/>
            </a:pPr>
            <a:r>
              <a:rPr lang="en-US" dirty="0"/>
              <a:t>        inputs = inputs.to(device)</a:t>
            </a:r>
          </a:p>
          <a:p>
            <a:pPr marL="0" indent="0">
              <a:buNone/>
            </a:pPr>
            <a:r>
              <a:rPr lang="en-US" dirty="0"/>
              <a:t>        labels = labels.to(device)</a:t>
            </a:r>
            <a:br>
              <a:rPr lang="en-US" dirty="0"/>
            </a:br>
            <a:endParaRPr lang="en-US"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95746452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E6333071-5B33-9F0A-6ED3-960EC6CD2B2B}"/>
              </a:ext>
            </a:extLst>
          </p:cNvPr>
          <p:cNvSpPr>
            <a:spLocks noGrp="1"/>
          </p:cNvSpPr>
          <p:nvPr>
            <p:ph idx="1"/>
          </p:nvPr>
        </p:nvSpPr>
        <p:spPr>
          <a:xfrm>
            <a:off x="838200" y="1825625"/>
            <a:ext cx="10515600" cy="4351338"/>
          </a:xfrm>
        </p:spPr>
        <p:txBody>
          <a:bodyPr>
            <a:normAutofit/>
          </a:bodyPr>
          <a:lstStyle/>
          <a:p>
            <a:pPr marL="0" indent="0">
              <a:buNone/>
            </a:pPr>
            <a:r>
              <a:rPr lang="en-US" dirty="0"/>
              <a:t>from </a:t>
            </a:r>
            <a:r>
              <a:rPr lang="en-US" dirty="0" err="1"/>
              <a:t>torch.utils.data</a:t>
            </a:r>
            <a:r>
              <a:rPr lang="en-US" dirty="0"/>
              <a:t> import </a:t>
            </a:r>
            <a:r>
              <a:rPr lang="en-US" dirty="0" err="1"/>
              <a:t>DataLoader</a:t>
            </a:r>
            <a:br>
              <a:rPr lang="en-US" dirty="0"/>
            </a:br>
            <a:endParaRPr lang="en-US" dirty="0"/>
          </a:p>
          <a:p>
            <a:pPr marL="0" indent="0">
              <a:buNone/>
            </a:pPr>
            <a:r>
              <a:rPr lang="en-US" dirty="0" err="1"/>
              <a:t>train_loader</a:t>
            </a:r>
            <a:r>
              <a:rPr lang="en-US" dirty="0"/>
              <a:t> = </a:t>
            </a:r>
            <a:r>
              <a:rPr lang="en-US" dirty="0" err="1"/>
              <a:t>DataLoader</a:t>
            </a:r>
            <a:r>
              <a:rPr lang="en-US" dirty="0"/>
              <a:t>(</a:t>
            </a:r>
            <a:r>
              <a:rPr lang="en-US" dirty="0" err="1"/>
              <a:t>train_dataset</a:t>
            </a:r>
            <a:r>
              <a:rPr lang="en-US" dirty="0"/>
              <a:t>, </a:t>
            </a:r>
            <a:r>
              <a:rPr lang="en-US" dirty="0" err="1"/>
              <a:t>batch_size</a:t>
            </a:r>
            <a:r>
              <a:rPr lang="en-US" dirty="0"/>
              <a:t>=32, shuffle=True)</a:t>
            </a:r>
          </a:p>
          <a:p>
            <a:pPr marL="0" indent="0">
              <a:buNone/>
            </a:pPr>
            <a:r>
              <a:rPr lang="en-US" dirty="0" err="1"/>
              <a:t>test_loader</a:t>
            </a:r>
            <a:r>
              <a:rPr lang="en-US" dirty="0"/>
              <a:t>  = </a:t>
            </a:r>
            <a:r>
              <a:rPr lang="en-US" dirty="0" err="1"/>
              <a:t>DataLoader</a:t>
            </a:r>
            <a:r>
              <a:rPr lang="en-US" dirty="0"/>
              <a:t>(</a:t>
            </a:r>
            <a:r>
              <a:rPr lang="en-US" dirty="0" err="1"/>
              <a:t>test_dataset</a:t>
            </a:r>
            <a:r>
              <a:rPr lang="en-US" dirty="0"/>
              <a:t>, </a:t>
            </a:r>
            <a:r>
              <a:rPr lang="en-US" dirty="0" err="1"/>
              <a:t>batch_size</a:t>
            </a:r>
            <a:r>
              <a:rPr lang="en-US" dirty="0"/>
              <a:t>=32, shuffle=False)</a:t>
            </a:r>
          </a:p>
        </p:txBody>
      </p:sp>
    </p:spTree>
    <p:extLst>
      <p:ext uri="{BB962C8B-B14F-4D97-AF65-F5344CB8AC3E}">
        <p14:creationId xmlns:p14="http://schemas.microsoft.com/office/powerpoint/2010/main" val="271341253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7A87C1-CC6C-ABC6-C42D-4267F95FED0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7D24CCA-5737-8587-3E63-D5F07CE716A3}"/>
              </a:ext>
            </a:extLst>
          </p:cNvPr>
          <p:cNvSpPr>
            <a:spLocks noGrp="1"/>
          </p:cNvSpPr>
          <p:nvPr>
            <p:ph idx="1"/>
          </p:nvPr>
        </p:nvSpPr>
        <p:spPr>
          <a:xfrm>
            <a:off x="345988" y="216243"/>
            <a:ext cx="11763633" cy="6567616"/>
          </a:xfrm>
        </p:spPr>
        <p:txBody>
          <a:bodyPr>
            <a:normAutofit fontScale="25000" lnSpcReduction="20000"/>
          </a:bodyPr>
          <a:lstStyle/>
          <a:p>
            <a:pPr marL="0" indent="0">
              <a:buNone/>
            </a:pPr>
            <a:r>
              <a:rPr lang="en-US" sz="5600" dirty="0"/>
              <a:t>class </a:t>
            </a:r>
            <a:r>
              <a:rPr lang="en-US" sz="5600" dirty="0" err="1"/>
              <a:t>EyeNet</a:t>
            </a:r>
            <a:r>
              <a:rPr lang="en-US" sz="5600" dirty="0"/>
              <a:t>(</a:t>
            </a:r>
            <a:r>
              <a:rPr lang="en-US" sz="5600" dirty="0" err="1"/>
              <a:t>nn.Module</a:t>
            </a:r>
            <a:r>
              <a:rPr lang="en-US" sz="5600" dirty="0"/>
              <a:t>):</a:t>
            </a:r>
          </a:p>
          <a:p>
            <a:pPr marL="0" indent="0">
              <a:buNone/>
            </a:pPr>
            <a:r>
              <a:rPr lang="en-US" sz="5600" dirty="0"/>
              <a:t>	def __</a:t>
            </a:r>
            <a:r>
              <a:rPr lang="en-US" sz="5600" dirty="0" err="1"/>
              <a:t>init</a:t>
            </a:r>
            <a:r>
              <a:rPr lang="en-US" sz="5600" dirty="0"/>
              <a:t>__(self): 	</a:t>
            </a:r>
          </a:p>
          <a:p>
            <a:pPr marL="0" indent="0">
              <a:buNone/>
            </a:pPr>
            <a:r>
              <a:rPr lang="en-US" sz="5600" dirty="0"/>
              <a:t>        		super(</a:t>
            </a:r>
            <a:r>
              <a:rPr lang="en-US" sz="5600" dirty="0" err="1"/>
              <a:t>EyeNet</a:t>
            </a:r>
            <a:r>
              <a:rPr lang="en-US" sz="5600" dirty="0"/>
              <a:t>, self).__</a:t>
            </a:r>
            <a:r>
              <a:rPr lang="en-US" sz="5600" dirty="0" err="1"/>
              <a:t>init</a:t>
            </a:r>
            <a:r>
              <a:rPr lang="en-US" sz="5600" dirty="0"/>
              <a:t>__()</a:t>
            </a:r>
          </a:p>
          <a:p>
            <a:pPr marL="0" indent="0">
              <a:buNone/>
            </a:pPr>
            <a:r>
              <a:rPr lang="en-US" sz="5600" dirty="0"/>
              <a:t>		</a:t>
            </a:r>
            <a:r>
              <a:rPr lang="en-US" sz="5600" dirty="0" err="1"/>
              <a:t>self.convolve</a:t>
            </a:r>
            <a:r>
              <a:rPr lang="en-US" sz="5600" dirty="0"/>
              <a:t> = nn.Conv2d(</a:t>
            </a:r>
            <a:r>
              <a:rPr lang="en-US" sz="5600" dirty="0" err="1"/>
              <a:t>in_channels</a:t>
            </a:r>
            <a:r>
              <a:rPr lang="en-US" sz="5600" dirty="0"/>
              <a:t>=1, </a:t>
            </a:r>
            <a:r>
              <a:rPr lang="en-US" sz="5600" dirty="0" err="1"/>
              <a:t>out_channels</a:t>
            </a:r>
            <a:r>
              <a:rPr lang="en-US" sz="5600" dirty="0"/>
              <a:t>=6, </a:t>
            </a:r>
            <a:r>
              <a:rPr lang="en-US" sz="5600" dirty="0" err="1"/>
              <a:t>kernel_size</a:t>
            </a:r>
            <a:r>
              <a:rPr lang="en-US" sz="5600" dirty="0"/>
              <a:t>=5) # introduces 1*6*5*5 + 6 parameters</a:t>
            </a:r>
          </a:p>
          <a:p>
            <a:pPr marL="0" indent="0">
              <a:buNone/>
            </a:pPr>
            <a:r>
              <a:rPr lang="en-US" sz="5600" dirty="0"/>
              <a:t>		self.convolve2 = nn.Conv2d(</a:t>
            </a:r>
            <a:r>
              <a:rPr lang="en-US" sz="5600" dirty="0" err="1"/>
              <a:t>in_channels</a:t>
            </a:r>
            <a:r>
              <a:rPr lang="en-US" sz="5600" dirty="0"/>
              <a:t>=6, </a:t>
            </a:r>
            <a:r>
              <a:rPr lang="en-US" sz="5600" dirty="0" err="1"/>
              <a:t>out_channels</a:t>
            </a:r>
            <a:r>
              <a:rPr lang="en-US" sz="5600" dirty="0"/>
              <a:t>=16, </a:t>
            </a:r>
            <a:r>
              <a:rPr lang="en-US" sz="5600" dirty="0" err="1"/>
              <a:t>kernel_size</a:t>
            </a:r>
            <a:r>
              <a:rPr lang="en-US" sz="5600" dirty="0"/>
              <a:t>=5) # introduces 6*16*5*5 + 16 parameters</a:t>
            </a:r>
          </a:p>
          <a:p>
            <a:pPr marL="0" indent="0">
              <a:buNone/>
            </a:pPr>
            <a:r>
              <a:rPr lang="en-US" sz="5600" dirty="0"/>
              <a:t>		self.pool = nn.MaxPool2d(</a:t>
            </a:r>
            <a:r>
              <a:rPr lang="en-US" sz="5600" dirty="0" err="1"/>
              <a:t>kernel_size</a:t>
            </a:r>
            <a:r>
              <a:rPr lang="en-US" sz="5600" dirty="0"/>
              <a:t>=2, stride=2)</a:t>
            </a:r>
          </a:p>
          <a:p>
            <a:pPr marL="0" indent="0">
              <a:buNone/>
            </a:pPr>
            <a:r>
              <a:rPr lang="en-US" sz="5600" dirty="0"/>
              <a:t>		</a:t>
            </a:r>
            <a:r>
              <a:rPr lang="en-US" sz="5600" dirty="0" err="1"/>
              <a:t>self.dense</a:t>
            </a:r>
            <a:r>
              <a:rPr lang="en-US" sz="5600" dirty="0"/>
              <a:t> = </a:t>
            </a:r>
            <a:r>
              <a:rPr lang="en-US" sz="5600" dirty="0" err="1"/>
              <a:t>nn.Linear</a:t>
            </a:r>
            <a:r>
              <a:rPr lang="en-US" sz="5600" dirty="0"/>
              <a:t>(16 * 61 * 61, 120)</a:t>
            </a:r>
          </a:p>
          <a:p>
            <a:pPr marL="0" indent="0">
              <a:buNone/>
            </a:pPr>
            <a:r>
              <a:rPr lang="en-US" sz="5600" dirty="0"/>
              <a:t>		self.dense2 = </a:t>
            </a:r>
            <a:r>
              <a:rPr lang="en-US" sz="5600" dirty="0" err="1"/>
              <a:t>nn.Linear</a:t>
            </a:r>
            <a:r>
              <a:rPr lang="en-US" sz="5600" dirty="0"/>
              <a:t>(120, 84)</a:t>
            </a:r>
          </a:p>
          <a:p>
            <a:pPr marL="0" indent="0">
              <a:buNone/>
            </a:pPr>
            <a:r>
              <a:rPr lang="en-US" sz="5600" dirty="0"/>
              <a:t>		</a:t>
            </a:r>
            <a:r>
              <a:rPr lang="en-US" sz="5600" dirty="0" err="1"/>
              <a:t>self.dense_out</a:t>
            </a:r>
            <a:r>
              <a:rPr lang="en-US" sz="5600" dirty="0"/>
              <a:t> = </a:t>
            </a:r>
            <a:r>
              <a:rPr lang="en-US" sz="5600" dirty="0" err="1"/>
              <a:t>nn.Linear</a:t>
            </a:r>
            <a:r>
              <a:rPr lang="en-US" sz="5600" dirty="0"/>
              <a:t>(84, 4)</a:t>
            </a:r>
          </a:p>
          <a:p>
            <a:pPr marL="0" indent="0">
              <a:buNone/>
            </a:pPr>
            <a:r>
              <a:rPr lang="en-US" sz="5600" dirty="0"/>
              <a:t>	def forward(self, x):</a:t>
            </a:r>
          </a:p>
          <a:p>
            <a:pPr marL="0" indent="0">
              <a:buNone/>
            </a:pPr>
            <a:r>
              <a:rPr lang="en-US" sz="5600" dirty="0"/>
              <a:t>		x = </a:t>
            </a:r>
            <a:r>
              <a:rPr lang="en-US" sz="5600" dirty="0" err="1"/>
              <a:t>self.convolve</a:t>
            </a:r>
            <a:r>
              <a:rPr lang="en-US" sz="5600" dirty="0"/>
              <a:t>(x) # shape: (1x256x256) --&gt; (6x252x252)</a:t>
            </a:r>
          </a:p>
          <a:p>
            <a:pPr marL="0" indent="0">
              <a:buNone/>
            </a:pPr>
            <a:r>
              <a:rPr lang="en-US" sz="5600" dirty="0"/>
              <a:t>		x = F.relu(x) # shape: (6x252x252) --&gt; (6x252x252)</a:t>
            </a:r>
          </a:p>
          <a:p>
            <a:pPr marL="0" indent="0">
              <a:buNone/>
            </a:pPr>
            <a:r>
              <a:rPr lang="en-US" sz="5600" dirty="0"/>
              <a:t>		x = self.pool(x) # shape: (6x252x252) --&gt; (6x126x126)</a:t>
            </a:r>
          </a:p>
          <a:p>
            <a:pPr marL="0" indent="0">
              <a:buNone/>
            </a:pPr>
            <a:r>
              <a:rPr lang="en-US" sz="5600" dirty="0"/>
              <a:t>		x = self.convolve2(x) # shape: (6x126x126) --&gt; (16x122x122)</a:t>
            </a:r>
          </a:p>
          <a:p>
            <a:pPr marL="0" indent="0">
              <a:buNone/>
            </a:pPr>
            <a:r>
              <a:rPr lang="en-US" sz="5600" dirty="0"/>
              <a:t>		x = F.relu(x)</a:t>
            </a:r>
          </a:p>
          <a:p>
            <a:pPr marL="0" indent="0">
              <a:buNone/>
            </a:pPr>
            <a:r>
              <a:rPr lang="en-US" sz="5600" dirty="0"/>
              <a:t>		x = self.pool(x) # shape: (16x122x122) --&gt; (16x61x61)</a:t>
            </a:r>
          </a:p>
          <a:p>
            <a:pPr marL="0" indent="0">
              <a:buNone/>
            </a:pPr>
            <a:r>
              <a:rPr lang="en-US" sz="5600" dirty="0"/>
              <a:t>		x = torch.flatten(x, 1) # shape: (16x61x61) --&gt; (1x(16*61*61))</a:t>
            </a:r>
          </a:p>
          <a:p>
            <a:pPr marL="0" indent="0">
              <a:buNone/>
            </a:pPr>
            <a:r>
              <a:rPr lang="en-US" sz="5600" dirty="0"/>
              <a:t>		x = </a:t>
            </a:r>
            <a:r>
              <a:rPr lang="en-US" sz="5600" dirty="0" err="1"/>
              <a:t>self.dense</a:t>
            </a:r>
            <a:r>
              <a:rPr lang="en-US" sz="5600" dirty="0"/>
              <a:t>(x) # shape: (16*61*61) --&gt; (120), introduces 16*61*61*120 + 120 parameters</a:t>
            </a:r>
          </a:p>
          <a:p>
            <a:pPr marL="0" indent="0">
              <a:buNone/>
            </a:pPr>
            <a:r>
              <a:rPr lang="en-US" sz="5600" dirty="0"/>
              <a:t>		x = F.relu(x)</a:t>
            </a:r>
          </a:p>
          <a:p>
            <a:pPr marL="0" indent="0">
              <a:buNone/>
            </a:pPr>
            <a:r>
              <a:rPr lang="en-US" sz="5600" dirty="0"/>
              <a:t>		x = self.dense2(x) # (120 ) -&gt; (84), introduces 120*84 + 84 parameters</a:t>
            </a:r>
          </a:p>
          <a:p>
            <a:pPr marL="0" indent="0">
              <a:buNone/>
            </a:pPr>
            <a:r>
              <a:rPr lang="en-US" sz="5600" dirty="0"/>
              <a:t>		x = F.relu(x)</a:t>
            </a:r>
          </a:p>
          <a:p>
            <a:pPr marL="0" indent="0">
              <a:buNone/>
            </a:pPr>
            <a:r>
              <a:rPr lang="en-US" sz="5600" dirty="0"/>
              <a:t>		x = </a:t>
            </a:r>
            <a:r>
              <a:rPr lang="en-US" sz="5600" dirty="0" err="1"/>
              <a:t>self.dense_out</a:t>
            </a:r>
            <a:r>
              <a:rPr lang="en-US" sz="5600" dirty="0"/>
              <a:t>(x) # (84) -&gt; (4), introduces 84*4 + 4 parameters, outputs 4 logits (z1, z2, z3, z4).</a:t>
            </a:r>
          </a:p>
          <a:p>
            <a:pPr marL="0" indent="0">
              <a:buNone/>
            </a:pPr>
            <a:r>
              <a:rPr lang="en-US" sz="5600" dirty="0"/>
              <a:t>		return x</a:t>
            </a:r>
          </a:p>
          <a:p>
            <a:pPr marL="0" indent="0">
              <a:buNone/>
            </a:pPr>
            <a:endParaRPr lang="en-US" dirty="0"/>
          </a:p>
        </p:txBody>
      </p:sp>
    </p:spTree>
    <p:extLst>
      <p:ext uri="{BB962C8B-B14F-4D97-AF65-F5344CB8AC3E}">
        <p14:creationId xmlns:p14="http://schemas.microsoft.com/office/powerpoint/2010/main" val="406585398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709803-7545-CDEF-0A2D-0558DF1774B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8F95B5B-AF88-FC3C-F083-788F969C5608}"/>
              </a:ext>
            </a:extLst>
          </p:cNvPr>
          <p:cNvSpPr>
            <a:spLocks noGrp="1"/>
          </p:cNvSpPr>
          <p:nvPr>
            <p:ph idx="1"/>
          </p:nvPr>
        </p:nvSpPr>
        <p:spPr>
          <a:xfrm>
            <a:off x="628795" y="1930406"/>
            <a:ext cx="10515600" cy="4351338"/>
          </a:xfrm>
        </p:spPr>
        <p:txBody>
          <a:bodyPr>
            <a:normAutofit/>
          </a:bodyPr>
          <a:lstStyle/>
          <a:p>
            <a:pPr marL="0" indent="0">
              <a:buNone/>
            </a:pPr>
            <a:endParaRPr lang="en-US" sz="2400" dirty="0"/>
          </a:p>
          <a:p>
            <a:pPr marL="0" indent="0">
              <a:buNone/>
            </a:pPr>
            <a:r>
              <a:rPr lang="en-US" sz="2400" dirty="0"/>
              <a:t>import </a:t>
            </a:r>
            <a:r>
              <a:rPr lang="en-US" sz="2400" dirty="0" err="1"/>
              <a:t>torch.optim</a:t>
            </a:r>
            <a:r>
              <a:rPr lang="en-US" sz="2400" dirty="0"/>
              <a:t> as </a:t>
            </a:r>
            <a:r>
              <a:rPr lang="en-US" sz="2400" dirty="0" err="1"/>
              <a:t>optim</a:t>
            </a:r>
            <a:endParaRPr lang="en-US" sz="2400" dirty="0"/>
          </a:p>
          <a:p>
            <a:pPr marL="0" indent="0">
              <a:buNone/>
            </a:pPr>
            <a:endParaRPr lang="en-US" sz="2400" dirty="0"/>
          </a:p>
          <a:p>
            <a:pPr marL="0" indent="0">
              <a:buNone/>
            </a:pPr>
            <a:r>
              <a:rPr lang="en-US" sz="2400" dirty="0"/>
              <a:t>criterion = </a:t>
            </a:r>
            <a:r>
              <a:rPr lang="en-US" sz="2400" dirty="0" err="1"/>
              <a:t>nn.CrossEntropyLoss</a:t>
            </a:r>
            <a:r>
              <a:rPr lang="en-US" sz="2400" dirty="0"/>
              <a:t>() # loss function which applies </a:t>
            </a:r>
            <a:r>
              <a:rPr lang="en-US" sz="2400" dirty="0" err="1"/>
              <a:t>softmax</a:t>
            </a:r>
            <a:r>
              <a:rPr lang="en-US" sz="2400" dirty="0"/>
              <a:t> internally</a:t>
            </a:r>
          </a:p>
          <a:p>
            <a:pPr marL="0" indent="0">
              <a:buNone/>
            </a:pPr>
            <a:r>
              <a:rPr lang="en-US" sz="2400" dirty="0"/>
              <a:t>optimizer = </a:t>
            </a:r>
            <a:r>
              <a:rPr lang="en-US" sz="2400" dirty="0" err="1"/>
              <a:t>optim.SGD</a:t>
            </a:r>
            <a:r>
              <a:rPr lang="en-US" sz="2400" dirty="0"/>
              <a:t>(</a:t>
            </a:r>
            <a:r>
              <a:rPr lang="en-US" sz="2400" dirty="0" err="1"/>
              <a:t>eyenet.parameters</a:t>
            </a:r>
            <a:r>
              <a:rPr lang="en-US" sz="2400" dirty="0"/>
              <a:t>(), </a:t>
            </a:r>
            <a:r>
              <a:rPr lang="en-US" sz="2400" dirty="0" err="1"/>
              <a:t>lr</a:t>
            </a:r>
            <a:r>
              <a:rPr lang="en-US" sz="2400" dirty="0"/>
              <a:t> = 0.001, momentum = 0.9)</a:t>
            </a:r>
          </a:p>
        </p:txBody>
      </p:sp>
    </p:spTree>
    <p:extLst>
      <p:ext uri="{BB962C8B-B14F-4D97-AF65-F5344CB8AC3E}">
        <p14:creationId xmlns:p14="http://schemas.microsoft.com/office/powerpoint/2010/main" val="383814347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A7BC5B-3F92-EF9F-64EB-E96C04F8DE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34E46C-5082-179E-A4E0-512CA9B45DC2}"/>
              </a:ext>
            </a:extLst>
          </p:cNvPr>
          <p:cNvSpPr>
            <a:spLocks noGrp="1"/>
          </p:cNvSpPr>
          <p:nvPr>
            <p:ph type="title"/>
          </p:nvPr>
        </p:nvSpPr>
        <p:spPr>
          <a:xfrm>
            <a:off x="443531" y="0"/>
            <a:ext cx="10515600" cy="1325563"/>
          </a:xfrm>
        </p:spPr>
        <p:txBody>
          <a:bodyPr/>
          <a:lstStyle/>
          <a:p>
            <a:r>
              <a:rPr lang="en-US" dirty="0"/>
              <a:t>Back to training loop</a:t>
            </a:r>
          </a:p>
        </p:txBody>
      </p:sp>
      <p:sp>
        <p:nvSpPr>
          <p:cNvPr id="3" name="Content Placeholder 2">
            <a:extLst>
              <a:ext uri="{FF2B5EF4-FFF2-40B4-BE49-F238E27FC236}">
                <a16:creationId xmlns:a16="http://schemas.microsoft.com/office/drawing/2014/main" id="{4DEA4A93-6E1E-5D40-1E19-9CA2A7F5A9DB}"/>
              </a:ext>
            </a:extLst>
          </p:cNvPr>
          <p:cNvSpPr>
            <a:spLocks noGrp="1"/>
          </p:cNvSpPr>
          <p:nvPr>
            <p:ph idx="1"/>
          </p:nvPr>
        </p:nvSpPr>
        <p:spPr>
          <a:xfrm>
            <a:off x="516531" y="1116824"/>
            <a:ext cx="10987633" cy="5741175"/>
          </a:xfrm>
        </p:spPr>
        <p:txBody>
          <a:bodyPr>
            <a:normAutofit fontScale="85000" lnSpcReduction="20000"/>
          </a:bodyPr>
          <a:lstStyle/>
          <a:p>
            <a:pPr marL="0" indent="0">
              <a:buNone/>
            </a:pPr>
            <a:r>
              <a:rPr lang="en-US" sz="2200" dirty="0" err="1"/>
              <a:t>eyenet</a:t>
            </a:r>
            <a:r>
              <a:rPr lang="en-US" sz="2200" dirty="0"/>
              <a:t> = </a:t>
            </a:r>
            <a:r>
              <a:rPr lang="en-US" sz="2200" dirty="0" err="1"/>
              <a:t>EyeNet</a:t>
            </a:r>
            <a:r>
              <a:rPr lang="en-US" sz="2200" dirty="0"/>
              <a:t>().to(device)</a:t>
            </a:r>
          </a:p>
          <a:p>
            <a:pPr marL="0" indent="0">
              <a:buNone/>
            </a:pPr>
            <a:r>
              <a:rPr lang="en-US" sz="2200" dirty="0"/>
              <a:t>epochs = 1</a:t>
            </a:r>
          </a:p>
          <a:p>
            <a:pPr marL="0" indent="0">
              <a:buNone/>
            </a:pPr>
            <a:r>
              <a:rPr lang="en-US" sz="2200" dirty="0"/>
              <a:t>for epoch in range(epochs): # loop over entire dataset</a:t>
            </a:r>
          </a:p>
          <a:p>
            <a:pPr marL="0" indent="0">
              <a:buNone/>
            </a:pPr>
            <a:r>
              <a:rPr lang="en-US" sz="2200" dirty="0"/>
              <a:t>	</a:t>
            </a:r>
            <a:r>
              <a:rPr lang="en-US" sz="2200" dirty="0" err="1"/>
              <a:t>running_loss</a:t>
            </a:r>
            <a:r>
              <a:rPr lang="en-US" sz="2200" dirty="0"/>
              <a:t> = 0.0</a:t>
            </a:r>
          </a:p>
          <a:p>
            <a:pPr marL="0" indent="0">
              <a:buNone/>
            </a:pPr>
            <a:r>
              <a:rPr lang="en-US" sz="2200" dirty="0"/>
              <a:t>	for </a:t>
            </a:r>
            <a:r>
              <a:rPr lang="en-US" sz="2200" dirty="0" err="1"/>
              <a:t>i</a:t>
            </a:r>
            <a:r>
              <a:rPr lang="en-US" sz="2200" dirty="0"/>
              <a:t>, data in enumerate(</a:t>
            </a:r>
            <a:r>
              <a:rPr lang="en-US" sz="2200" dirty="0" err="1"/>
              <a:t>train_loader</a:t>
            </a:r>
            <a:r>
              <a:rPr lang="en-US" sz="2200" dirty="0"/>
              <a:t>, 0): # Iterate over all batches in loader.</a:t>
            </a:r>
          </a:p>
          <a:p>
            <a:pPr marL="0" indent="0">
              <a:buNone/>
            </a:pPr>
            <a:r>
              <a:rPr lang="en-US" sz="2200" dirty="0"/>
              <a:t>		inputs, labels = data # Assign each batch to the inputs and their respective labels.</a:t>
            </a:r>
          </a:p>
          <a:p>
            <a:pPr marL="0" indent="0">
              <a:buNone/>
            </a:pPr>
            <a:r>
              <a:rPr lang="en-US" sz="2200" dirty="0"/>
              <a:t>		</a:t>
            </a:r>
            <a:r>
              <a:rPr lang="en-US" sz="2200" dirty="0" err="1"/>
              <a:t>optimizer.zero_grad</a:t>
            </a:r>
            <a:r>
              <a:rPr lang="en-US" sz="2200" dirty="0"/>
              <a:t>() # Reset parameter gradients to zero</a:t>
            </a:r>
          </a:p>
          <a:p>
            <a:pPr marL="0" indent="0">
              <a:buNone/>
            </a:pPr>
            <a:r>
              <a:rPr lang="en-US" sz="2200" dirty="0"/>
              <a:t>		inputs = inputs.to(device) </a:t>
            </a:r>
          </a:p>
          <a:p>
            <a:pPr marL="0" indent="0">
              <a:buNone/>
            </a:pPr>
            <a:r>
              <a:rPr lang="en-US" sz="2200" dirty="0"/>
              <a:t>        		labels = labels.to(device)</a:t>
            </a:r>
          </a:p>
          <a:p>
            <a:pPr marL="0" indent="0">
              <a:buNone/>
            </a:pPr>
            <a:endParaRPr lang="en-US" sz="2200" dirty="0"/>
          </a:p>
          <a:p>
            <a:pPr marL="0" indent="0">
              <a:buNone/>
            </a:pPr>
            <a:r>
              <a:rPr lang="en-US" sz="2200" dirty="0"/>
              <a:t>		# Forward pass, then backward pass and optimize</a:t>
            </a:r>
          </a:p>
          <a:p>
            <a:pPr marL="0" indent="0">
              <a:buNone/>
            </a:pPr>
            <a:r>
              <a:rPr lang="en-US" sz="2200" dirty="0"/>
              <a:t>        		outputs = </a:t>
            </a:r>
            <a:r>
              <a:rPr lang="en-US" sz="2200" dirty="0" err="1"/>
              <a:t>eyenet</a:t>
            </a:r>
            <a:r>
              <a:rPr lang="en-US" sz="2200" dirty="0"/>
              <a:t>(inputs) 			</a:t>
            </a:r>
          </a:p>
          <a:p>
            <a:pPr marL="0" indent="0">
              <a:buNone/>
            </a:pPr>
            <a:r>
              <a:rPr lang="en-US" sz="2200" dirty="0"/>
              <a:t>        		loss = criterion(outputs, labels) </a:t>
            </a:r>
          </a:p>
          <a:p>
            <a:pPr marL="0" indent="0">
              <a:buNone/>
            </a:pPr>
            <a:r>
              <a:rPr lang="en-US" sz="2200" dirty="0"/>
              <a:t>		</a:t>
            </a:r>
            <a:r>
              <a:rPr lang="en-US" sz="2200" dirty="0" err="1"/>
              <a:t>loss.backward</a:t>
            </a:r>
            <a:r>
              <a:rPr lang="en-US" sz="2200" dirty="0"/>
              <a:t>()</a:t>
            </a:r>
          </a:p>
          <a:p>
            <a:pPr marL="457200" lvl="1" indent="0">
              <a:buNone/>
            </a:pPr>
            <a:r>
              <a:rPr lang="en-US" sz="2200" dirty="0"/>
              <a:t>	   	</a:t>
            </a:r>
            <a:r>
              <a:rPr lang="en-US" sz="2200" dirty="0" err="1"/>
              <a:t>optimizer.step</a:t>
            </a:r>
            <a:r>
              <a:rPr lang="en-US" sz="2200" dirty="0"/>
              <a:t>() </a:t>
            </a:r>
          </a:p>
          <a:p>
            <a:pPr marL="457200" lvl="1" indent="0">
              <a:buNone/>
            </a:pPr>
            <a:r>
              <a:rPr lang="en-US" sz="2400" dirty="0"/>
              <a:t>		</a:t>
            </a:r>
            <a:r>
              <a:rPr lang="en-US" sz="2200" dirty="0" err="1"/>
              <a:t>running_loss</a:t>
            </a:r>
            <a:r>
              <a:rPr lang="en-US" sz="2200" dirty="0"/>
              <a:t> += </a:t>
            </a:r>
            <a:r>
              <a:rPr lang="en-US" sz="2200" dirty="0" err="1"/>
              <a:t>loss.item</a:t>
            </a:r>
            <a:r>
              <a:rPr lang="en-US" sz="2200" dirty="0"/>
              <a:t>() </a:t>
            </a:r>
            <a:r>
              <a:rPr lang="en-US" sz="2400" dirty="0"/>
              <a:t>	</a:t>
            </a:r>
          </a:p>
          <a:p>
            <a:pPr marL="0" indent="0">
              <a:buNone/>
            </a:pPr>
            <a:r>
              <a:rPr lang="en-US" sz="2200" dirty="0"/>
              <a:t>print(“Training finished”)</a:t>
            </a:r>
          </a:p>
          <a:p>
            <a:pPr marL="0" indent="0">
              <a:buNone/>
            </a:pPr>
            <a:endParaRPr lang="en-US" dirty="0"/>
          </a:p>
        </p:txBody>
      </p:sp>
    </p:spTree>
    <p:extLst>
      <p:ext uri="{BB962C8B-B14F-4D97-AF65-F5344CB8AC3E}">
        <p14:creationId xmlns:p14="http://schemas.microsoft.com/office/powerpoint/2010/main" val="421071297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7FB1B-F792-9393-46A3-AE1E7CD4ACC3}"/>
              </a:ext>
            </a:extLst>
          </p:cNvPr>
          <p:cNvSpPr>
            <a:spLocks noGrp="1"/>
          </p:cNvSpPr>
          <p:nvPr>
            <p:ph type="title"/>
          </p:nvPr>
        </p:nvSpPr>
        <p:spPr>
          <a:xfrm>
            <a:off x="753856" y="328067"/>
            <a:ext cx="11165336" cy="1362621"/>
          </a:xfrm>
        </p:spPr>
        <p:txBody>
          <a:bodyPr/>
          <a:lstStyle/>
          <a:p>
            <a:r>
              <a:rPr lang="en-US" dirty="0"/>
              <a:t>Hit GPU usage limit at approximately 4.5 hours.</a:t>
            </a:r>
          </a:p>
        </p:txBody>
      </p:sp>
      <p:pic>
        <p:nvPicPr>
          <p:cNvPr id="5" name="Content Placeholder 4">
            <a:extLst>
              <a:ext uri="{FF2B5EF4-FFF2-40B4-BE49-F238E27FC236}">
                <a16:creationId xmlns:a16="http://schemas.microsoft.com/office/drawing/2014/main" id="{B5170827-5374-1C5A-8B4C-A5E83C5520DC}"/>
              </a:ext>
            </a:extLst>
          </p:cNvPr>
          <p:cNvPicPr>
            <a:picLocks noGrp="1" noChangeAspect="1"/>
          </p:cNvPicPr>
          <p:nvPr>
            <p:ph idx="1"/>
          </p:nvPr>
        </p:nvPicPr>
        <p:blipFill>
          <a:blip r:embed="rId2"/>
          <a:stretch>
            <a:fillRect/>
          </a:stretch>
        </p:blipFill>
        <p:spPr>
          <a:xfrm>
            <a:off x="2315809" y="1739549"/>
            <a:ext cx="2506749" cy="4351338"/>
          </a:xfrm>
          <a:prstGeom prst="rect">
            <a:avLst/>
          </a:prstGeom>
        </p:spPr>
      </p:pic>
      <p:sp>
        <p:nvSpPr>
          <p:cNvPr id="6" name="TextBox 5">
            <a:extLst>
              <a:ext uri="{FF2B5EF4-FFF2-40B4-BE49-F238E27FC236}">
                <a16:creationId xmlns:a16="http://schemas.microsoft.com/office/drawing/2014/main" id="{1B7D1CCF-9239-01BD-E0A9-0BFBC9C5A065}"/>
              </a:ext>
            </a:extLst>
          </p:cNvPr>
          <p:cNvSpPr txBox="1"/>
          <p:nvPr/>
        </p:nvSpPr>
        <p:spPr>
          <a:xfrm>
            <a:off x="5429977" y="1739549"/>
            <a:ext cx="4737197" cy="1200329"/>
          </a:xfrm>
          <a:prstGeom prst="rect">
            <a:avLst/>
          </a:prstGeom>
          <a:noFill/>
        </p:spPr>
        <p:txBody>
          <a:bodyPr wrap="square" rtlCol="0">
            <a:spAutoFit/>
          </a:bodyPr>
          <a:lstStyle/>
          <a:p>
            <a:r>
              <a:rPr lang="en-US" dirty="0"/>
              <a:t>Trained on 1450 batches of 32 samples before timing out. </a:t>
            </a:r>
          </a:p>
          <a:p>
            <a:r>
              <a:rPr lang="en-US" dirty="0"/>
              <a:t>Running loss is displayed at intervals of 50 batches.</a:t>
            </a:r>
          </a:p>
        </p:txBody>
      </p:sp>
      <p:pic>
        <p:nvPicPr>
          <p:cNvPr id="8" name="Picture 7">
            <a:extLst>
              <a:ext uri="{FF2B5EF4-FFF2-40B4-BE49-F238E27FC236}">
                <a16:creationId xmlns:a16="http://schemas.microsoft.com/office/drawing/2014/main" id="{71AAE017-5EF8-DB55-A3EB-14C06D2C79F3}"/>
              </a:ext>
            </a:extLst>
          </p:cNvPr>
          <p:cNvPicPr>
            <a:picLocks noChangeAspect="1"/>
          </p:cNvPicPr>
          <p:nvPr/>
        </p:nvPicPr>
        <p:blipFill>
          <a:blip r:embed="rId3"/>
          <a:stretch>
            <a:fillRect/>
          </a:stretch>
        </p:blipFill>
        <p:spPr>
          <a:xfrm>
            <a:off x="5429977" y="3322712"/>
            <a:ext cx="3492685" cy="2768175"/>
          </a:xfrm>
          <a:prstGeom prst="rect">
            <a:avLst/>
          </a:prstGeom>
        </p:spPr>
      </p:pic>
    </p:spTree>
    <p:extLst>
      <p:ext uri="{BB962C8B-B14F-4D97-AF65-F5344CB8AC3E}">
        <p14:creationId xmlns:p14="http://schemas.microsoft.com/office/powerpoint/2010/main" val="20137296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BC8648-7538-C793-0791-4FA3E84B0AA0}"/>
              </a:ext>
            </a:extLst>
          </p:cNvPr>
          <p:cNvSpPr>
            <a:spLocks noGrp="1"/>
          </p:cNvSpPr>
          <p:nvPr>
            <p:ph type="title"/>
          </p:nvPr>
        </p:nvSpPr>
        <p:spPr/>
        <p:txBody>
          <a:bodyPr/>
          <a:lstStyle/>
          <a:p>
            <a:r>
              <a:rPr lang="en-US" dirty="0"/>
              <a:t>BatchNorm2d()</a:t>
            </a:r>
          </a:p>
        </p:txBody>
      </p:sp>
      <p:sp>
        <p:nvSpPr>
          <p:cNvPr id="3" name="Content Placeholder 2">
            <a:extLst>
              <a:ext uri="{FF2B5EF4-FFF2-40B4-BE49-F238E27FC236}">
                <a16:creationId xmlns:a16="http://schemas.microsoft.com/office/drawing/2014/main" id="{EB211AA5-801E-5550-3D85-71F57ADF1D69}"/>
              </a:ext>
            </a:extLst>
          </p:cNvPr>
          <p:cNvSpPr>
            <a:spLocks noGrp="1"/>
          </p:cNvSpPr>
          <p:nvPr>
            <p:ph idx="1"/>
          </p:nvPr>
        </p:nvSpPr>
        <p:spPr/>
        <p:txBody>
          <a:bodyPr>
            <a:normAutofit fontScale="92500" lnSpcReduction="10000"/>
          </a:bodyPr>
          <a:lstStyle/>
          <a:p>
            <a:pPr marL="0" indent="0">
              <a:buNone/>
            </a:pPr>
            <a:r>
              <a:rPr lang="en-US" dirty="0"/>
              <a:t>BatchNorm2d normalizes each feature map channel using the mean and variance computed over the mini-batch, then applies learnable scaling and shifting parameters. Does not change the shape.</a:t>
            </a:r>
          </a:p>
          <a:p>
            <a:pPr marL="0" indent="0">
              <a:buNone/>
            </a:pPr>
            <a:r>
              <a:rPr lang="en-US" dirty="0"/>
              <a:t>BatchNorm2d(</a:t>
            </a:r>
            <a:r>
              <a:rPr lang="en-US" dirty="0" err="1"/>
              <a:t>input_channels</a:t>
            </a:r>
            <a:r>
              <a:rPr lang="en-US" dirty="0"/>
              <a:t>) takes in the number of channels (feature maps) from the previous layer and introduces 2*</a:t>
            </a:r>
            <a:r>
              <a:rPr lang="en-US" dirty="0" err="1"/>
              <a:t>input_channels</a:t>
            </a:r>
            <a:r>
              <a:rPr lang="en-US" dirty="0"/>
              <a:t> learnable parameters (a scale and shift parameter per channel).</a:t>
            </a:r>
          </a:p>
          <a:p>
            <a:pPr marL="0" indent="0">
              <a:buNone/>
            </a:pPr>
            <a:r>
              <a:rPr lang="en-US" dirty="0"/>
              <a:t>We will implement this after each convolutional layer. BatchNorm2d() introduces a bias parameter making having a bias in the previous convolutional redundant, thus it is highly </a:t>
            </a:r>
            <a:r>
              <a:rPr lang="en-US" dirty="0" err="1"/>
              <a:t>recommened</a:t>
            </a:r>
            <a:r>
              <a:rPr lang="en-US" dirty="0"/>
              <a:t> to set bias=False in a convolutional layer to reduce number of learning parameters during gradient descent.</a:t>
            </a:r>
          </a:p>
          <a:p>
            <a:pPr marL="0" indent="0">
              <a:buNone/>
            </a:pPr>
            <a:r>
              <a:rPr lang="en-US" dirty="0"/>
              <a:t>Helps improve optimization during training.</a:t>
            </a:r>
          </a:p>
        </p:txBody>
      </p:sp>
    </p:spTree>
    <p:extLst>
      <p:ext uri="{BB962C8B-B14F-4D97-AF65-F5344CB8AC3E}">
        <p14:creationId xmlns:p14="http://schemas.microsoft.com/office/powerpoint/2010/main" val="338429156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65C28-8A9C-40CE-9649-97ACD4C178F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11DEC74-6DBA-4FB1-26D4-C1A895920326}"/>
              </a:ext>
            </a:extLst>
          </p:cNvPr>
          <p:cNvSpPr>
            <a:spLocks noGrp="1"/>
          </p:cNvSpPr>
          <p:nvPr>
            <p:ph idx="1"/>
          </p:nvPr>
        </p:nvSpPr>
        <p:spPr>
          <a:xfrm>
            <a:off x="520493" y="518205"/>
            <a:ext cx="11324826" cy="5821589"/>
          </a:xfrm>
        </p:spPr>
        <p:txBody>
          <a:bodyPr>
            <a:normAutofit fontScale="25000" lnSpcReduction="20000"/>
          </a:bodyPr>
          <a:lstStyle/>
          <a:p>
            <a:pPr marL="0" indent="0">
              <a:buNone/>
            </a:pPr>
            <a:r>
              <a:rPr lang="en-US" sz="5600" dirty="0"/>
              <a:t>class </a:t>
            </a:r>
            <a:r>
              <a:rPr lang="en-US" sz="5600" dirty="0" err="1"/>
              <a:t>EyeNet</a:t>
            </a:r>
            <a:r>
              <a:rPr lang="en-US" sz="5600" dirty="0"/>
              <a:t>(</a:t>
            </a:r>
            <a:r>
              <a:rPr lang="en-US" sz="5600" dirty="0" err="1"/>
              <a:t>nn.Module</a:t>
            </a:r>
            <a:r>
              <a:rPr lang="en-US" sz="5600" dirty="0"/>
              <a:t>):</a:t>
            </a:r>
          </a:p>
          <a:p>
            <a:pPr marL="0" indent="0">
              <a:buNone/>
            </a:pPr>
            <a:r>
              <a:rPr lang="en-US" sz="5600" dirty="0"/>
              <a:t>	def __</a:t>
            </a:r>
            <a:r>
              <a:rPr lang="en-US" sz="5600" dirty="0" err="1"/>
              <a:t>init</a:t>
            </a:r>
            <a:r>
              <a:rPr lang="en-US" sz="5600" dirty="0"/>
              <a:t>__(self): 	</a:t>
            </a:r>
          </a:p>
          <a:p>
            <a:pPr marL="0" indent="0">
              <a:buNone/>
            </a:pPr>
            <a:r>
              <a:rPr lang="en-US" sz="5600" dirty="0"/>
              <a:t>        		super(</a:t>
            </a:r>
            <a:r>
              <a:rPr lang="en-US" sz="5600" dirty="0" err="1"/>
              <a:t>EyeNet</a:t>
            </a:r>
            <a:r>
              <a:rPr lang="en-US" sz="5600" dirty="0"/>
              <a:t>, self).__</a:t>
            </a:r>
            <a:r>
              <a:rPr lang="en-US" sz="5600" dirty="0" err="1"/>
              <a:t>init</a:t>
            </a:r>
            <a:r>
              <a:rPr lang="en-US" sz="5600" dirty="0"/>
              <a:t>__()</a:t>
            </a:r>
          </a:p>
          <a:p>
            <a:pPr marL="0" indent="0">
              <a:buNone/>
            </a:pPr>
            <a:r>
              <a:rPr lang="en-US" sz="5600" dirty="0"/>
              <a:t>		</a:t>
            </a:r>
            <a:r>
              <a:rPr lang="en-US" sz="5600" dirty="0" err="1"/>
              <a:t>self.convolve</a:t>
            </a:r>
            <a:r>
              <a:rPr lang="en-US" sz="5600" dirty="0"/>
              <a:t> = nn.Conv2d(1, 32, </a:t>
            </a:r>
            <a:r>
              <a:rPr lang="en-US" sz="5600" dirty="0" err="1"/>
              <a:t>kernel_size</a:t>
            </a:r>
            <a:r>
              <a:rPr lang="en-US" sz="5600" dirty="0"/>
              <a:t>=3, padding=1) # introduces 1*32*3*3 + 32 parameters</a:t>
            </a:r>
          </a:p>
          <a:p>
            <a:pPr marL="0" indent="0">
              <a:buNone/>
            </a:pPr>
            <a:r>
              <a:rPr lang="en-US" sz="5600" dirty="0"/>
              <a:t>		self.bn1 = nn.BatchNorm2d(32) # introduces 2*32 parameters</a:t>
            </a:r>
          </a:p>
          <a:p>
            <a:pPr marL="0" indent="0">
              <a:buNone/>
            </a:pPr>
            <a:r>
              <a:rPr lang="en-US" sz="5600" dirty="0"/>
              <a:t>		self.convolve2 = nn.Conv2d(32, 32, </a:t>
            </a:r>
            <a:r>
              <a:rPr lang="en-US" sz="5600" dirty="0" err="1"/>
              <a:t>kernel_size</a:t>
            </a:r>
            <a:r>
              <a:rPr lang="en-US" sz="5600" dirty="0"/>
              <a:t>=3 , padding=1) # introduces 32*32*3*3 + 32 parameters</a:t>
            </a:r>
          </a:p>
          <a:p>
            <a:pPr marL="0" indent="0">
              <a:buNone/>
            </a:pPr>
            <a:r>
              <a:rPr lang="en-US" sz="5600" dirty="0"/>
              <a:t>		self.bn2 = nn.BatchNorm2d(32)</a:t>
            </a:r>
          </a:p>
          <a:p>
            <a:pPr marL="0" indent="0">
              <a:buNone/>
            </a:pPr>
            <a:r>
              <a:rPr lang="en-US" sz="5600" dirty="0"/>
              <a:t>		self.pool = nn.MaxPool2d(2, 2)</a:t>
            </a:r>
          </a:p>
          <a:p>
            <a:pPr marL="0" indent="0">
              <a:buNone/>
            </a:pPr>
            <a:r>
              <a:rPr lang="en-US" sz="5600" dirty="0"/>
              <a:t>		</a:t>
            </a:r>
            <a:r>
              <a:rPr lang="en-US" sz="5600" dirty="0" err="1"/>
              <a:t>self.dense_in</a:t>
            </a:r>
            <a:r>
              <a:rPr lang="en-US" sz="5600" dirty="0"/>
              <a:t> = </a:t>
            </a:r>
            <a:r>
              <a:rPr lang="en-US" sz="5600" dirty="0" err="1"/>
              <a:t>nn.Linear</a:t>
            </a:r>
            <a:r>
              <a:rPr lang="en-US" sz="5600" dirty="0"/>
              <a:t>(32*128*128, 128)</a:t>
            </a:r>
          </a:p>
          <a:p>
            <a:pPr marL="0" indent="0">
              <a:buNone/>
            </a:pPr>
            <a:r>
              <a:rPr lang="en-US" sz="5600" dirty="0"/>
              <a:t>		</a:t>
            </a:r>
            <a:r>
              <a:rPr lang="en-US" sz="5600" dirty="0" err="1"/>
              <a:t>self.dense_out</a:t>
            </a:r>
            <a:r>
              <a:rPr lang="en-US" sz="5600" dirty="0"/>
              <a:t> = </a:t>
            </a:r>
            <a:r>
              <a:rPr lang="en-US" sz="5600" dirty="0" err="1"/>
              <a:t>nn.Linear</a:t>
            </a:r>
            <a:r>
              <a:rPr lang="en-US" sz="5600" dirty="0"/>
              <a:t>(128, 4)</a:t>
            </a:r>
          </a:p>
          <a:p>
            <a:pPr marL="0" indent="0">
              <a:buNone/>
            </a:pPr>
            <a:endParaRPr lang="en-US" sz="5600" dirty="0"/>
          </a:p>
          <a:p>
            <a:pPr marL="0" indent="0">
              <a:buNone/>
            </a:pPr>
            <a:r>
              <a:rPr lang="en-US" sz="5600" dirty="0"/>
              <a:t>	def forward(self, x):</a:t>
            </a:r>
          </a:p>
          <a:p>
            <a:pPr marL="0" indent="0">
              <a:buNone/>
            </a:pPr>
            <a:r>
              <a:rPr lang="en-US" sz="5600" dirty="0"/>
              <a:t>		x = </a:t>
            </a:r>
            <a:r>
              <a:rPr lang="en-US" sz="5600" dirty="0" err="1"/>
              <a:t>self.convolve</a:t>
            </a:r>
            <a:r>
              <a:rPr lang="en-US" sz="5600" dirty="0"/>
              <a:t>(x) # 320 parameters</a:t>
            </a:r>
          </a:p>
          <a:p>
            <a:pPr marL="0" indent="0">
              <a:buNone/>
            </a:pPr>
            <a:r>
              <a:rPr lang="en-US" sz="5600" dirty="0"/>
              <a:t>		x = self.bn1(x)  # 64 parameters</a:t>
            </a:r>
          </a:p>
          <a:p>
            <a:pPr marL="0" indent="0">
              <a:buNone/>
            </a:pPr>
            <a:r>
              <a:rPr lang="en-US" sz="5600" dirty="0"/>
              <a:t>		x = self.convolve2(x) # 9248</a:t>
            </a:r>
          </a:p>
          <a:p>
            <a:pPr marL="0" indent="0">
              <a:buNone/>
            </a:pPr>
            <a:r>
              <a:rPr lang="en-US" sz="5600" dirty="0"/>
              <a:t>		x = self.bn2(x) # 64 parameters</a:t>
            </a:r>
          </a:p>
          <a:p>
            <a:pPr marL="0" indent="0">
              <a:buNone/>
            </a:pPr>
            <a:r>
              <a:rPr lang="en-US" sz="5600" dirty="0"/>
              <a:t>		x = self.pool(x) # here, x has a shape of  (B, 32, 128, 128)</a:t>
            </a:r>
          </a:p>
          <a:p>
            <a:pPr marL="0" indent="0">
              <a:buNone/>
            </a:pPr>
            <a:r>
              <a:rPr lang="en-US" sz="5600" dirty="0"/>
              <a:t>		x = torch.flatten(x,1) # flatten all dimensions of tensor except batch dimension, so start index at 1 instead of 0.</a:t>
            </a:r>
          </a:p>
          <a:p>
            <a:pPr marL="0" indent="0">
              <a:buNone/>
            </a:pPr>
            <a:r>
              <a:rPr lang="en-US" sz="5600" dirty="0"/>
              <a:t>		x = </a:t>
            </a:r>
            <a:r>
              <a:rPr lang="en-US" sz="5600" dirty="0" err="1"/>
              <a:t>self.dense_in</a:t>
            </a:r>
            <a:r>
              <a:rPr lang="en-US" sz="5600" dirty="0"/>
              <a:t>(x) # 32*128*128*128 + 128 =  enormous number of parameters</a:t>
            </a:r>
          </a:p>
          <a:p>
            <a:pPr marL="0" indent="0">
              <a:buNone/>
            </a:pPr>
            <a:r>
              <a:rPr lang="en-US" sz="5600" dirty="0"/>
              <a:t>		x = </a:t>
            </a:r>
            <a:r>
              <a:rPr lang="en-US" sz="5600" dirty="0" err="1"/>
              <a:t>self.dense_out</a:t>
            </a:r>
            <a:r>
              <a:rPr lang="en-US" sz="5600" dirty="0"/>
              <a:t>(x) </a:t>
            </a:r>
          </a:p>
          <a:p>
            <a:pPr marL="0" indent="0">
              <a:buNone/>
            </a:pPr>
            <a:r>
              <a:rPr lang="en-US" sz="5600" dirty="0"/>
              <a:t>		return x</a:t>
            </a:r>
          </a:p>
          <a:p>
            <a:pPr marL="0" indent="0">
              <a:buNone/>
            </a:pPr>
            <a:r>
              <a:rPr lang="en-US" sz="4500" dirty="0"/>
              <a:t>			</a:t>
            </a:r>
            <a:r>
              <a:rPr lang="en-US" sz="1800" dirty="0"/>
              <a:t>			</a:t>
            </a:r>
          </a:p>
          <a:p>
            <a:pPr marL="0" indent="0">
              <a:buNone/>
            </a:pPr>
            <a:r>
              <a:rPr lang="en-US" sz="1800" dirty="0"/>
              <a:t>	</a:t>
            </a:r>
          </a:p>
          <a:p>
            <a:pPr marL="0" indent="0">
              <a:buNone/>
            </a:pPr>
            <a:r>
              <a:rPr lang="en-US" sz="1800" dirty="0"/>
              <a:t>			</a:t>
            </a:r>
            <a:r>
              <a:rPr lang="en-US" sz="5600" dirty="0"/>
              <a:t>	</a:t>
            </a:r>
            <a:endParaRPr lang="en-US" dirty="0"/>
          </a:p>
        </p:txBody>
      </p:sp>
    </p:spTree>
    <p:extLst>
      <p:ext uri="{BB962C8B-B14F-4D97-AF65-F5344CB8AC3E}">
        <p14:creationId xmlns:p14="http://schemas.microsoft.com/office/powerpoint/2010/main" val="10992149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5BD766-84E0-596B-A642-1F0BBA5B7D8B}"/>
              </a:ext>
            </a:extLst>
          </p:cNvPr>
          <p:cNvSpPr>
            <a:spLocks noGrp="1"/>
          </p:cNvSpPr>
          <p:nvPr>
            <p:ph type="title"/>
          </p:nvPr>
        </p:nvSpPr>
        <p:spPr/>
        <p:txBody>
          <a:bodyPr/>
          <a:lstStyle/>
          <a:p>
            <a:r>
              <a:rPr lang="en-US" dirty="0" err="1"/>
              <a:t>AdaptiveAvgPool</a:t>
            </a:r>
            <a:r>
              <a:rPr lang="en-US" dirty="0"/>
              <a:t>()</a:t>
            </a:r>
          </a:p>
        </p:txBody>
      </p:sp>
      <p:sp>
        <p:nvSpPr>
          <p:cNvPr id="3" name="Content Placeholder 2">
            <a:extLst>
              <a:ext uri="{FF2B5EF4-FFF2-40B4-BE49-F238E27FC236}">
                <a16:creationId xmlns:a16="http://schemas.microsoft.com/office/drawing/2014/main" id="{86108998-1337-2B3B-0873-E0738D4A149D}"/>
              </a:ext>
            </a:extLst>
          </p:cNvPr>
          <p:cNvSpPr>
            <a:spLocks noGrp="1"/>
          </p:cNvSpPr>
          <p:nvPr>
            <p:ph idx="1"/>
          </p:nvPr>
        </p:nvSpPr>
        <p:spPr/>
        <p:txBody>
          <a:bodyPr/>
          <a:lstStyle/>
          <a:p>
            <a:pPr marL="0" indent="0">
              <a:buNone/>
            </a:pPr>
            <a:r>
              <a:rPr lang="en-US" dirty="0"/>
              <a:t>AdaptiveAvgPool2d(</a:t>
            </a:r>
            <a:r>
              <a:rPr lang="en-US" dirty="0" err="1"/>
              <a:t>output_size</a:t>
            </a:r>
            <a:r>
              <a:rPr lang="en-US" dirty="0"/>
              <a:t>) is a pooling algorithm that takes a tuple (</a:t>
            </a:r>
            <a:r>
              <a:rPr lang="en-US" dirty="0" err="1"/>
              <a:t>h,w</a:t>
            </a:r>
            <a:r>
              <a:rPr lang="en-US" dirty="0"/>
              <a:t>) and transforms each channel so that its spatial dimensions become (</a:t>
            </a:r>
            <a:r>
              <a:rPr lang="en-US" dirty="0" err="1"/>
              <a:t>h,w</a:t>
            </a:r>
            <a:r>
              <a:rPr lang="en-US" dirty="0"/>
              <a:t>).</a:t>
            </a:r>
          </a:p>
          <a:p>
            <a:pPr marL="0" indent="0">
              <a:buNone/>
            </a:pPr>
            <a:r>
              <a:rPr lang="en-US" dirty="0"/>
              <a:t>Using AdaptiveAvgPool2d((1,1)) reduces each feature map to a single value, producing an output of shape (B, channels, 1,1).</a:t>
            </a:r>
          </a:p>
          <a:p>
            <a:pPr marL="0" indent="0">
              <a:buNone/>
            </a:pPr>
            <a:r>
              <a:rPr lang="en-US" dirty="0"/>
              <a:t>This greatly reduces the number of parameters to just the number of feature maps required in the dense layers.</a:t>
            </a:r>
          </a:p>
        </p:txBody>
      </p:sp>
    </p:spTree>
    <p:extLst>
      <p:ext uri="{BB962C8B-B14F-4D97-AF65-F5344CB8AC3E}">
        <p14:creationId xmlns:p14="http://schemas.microsoft.com/office/powerpoint/2010/main" val="226158748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EA072E2F-6575-CA8A-C899-39D68F475208}"/>
              </a:ext>
            </a:extLst>
          </p:cNvPr>
          <p:cNvSpPr txBox="1">
            <a:spLocks/>
          </p:cNvSpPr>
          <p:nvPr/>
        </p:nvSpPr>
        <p:spPr>
          <a:xfrm>
            <a:off x="433587" y="329741"/>
            <a:ext cx="11324826" cy="5821589"/>
          </a:xfrm>
          <a:prstGeom prst="rect">
            <a:avLst/>
          </a:prstGeom>
        </p:spPr>
        <p:txBody>
          <a:bodyPr>
            <a:normAutofit fontScale="2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5600" dirty="0"/>
              <a:t>class </a:t>
            </a:r>
            <a:r>
              <a:rPr lang="en-US" sz="5600" dirty="0" err="1"/>
              <a:t>EyeNet</a:t>
            </a:r>
            <a:r>
              <a:rPr lang="en-US" sz="5600" dirty="0"/>
              <a:t>(</a:t>
            </a:r>
            <a:r>
              <a:rPr lang="en-US" sz="5600" dirty="0" err="1"/>
              <a:t>nn.Module</a:t>
            </a:r>
            <a:r>
              <a:rPr lang="en-US" sz="5600" dirty="0"/>
              <a:t>):</a:t>
            </a:r>
          </a:p>
          <a:p>
            <a:pPr marL="0" indent="0">
              <a:buFont typeface="Arial" panose="020B0604020202020204" pitchFamily="34" charset="0"/>
              <a:buNone/>
            </a:pPr>
            <a:r>
              <a:rPr lang="en-US" sz="5600" dirty="0"/>
              <a:t>	def __</a:t>
            </a:r>
            <a:r>
              <a:rPr lang="en-US" sz="5600" dirty="0" err="1"/>
              <a:t>init</a:t>
            </a:r>
            <a:r>
              <a:rPr lang="en-US" sz="5600" dirty="0"/>
              <a:t>__(self): 	</a:t>
            </a:r>
          </a:p>
          <a:p>
            <a:pPr marL="0" indent="0">
              <a:buFont typeface="Arial" panose="020B0604020202020204" pitchFamily="34" charset="0"/>
              <a:buNone/>
            </a:pPr>
            <a:r>
              <a:rPr lang="en-US" sz="5600" dirty="0"/>
              <a:t>        		super(</a:t>
            </a:r>
            <a:r>
              <a:rPr lang="en-US" sz="5600" dirty="0" err="1"/>
              <a:t>EyeNet</a:t>
            </a:r>
            <a:r>
              <a:rPr lang="en-US" sz="5600" dirty="0"/>
              <a:t>, self).__</a:t>
            </a:r>
            <a:r>
              <a:rPr lang="en-US" sz="5600" dirty="0" err="1"/>
              <a:t>init</a:t>
            </a:r>
            <a:r>
              <a:rPr lang="en-US" sz="5600" dirty="0"/>
              <a:t>__()</a:t>
            </a:r>
          </a:p>
          <a:p>
            <a:pPr marL="0" indent="0">
              <a:buFont typeface="Arial" panose="020B0604020202020204" pitchFamily="34" charset="0"/>
              <a:buNone/>
            </a:pPr>
            <a:r>
              <a:rPr lang="en-US" sz="5600" dirty="0"/>
              <a:t>		</a:t>
            </a:r>
            <a:r>
              <a:rPr lang="en-US" sz="5600" dirty="0" err="1"/>
              <a:t>self.convolve</a:t>
            </a:r>
            <a:r>
              <a:rPr lang="en-US" sz="5600" dirty="0"/>
              <a:t> = nn.Conv2d(1, 32, </a:t>
            </a:r>
            <a:r>
              <a:rPr lang="en-US" sz="5600" dirty="0" err="1"/>
              <a:t>kernel_size</a:t>
            </a:r>
            <a:r>
              <a:rPr lang="en-US" sz="5600" dirty="0"/>
              <a:t>=3, padding=1) # introduces 1*32*3*3 + 32 parameters</a:t>
            </a:r>
          </a:p>
          <a:p>
            <a:pPr marL="0" indent="0">
              <a:buFont typeface="Arial" panose="020B0604020202020204" pitchFamily="34" charset="0"/>
              <a:buNone/>
            </a:pPr>
            <a:r>
              <a:rPr lang="en-US" sz="5600" dirty="0"/>
              <a:t>		self.bn1 = nn.BatchNorm2d(32) # introduces 2*32 parameters</a:t>
            </a:r>
          </a:p>
          <a:p>
            <a:pPr marL="0" indent="0">
              <a:buFont typeface="Arial" panose="020B0604020202020204" pitchFamily="34" charset="0"/>
              <a:buNone/>
            </a:pPr>
            <a:r>
              <a:rPr lang="en-US" sz="5600" dirty="0"/>
              <a:t>		self.convolve2 = nn.Conv2d(32, 32, </a:t>
            </a:r>
            <a:r>
              <a:rPr lang="en-US" sz="5600" dirty="0" err="1"/>
              <a:t>kernel_size</a:t>
            </a:r>
            <a:r>
              <a:rPr lang="en-US" sz="5600" dirty="0"/>
              <a:t>=3 , padding=1) # introduces 32*32*3*3 + 32 parameters</a:t>
            </a:r>
          </a:p>
          <a:p>
            <a:pPr marL="0" indent="0">
              <a:buFont typeface="Arial" panose="020B0604020202020204" pitchFamily="34" charset="0"/>
              <a:buNone/>
            </a:pPr>
            <a:r>
              <a:rPr lang="en-US" sz="5600" dirty="0"/>
              <a:t>		self.bn2 = nn.BatchNorm2d(32)</a:t>
            </a:r>
          </a:p>
          <a:p>
            <a:pPr marL="0" indent="0">
              <a:buFont typeface="Arial" panose="020B0604020202020204" pitchFamily="34" charset="0"/>
              <a:buNone/>
            </a:pPr>
            <a:r>
              <a:rPr lang="en-US" sz="5600" dirty="0"/>
              <a:t>		self.pool = nn.MaxPool2d(2, 2)</a:t>
            </a:r>
          </a:p>
          <a:p>
            <a:pPr marL="0" indent="0">
              <a:buFont typeface="Arial" panose="020B0604020202020204" pitchFamily="34" charset="0"/>
              <a:buNone/>
            </a:pPr>
            <a:r>
              <a:rPr lang="en-US" sz="5600" dirty="0"/>
              <a:t>		</a:t>
            </a:r>
            <a:r>
              <a:rPr lang="en-US" sz="5600" dirty="0" err="1"/>
              <a:t>self.avg_pool</a:t>
            </a:r>
            <a:r>
              <a:rPr lang="en-US" sz="5600" dirty="0"/>
              <a:t> = nn.AdaptiveAvgPool2d((1,1))</a:t>
            </a:r>
          </a:p>
          <a:p>
            <a:pPr marL="0" indent="0">
              <a:buFont typeface="Arial" panose="020B0604020202020204" pitchFamily="34" charset="0"/>
              <a:buNone/>
            </a:pPr>
            <a:r>
              <a:rPr lang="en-US" sz="5600" dirty="0"/>
              <a:t>		</a:t>
            </a:r>
            <a:r>
              <a:rPr lang="en-US" sz="5600" dirty="0" err="1"/>
              <a:t>self.dense_in</a:t>
            </a:r>
            <a:r>
              <a:rPr lang="en-US" sz="5600" dirty="0"/>
              <a:t> = </a:t>
            </a:r>
            <a:r>
              <a:rPr lang="en-US" sz="5600" dirty="0" err="1"/>
              <a:t>nn.Linear</a:t>
            </a:r>
            <a:r>
              <a:rPr lang="en-US" sz="5600" dirty="0"/>
              <a:t>(32*1*1, 128)</a:t>
            </a:r>
          </a:p>
          <a:p>
            <a:pPr marL="0" indent="0">
              <a:buFont typeface="Arial" panose="020B0604020202020204" pitchFamily="34" charset="0"/>
              <a:buNone/>
            </a:pPr>
            <a:r>
              <a:rPr lang="en-US" sz="5600" dirty="0"/>
              <a:t>		</a:t>
            </a:r>
            <a:r>
              <a:rPr lang="en-US" sz="5600" dirty="0" err="1"/>
              <a:t>self.dense_out</a:t>
            </a:r>
            <a:r>
              <a:rPr lang="en-US" sz="5600" dirty="0"/>
              <a:t> = </a:t>
            </a:r>
            <a:r>
              <a:rPr lang="en-US" sz="5600" dirty="0" err="1"/>
              <a:t>nn.Linear</a:t>
            </a:r>
            <a:r>
              <a:rPr lang="en-US" sz="5600" dirty="0"/>
              <a:t>(128, 4)</a:t>
            </a:r>
          </a:p>
          <a:p>
            <a:pPr marL="0" indent="0">
              <a:buFont typeface="Arial" panose="020B0604020202020204" pitchFamily="34" charset="0"/>
              <a:buNone/>
            </a:pPr>
            <a:endParaRPr lang="en-US" sz="5600" dirty="0"/>
          </a:p>
          <a:p>
            <a:pPr marL="0" indent="0">
              <a:buFont typeface="Arial" panose="020B0604020202020204" pitchFamily="34" charset="0"/>
              <a:buNone/>
            </a:pPr>
            <a:r>
              <a:rPr lang="en-US" sz="5600" dirty="0"/>
              <a:t>	def forward(self, x):</a:t>
            </a:r>
          </a:p>
          <a:p>
            <a:pPr marL="0" indent="0">
              <a:buFont typeface="Arial" panose="020B0604020202020204" pitchFamily="34" charset="0"/>
              <a:buNone/>
            </a:pPr>
            <a:r>
              <a:rPr lang="en-US" sz="5600" dirty="0"/>
              <a:t>		x = </a:t>
            </a:r>
            <a:r>
              <a:rPr lang="en-US" sz="5600" dirty="0" err="1"/>
              <a:t>self.convolve</a:t>
            </a:r>
            <a:r>
              <a:rPr lang="en-US" sz="5600" dirty="0"/>
              <a:t>(x) # 320 parameters</a:t>
            </a:r>
          </a:p>
          <a:p>
            <a:pPr marL="0" indent="0">
              <a:buFont typeface="Arial" panose="020B0604020202020204" pitchFamily="34" charset="0"/>
              <a:buNone/>
            </a:pPr>
            <a:r>
              <a:rPr lang="en-US" sz="5600" dirty="0"/>
              <a:t>		x = self.bn1(x)  # 64 parameters</a:t>
            </a:r>
          </a:p>
          <a:p>
            <a:pPr marL="0" indent="0">
              <a:buFont typeface="Arial" panose="020B0604020202020204" pitchFamily="34" charset="0"/>
              <a:buNone/>
            </a:pPr>
            <a:r>
              <a:rPr lang="en-US" sz="5600" dirty="0"/>
              <a:t>		x = self.convolve2(x) # 9248 parameters</a:t>
            </a:r>
          </a:p>
          <a:p>
            <a:pPr marL="0" indent="0">
              <a:buFont typeface="Arial" panose="020B0604020202020204" pitchFamily="34" charset="0"/>
              <a:buNone/>
            </a:pPr>
            <a:r>
              <a:rPr lang="en-US" sz="5600" dirty="0"/>
              <a:t>		x = self.bn2(x) # 64 parameters</a:t>
            </a:r>
          </a:p>
          <a:p>
            <a:pPr marL="0" indent="0">
              <a:buFont typeface="Arial" panose="020B0604020202020204" pitchFamily="34" charset="0"/>
              <a:buNone/>
            </a:pPr>
            <a:r>
              <a:rPr lang="en-US" sz="5600" dirty="0"/>
              <a:t>		x = self.pool(x) # Here, x has a shape of  (B, 32, 128, 128)</a:t>
            </a:r>
          </a:p>
          <a:p>
            <a:pPr marL="0" indent="0">
              <a:buNone/>
            </a:pPr>
            <a:r>
              <a:rPr lang="en-US" sz="5600" dirty="0"/>
              <a:t>		x = </a:t>
            </a:r>
            <a:r>
              <a:rPr lang="en-US" sz="5600" dirty="0" err="1"/>
              <a:t>self.avg_pool</a:t>
            </a:r>
            <a:r>
              <a:rPr lang="en-US" sz="5600" dirty="0"/>
              <a:t>(x) # changes x shape to (B, 32, 1, 1)</a:t>
            </a:r>
          </a:p>
          <a:p>
            <a:pPr marL="0" indent="0">
              <a:buFont typeface="Arial" panose="020B0604020202020204" pitchFamily="34" charset="0"/>
              <a:buNone/>
            </a:pPr>
            <a:r>
              <a:rPr lang="en-US" sz="5600" dirty="0"/>
              <a:t>		x = torch.flatten(x,1) # flatten all dimensions of tensor except batch dimension.</a:t>
            </a:r>
          </a:p>
          <a:p>
            <a:pPr marL="0" indent="0">
              <a:buNone/>
            </a:pPr>
            <a:r>
              <a:rPr lang="en-US" sz="5600" dirty="0"/>
              <a:t>		x = </a:t>
            </a:r>
            <a:r>
              <a:rPr lang="en-US" sz="5600" dirty="0" err="1"/>
              <a:t>self.dense_in</a:t>
            </a:r>
            <a:r>
              <a:rPr lang="en-US" sz="5600" dirty="0"/>
              <a:t>(x) # 32*1*1*128 + 128 = </a:t>
            </a:r>
            <a:r>
              <a:rPr lang="en-US" sz="6000" dirty="0"/>
              <a:t>4224</a:t>
            </a:r>
            <a:endParaRPr lang="en-US" sz="5600" dirty="0"/>
          </a:p>
          <a:p>
            <a:pPr marL="0" indent="0">
              <a:buFont typeface="Arial" panose="020B0604020202020204" pitchFamily="34" charset="0"/>
              <a:buNone/>
            </a:pPr>
            <a:r>
              <a:rPr lang="en-US" sz="5600" dirty="0"/>
              <a:t>		x = </a:t>
            </a:r>
            <a:r>
              <a:rPr lang="en-US" sz="5600" dirty="0" err="1"/>
              <a:t>self.dense_out</a:t>
            </a:r>
            <a:r>
              <a:rPr lang="en-US" sz="5600" dirty="0"/>
              <a:t>(x) # 128*4 +4 parameters, return set of 4 logits</a:t>
            </a:r>
          </a:p>
          <a:p>
            <a:pPr marL="0" indent="0">
              <a:buNone/>
            </a:pPr>
            <a:r>
              <a:rPr lang="en-US" sz="5600" dirty="0"/>
              <a:t>		return x 	               # </a:t>
            </a:r>
            <a:r>
              <a:rPr lang="en-US" sz="5600" dirty="0" err="1"/>
              <a:t>total_parameters</a:t>
            </a:r>
            <a:r>
              <a:rPr lang="en-US" sz="5600" dirty="0"/>
              <a:t> = </a:t>
            </a:r>
            <a:r>
              <a:rPr lang="en-US" sz="6000" dirty="0"/>
              <a:t>320+64+9248+64+4224+516=14436</a:t>
            </a:r>
            <a:endParaRPr lang="en-US" sz="5600" dirty="0"/>
          </a:p>
          <a:p>
            <a:pPr marL="0" indent="0">
              <a:buFont typeface="Arial" panose="020B0604020202020204" pitchFamily="34" charset="0"/>
              <a:buNone/>
            </a:pPr>
            <a:r>
              <a:rPr lang="en-US" sz="4500" dirty="0"/>
              <a:t>			</a:t>
            </a:r>
            <a:r>
              <a:rPr lang="en-US" sz="1800" dirty="0"/>
              <a:t>			</a:t>
            </a:r>
          </a:p>
          <a:p>
            <a:pPr marL="0" indent="0">
              <a:buFont typeface="Arial" panose="020B0604020202020204" pitchFamily="34" charset="0"/>
              <a:buNone/>
            </a:pPr>
            <a:r>
              <a:rPr lang="en-US" sz="1800" dirty="0"/>
              <a:t>	</a:t>
            </a:r>
          </a:p>
          <a:p>
            <a:pPr marL="0" indent="0">
              <a:buFont typeface="Arial" panose="020B0604020202020204" pitchFamily="34" charset="0"/>
              <a:buNone/>
            </a:pPr>
            <a:r>
              <a:rPr lang="en-US" sz="1800" dirty="0"/>
              <a:t>			</a:t>
            </a:r>
            <a:r>
              <a:rPr lang="en-US" sz="5600" dirty="0"/>
              <a:t>	</a:t>
            </a:r>
            <a:endParaRPr lang="en-US" dirty="0"/>
          </a:p>
        </p:txBody>
      </p:sp>
    </p:spTree>
    <p:extLst>
      <p:ext uri="{BB962C8B-B14F-4D97-AF65-F5344CB8AC3E}">
        <p14:creationId xmlns:p14="http://schemas.microsoft.com/office/powerpoint/2010/main" val="246364505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82492-8485-5B2E-D2E0-DB8B5CFEA0B6}"/>
              </a:ext>
            </a:extLst>
          </p:cNvPr>
          <p:cNvSpPr>
            <a:spLocks noGrp="1"/>
          </p:cNvSpPr>
          <p:nvPr>
            <p:ph type="title"/>
          </p:nvPr>
        </p:nvSpPr>
        <p:spPr/>
        <p:txBody>
          <a:bodyPr/>
          <a:lstStyle/>
          <a:p>
            <a:r>
              <a:rPr lang="en-US" dirty="0"/>
              <a:t>New architecture</a:t>
            </a:r>
          </a:p>
        </p:txBody>
      </p:sp>
      <p:sp>
        <p:nvSpPr>
          <p:cNvPr id="3" name="Content Placeholder 2">
            <a:extLst>
              <a:ext uri="{FF2B5EF4-FFF2-40B4-BE49-F238E27FC236}">
                <a16:creationId xmlns:a16="http://schemas.microsoft.com/office/drawing/2014/main" id="{90873E1E-733A-7602-DE91-0C7BEB6A198E}"/>
              </a:ext>
            </a:extLst>
          </p:cNvPr>
          <p:cNvSpPr>
            <a:spLocks noGrp="1"/>
          </p:cNvSpPr>
          <p:nvPr>
            <p:ph idx="1"/>
          </p:nvPr>
        </p:nvSpPr>
        <p:spPr/>
        <p:txBody>
          <a:bodyPr>
            <a:normAutofit fontScale="62500" lnSpcReduction="20000"/>
          </a:bodyPr>
          <a:lstStyle/>
          <a:p>
            <a:pPr marL="0" indent="0">
              <a:buNone/>
            </a:pPr>
            <a:r>
              <a:rPr lang="en-US" dirty="0"/>
              <a:t>Input raw images 83484 training samples w/ shape (channels, 256, 256).</a:t>
            </a:r>
          </a:p>
          <a:p>
            <a:pPr marL="0" indent="0">
              <a:buNone/>
            </a:pPr>
            <a:r>
              <a:rPr lang="en-US" dirty="0"/>
              <a:t>→ Transform and batch data in size of 16, # shape becomes (16, 1, 256, 256)</a:t>
            </a:r>
          </a:p>
          <a:p>
            <a:pPr marL="0" indent="0">
              <a:buNone/>
            </a:pPr>
            <a:r>
              <a:rPr lang="en-US" dirty="0"/>
              <a:t>→ [Conv + BN + </a:t>
            </a:r>
            <a:r>
              <a:rPr lang="en-US" dirty="0" err="1"/>
              <a:t>ReLU</a:t>
            </a:r>
            <a:r>
              <a:rPr lang="en-US" dirty="0"/>
              <a:t>] × 2 </a:t>
            </a:r>
          </a:p>
          <a:p>
            <a:pPr marL="0" indent="0">
              <a:buNone/>
            </a:pPr>
            <a:r>
              <a:rPr lang="en-US" dirty="0"/>
              <a:t>→ </a:t>
            </a:r>
            <a:r>
              <a:rPr lang="en-US" dirty="0" err="1"/>
              <a:t>MaxPool</a:t>
            </a:r>
            <a:r>
              <a:rPr lang="en-US" dirty="0"/>
              <a:t> </a:t>
            </a:r>
          </a:p>
          <a:p>
            <a:pPr marL="0" indent="0">
              <a:buNone/>
            </a:pPr>
            <a:r>
              <a:rPr lang="en-US" dirty="0"/>
              <a:t>→ [Conv + BN + </a:t>
            </a:r>
            <a:r>
              <a:rPr lang="en-US" dirty="0" err="1"/>
              <a:t>ReLU</a:t>
            </a:r>
            <a:r>
              <a:rPr lang="en-US" dirty="0"/>
              <a:t>] × 2   </a:t>
            </a:r>
          </a:p>
          <a:p>
            <a:pPr marL="0" indent="0">
              <a:buNone/>
            </a:pPr>
            <a:r>
              <a:rPr lang="en-US" dirty="0"/>
              <a:t>→ </a:t>
            </a:r>
            <a:r>
              <a:rPr lang="en-US" dirty="0" err="1"/>
              <a:t>MaxPool</a:t>
            </a:r>
            <a:r>
              <a:rPr lang="en-US" dirty="0"/>
              <a:t>  </a:t>
            </a:r>
          </a:p>
          <a:p>
            <a:pPr marL="0" indent="0">
              <a:buNone/>
            </a:pPr>
            <a:r>
              <a:rPr lang="en-US" dirty="0"/>
              <a:t>→ [Conv + BN + </a:t>
            </a:r>
            <a:r>
              <a:rPr lang="en-US" dirty="0" err="1"/>
              <a:t>ReLU</a:t>
            </a:r>
            <a:r>
              <a:rPr lang="en-US" dirty="0"/>
              <a:t>] x 2</a:t>
            </a:r>
          </a:p>
          <a:p>
            <a:pPr marL="0" indent="0">
              <a:buNone/>
            </a:pPr>
            <a:r>
              <a:rPr lang="en-US" dirty="0"/>
              <a:t>→ </a:t>
            </a:r>
            <a:r>
              <a:rPr lang="en-US" dirty="0" err="1"/>
              <a:t>MaxPool</a:t>
            </a:r>
            <a:r>
              <a:rPr lang="en-US" dirty="0"/>
              <a:t>  </a:t>
            </a:r>
          </a:p>
          <a:p>
            <a:pPr marL="0" indent="0">
              <a:buNone/>
            </a:pPr>
            <a:r>
              <a:rPr lang="en-US" dirty="0"/>
              <a:t>→ [Conv + BN + </a:t>
            </a:r>
            <a:r>
              <a:rPr lang="en-US" dirty="0" err="1"/>
              <a:t>ReLU</a:t>
            </a:r>
            <a:r>
              <a:rPr lang="en-US" dirty="0"/>
              <a:t>] x 2</a:t>
            </a:r>
          </a:p>
          <a:p>
            <a:pPr marL="0" indent="0">
              <a:buNone/>
            </a:pPr>
            <a:r>
              <a:rPr lang="en-US" dirty="0"/>
              <a:t>→ </a:t>
            </a:r>
            <a:r>
              <a:rPr lang="en-US" dirty="0" err="1"/>
              <a:t>AdaptiveAvgPool</a:t>
            </a:r>
            <a:r>
              <a:rPr lang="en-US" dirty="0"/>
              <a:t> (condense each final feature map to 1 scalar)  </a:t>
            </a:r>
          </a:p>
          <a:p>
            <a:pPr marL="0" indent="0">
              <a:buNone/>
            </a:pPr>
            <a:r>
              <a:rPr lang="en-US" dirty="0"/>
              <a:t>→ Dense layers</a:t>
            </a:r>
          </a:p>
          <a:p>
            <a:pPr marL="0" indent="0">
              <a:buNone/>
            </a:pPr>
            <a:r>
              <a:rPr lang="en-US" dirty="0"/>
              <a:t>→ 4 logits whose indices correspond to the 4 classes: ['CNV', 'DME', 'DRUSEN', 'NORMAL’]</a:t>
            </a:r>
          </a:p>
          <a:p>
            <a:pPr marL="0" indent="0">
              <a:buNone/>
            </a:pPr>
            <a:r>
              <a:rPr lang="en-US" dirty="0"/>
              <a:t>→ Loss function</a:t>
            </a:r>
          </a:p>
          <a:p>
            <a:endParaRPr lang="en-US" dirty="0"/>
          </a:p>
          <a:p>
            <a:endParaRPr lang="en-US" dirty="0"/>
          </a:p>
        </p:txBody>
      </p:sp>
    </p:spTree>
    <p:extLst>
      <p:ext uri="{BB962C8B-B14F-4D97-AF65-F5344CB8AC3E}">
        <p14:creationId xmlns:p14="http://schemas.microsoft.com/office/powerpoint/2010/main" val="90431745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88CAB6F-897A-23B2-3A28-03AA02334724}"/>
              </a:ext>
            </a:extLst>
          </p:cNvPr>
          <p:cNvSpPr>
            <a:spLocks noGrp="1"/>
          </p:cNvSpPr>
          <p:nvPr>
            <p:ph idx="1"/>
          </p:nvPr>
        </p:nvSpPr>
        <p:spPr>
          <a:xfrm>
            <a:off x="397869" y="530492"/>
            <a:ext cx="10955931" cy="5646471"/>
          </a:xfrm>
        </p:spPr>
        <p:txBody>
          <a:bodyPr>
            <a:normAutofit fontScale="77500" lnSpcReduction="20000"/>
          </a:bodyPr>
          <a:lstStyle/>
          <a:p>
            <a:pPr marL="0" indent="0">
              <a:buNone/>
            </a:pPr>
            <a:r>
              <a:rPr lang="en-US" sz="1400" dirty="0"/>
              <a:t>class </a:t>
            </a:r>
            <a:r>
              <a:rPr lang="en-US" sz="1400" dirty="0" err="1"/>
              <a:t>EyeNet</a:t>
            </a:r>
            <a:r>
              <a:rPr lang="en-US" sz="1400" dirty="0"/>
              <a:t>(</a:t>
            </a:r>
            <a:r>
              <a:rPr lang="en-US" sz="1400" dirty="0" err="1"/>
              <a:t>nn.Module</a:t>
            </a:r>
            <a:r>
              <a:rPr lang="en-US" sz="1400" dirty="0"/>
              <a:t>):</a:t>
            </a:r>
          </a:p>
          <a:p>
            <a:pPr marL="0" indent="0">
              <a:buNone/>
            </a:pPr>
            <a:r>
              <a:rPr lang="en-US" sz="1400" dirty="0"/>
              <a:t>	def __</a:t>
            </a:r>
            <a:r>
              <a:rPr lang="en-US" sz="1400" dirty="0" err="1"/>
              <a:t>init</a:t>
            </a:r>
            <a:r>
              <a:rPr lang="en-US" sz="1400" dirty="0"/>
              <a:t>__(self): 	</a:t>
            </a:r>
          </a:p>
          <a:p>
            <a:pPr marL="0" indent="0">
              <a:buNone/>
            </a:pPr>
            <a:r>
              <a:rPr lang="en-US" sz="1400" dirty="0"/>
              <a:t>        		super(</a:t>
            </a:r>
            <a:r>
              <a:rPr lang="en-US" sz="1400" dirty="0" err="1"/>
              <a:t>EyeNet</a:t>
            </a:r>
            <a:r>
              <a:rPr lang="en-US" sz="1400" dirty="0"/>
              <a:t>, self).__</a:t>
            </a:r>
            <a:r>
              <a:rPr lang="en-US" sz="1400" dirty="0" err="1"/>
              <a:t>init</a:t>
            </a:r>
            <a:r>
              <a:rPr lang="en-US" sz="1400" dirty="0"/>
              <a:t>__()</a:t>
            </a:r>
          </a:p>
          <a:p>
            <a:pPr marL="0" indent="0">
              <a:buNone/>
            </a:pPr>
            <a:r>
              <a:rPr lang="en-US" sz="1400" dirty="0"/>
              <a:t>		# block 1, after every block </a:t>
            </a:r>
            <a:r>
              <a:rPr lang="en-US" sz="1400" dirty="0" err="1"/>
              <a:t>downsample</a:t>
            </a:r>
            <a:r>
              <a:rPr lang="en-US" sz="1400" dirty="0"/>
              <a:t> with </a:t>
            </a:r>
            <a:r>
              <a:rPr lang="en-US" sz="1400" dirty="0" err="1"/>
              <a:t>MaxPool</a:t>
            </a:r>
            <a:r>
              <a:rPr lang="en-US" sz="1400" dirty="0"/>
              <a:t>()</a:t>
            </a:r>
          </a:p>
          <a:p>
            <a:pPr marL="0" indent="0">
              <a:buNone/>
            </a:pPr>
            <a:r>
              <a:rPr lang="en-US" sz="1400" dirty="0"/>
              <a:t>		</a:t>
            </a:r>
            <a:r>
              <a:rPr lang="en-US" sz="1400" dirty="0" err="1"/>
              <a:t>self.convolve</a:t>
            </a:r>
            <a:r>
              <a:rPr lang="en-US" sz="1400" dirty="0"/>
              <a:t> = nn.Conv2d(1, 32, </a:t>
            </a:r>
            <a:r>
              <a:rPr lang="en-US" sz="1400" dirty="0" err="1"/>
              <a:t>kernel_size</a:t>
            </a:r>
            <a:r>
              <a:rPr lang="en-US" sz="1400" dirty="0"/>
              <a:t>=3, padding=1, bias = False) # introduces 32*1*3*3 parameters</a:t>
            </a:r>
          </a:p>
          <a:p>
            <a:pPr marL="0" indent="0">
              <a:buNone/>
            </a:pPr>
            <a:r>
              <a:rPr lang="en-US" sz="1400" dirty="0"/>
              <a:t>		self.bn1 = nn.BatchNorm2d(32) # introduces 2*32 parameters</a:t>
            </a:r>
          </a:p>
          <a:p>
            <a:pPr marL="0" indent="0">
              <a:buNone/>
            </a:pPr>
            <a:r>
              <a:rPr lang="en-US" sz="1400" dirty="0"/>
              <a:t>		self.convolve2 = nn.Conv2d(32, 32, </a:t>
            </a:r>
            <a:r>
              <a:rPr lang="en-US" sz="1400" dirty="0" err="1"/>
              <a:t>kernel_size</a:t>
            </a:r>
            <a:r>
              <a:rPr lang="en-US" sz="1400" dirty="0"/>
              <a:t>=3 , padding=1, bias = False) # introduces 32*32*3*3 parameters</a:t>
            </a:r>
          </a:p>
          <a:p>
            <a:pPr marL="0" indent="0">
              <a:buNone/>
            </a:pPr>
            <a:r>
              <a:rPr lang="en-US" sz="1400" dirty="0"/>
              <a:t>		self.bn2 = nn.BatchNorm2d(32) # 64 parameters</a:t>
            </a:r>
          </a:p>
          <a:p>
            <a:pPr marL="0" indent="0">
              <a:buNone/>
            </a:pPr>
            <a:r>
              <a:rPr lang="en-US" sz="1400" dirty="0"/>
              <a:t>		# block 1 parameters = 288 + 64 + 9216 + 64 = 9632</a:t>
            </a:r>
          </a:p>
          <a:p>
            <a:pPr marL="0" indent="0">
              <a:buNone/>
            </a:pPr>
            <a:r>
              <a:rPr lang="en-US" sz="1400" dirty="0"/>
              <a:t>		# block 2</a:t>
            </a:r>
          </a:p>
          <a:p>
            <a:pPr marL="0" indent="0">
              <a:buNone/>
            </a:pPr>
            <a:r>
              <a:rPr lang="en-US" sz="1400" dirty="0"/>
              <a:t>		self.convolve3 = nn.Conv2d(32, 64, </a:t>
            </a:r>
            <a:r>
              <a:rPr lang="en-US" sz="1400" dirty="0" err="1"/>
              <a:t>kernel_size</a:t>
            </a:r>
            <a:r>
              <a:rPr lang="en-US" sz="1400" dirty="0"/>
              <a:t>=3, padding=1, bias = False) # introduces 64*32*3*3 parameters</a:t>
            </a:r>
          </a:p>
          <a:p>
            <a:pPr marL="0" indent="0">
              <a:buNone/>
            </a:pPr>
            <a:r>
              <a:rPr lang="en-US" sz="1400" dirty="0"/>
              <a:t>		self.bn3 = nn.BatchNorm2d(64) # introduces 2*64 parameters</a:t>
            </a:r>
          </a:p>
          <a:p>
            <a:pPr marL="0" indent="0">
              <a:buNone/>
            </a:pPr>
            <a:r>
              <a:rPr lang="en-US" sz="1400" dirty="0"/>
              <a:t>		self.convolve4 = nn.Conv2d(64, 64, </a:t>
            </a:r>
            <a:r>
              <a:rPr lang="en-US" sz="1400" dirty="0" err="1"/>
              <a:t>kernel_size</a:t>
            </a:r>
            <a:r>
              <a:rPr lang="en-US" sz="1400" dirty="0"/>
              <a:t>=3 , padding=1, bias = False) # introduces 64*64*3*3 parameters</a:t>
            </a:r>
          </a:p>
          <a:p>
            <a:pPr marL="0" indent="0">
              <a:buNone/>
            </a:pPr>
            <a:r>
              <a:rPr lang="en-US" sz="1400" dirty="0"/>
              <a:t>		self.bn4 = nn.BatchNorm2d(64) # introduces 128 parameters</a:t>
            </a:r>
          </a:p>
          <a:p>
            <a:pPr marL="0" indent="0">
              <a:buNone/>
            </a:pPr>
            <a:r>
              <a:rPr lang="en-US" sz="1400" dirty="0"/>
              <a:t>		 # block 2 parameters = 18432 + 128 + 36864 + 128 = 55552</a:t>
            </a:r>
          </a:p>
          <a:p>
            <a:pPr marL="0" indent="0">
              <a:buNone/>
            </a:pPr>
            <a:r>
              <a:rPr lang="en-US" sz="1400" dirty="0"/>
              <a:t>		self.pool = nn.MaxPool2d(2, 2)</a:t>
            </a:r>
          </a:p>
          <a:p>
            <a:pPr marL="0" indent="0">
              <a:buNone/>
            </a:pPr>
            <a:r>
              <a:rPr lang="en-US" sz="1400" dirty="0"/>
              <a:t>		</a:t>
            </a:r>
            <a:r>
              <a:rPr lang="en-US" sz="1400" dirty="0" err="1"/>
              <a:t>self.avg_pool</a:t>
            </a:r>
            <a:r>
              <a:rPr lang="en-US" sz="1400" dirty="0"/>
              <a:t> = nn.AdaptiveAvgPool2d((1,1)) # collapses shape to (B, C, 1, 1) before dense layer</a:t>
            </a:r>
          </a:p>
          <a:p>
            <a:pPr marL="0" indent="0">
              <a:buNone/>
            </a:pPr>
            <a:r>
              <a:rPr lang="en-US" sz="1400" dirty="0"/>
              <a:t>		</a:t>
            </a:r>
            <a:r>
              <a:rPr lang="en-US" sz="1400" dirty="0" err="1"/>
              <a:t>self.dense_in</a:t>
            </a:r>
            <a:r>
              <a:rPr lang="en-US" sz="1400" dirty="0"/>
              <a:t> = </a:t>
            </a:r>
            <a:r>
              <a:rPr lang="en-US" sz="1400" dirty="0" err="1"/>
              <a:t>nn.Linear</a:t>
            </a:r>
            <a:r>
              <a:rPr lang="en-US" sz="1400" dirty="0"/>
              <a:t>(64, 128) # introduces 64x128 + 128 parameters</a:t>
            </a:r>
          </a:p>
          <a:p>
            <a:pPr marL="0" indent="0">
              <a:buNone/>
            </a:pPr>
            <a:r>
              <a:rPr lang="en-US" sz="1400" dirty="0"/>
              <a:t>		</a:t>
            </a:r>
            <a:r>
              <a:rPr lang="en-US" sz="1400" dirty="0" err="1"/>
              <a:t>self.dense_out</a:t>
            </a:r>
            <a:r>
              <a:rPr lang="en-US" sz="1400" dirty="0"/>
              <a:t> = </a:t>
            </a:r>
            <a:r>
              <a:rPr lang="en-US" sz="1400" dirty="0" err="1"/>
              <a:t>nn.Linear</a:t>
            </a:r>
            <a:r>
              <a:rPr lang="en-US" sz="1400" dirty="0"/>
              <a:t>(128, 4) # introduces 128*4 + 4 parameters</a:t>
            </a:r>
          </a:p>
          <a:p>
            <a:pPr marL="0" indent="0">
              <a:buNone/>
            </a:pPr>
            <a:r>
              <a:rPr lang="en-US" sz="1400" dirty="0"/>
              <a:t>		</a:t>
            </a:r>
          </a:p>
          <a:p>
            <a:pPr marL="0" indent="0">
              <a:buNone/>
            </a:pPr>
            <a:r>
              <a:rPr lang="en-US" dirty="0"/>
              <a:t>		# total params = 74020</a:t>
            </a:r>
          </a:p>
          <a:p>
            <a:pPr marL="0" indent="0">
              <a:buNone/>
            </a:pPr>
            <a:r>
              <a:rPr lang="en-US" dirty="0"/>
              <a:t>	</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57589409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820F7A-742F-AF85-21D9-26CE2D83679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4D3D333-8AE4-7E59-D821-EC447DC63511}"/>
              </a:ext>
            </a:extLst>
          </p:cNvPr>
          <p:cNvSpPr>
            <a:spLocks noGrp="1"/>
          </p:cNvSpPr>
          <p:nvPr>
            <p:ph idx="1"/>
          </p:nvPr>
        </p:nvSpPr>
        <p:spPr>
          <a:xfrm>
            <a:off x="95127" y="913551"/>
            <a:ext cx="10955931" cy="5646471"/>
          </a:xfrm>
        </p:spPr>
        <p:txBody>
          <a:bodyPr>
            <a:normAutofit fontScale="92500" lnSpcReduction="20000"/>
          </a:bodyPr>
          <a:lstStyle/>
          <a:p>
            <a:pPr marL="0" indent="0">
              <a:buNone/>
            </a:pPr>
            <a:r>
              <a:rPr lang="en-US" sz="1400" dirty="0"/>
              <a:t>		# block 3</a:t>
            </a:r>
          </a:p>
          <a:p>
            <a:pPr marL="0" indent="0">
              <a:buNone/>
            </a:pPr>
            <a:r>
              <a:rPr lang="en-US" sz="1400" dirty="0"/>
              <a:t>		self.convolve5 = nn.Conv2d(64, 128, </a:t>
            </a:r>
            <a:r>
              <a:rPr lang="en-US" sz="1400" dirty="0" err="1"/>
              <a:t>kernel_size</a:t>
            </a:r>
            <a:r>
              <a:rPr lang="en-US" sz="1400" dirty="0"/>
              <a:t>=3, padding=1, bias = False) # introduces 128*64*3*3 parameters</a:t>
            </a:r>
          </a:p>
          <a:p>
            <a:pPr marL="0" indent="0">
              <a:buNone/>
            </a:pPr>
            <a:r>
              <a:rPr lang="en-US" sz="1400" dirty="0"/>
              <a:t>		self.bn5 = nn.BatchNorm2d(128) # introduces 128*2 parameters</a:t>
            </a:r>
          </a:p>
          <a:p>
            <a:pPr marL="0" indent="0">
              <a:buNone/>
            </a:pPr>
            <a:r>
              <a:rPr lang="en-US" sz="1400" dirty="0"/>
              <a:t>		self.convolve6 = nn.Conv2d(128, 128, </a:t>
            </a:r>
            <a:r>
              <a:rPr lang="en-US" sz="1400" dirty="0" err="1"/>
              <a:t>kernel_size</a:t>
            </a:r>
            <a:r>
              <a:rPr lang="en-US" sz="1400" dirty="0"/>
              <a:t>=3 , padding=1, bias = False) # introduces 128*128*3*3 parameters</a:t>
            </a:r>
          </a:p>
          <a:p>
            <a:pPr marL="0" indent="0">
              <a:buNone/>
            </a:pPr>
            <a:r>
              <a:rPr lang="en-US" sz="1400" dirty="0"/>
              <a:t>		self.bn6 = nn.BatchNorm2d(128) # introduces 256 parameters</a:t>
            </a:r>
          </a:p>
          <a:p>
            <a:pPr marL="0" indent="0">
              <a:buNone/>
            </a:pPr>
            <a:r>
              <a:rPr lang="en-US" sz="1400" dirty="0"/>
              <a:t>		# block 3 parameters = 73728 + 256 + 147456 + 256 = 221696	</a:t>
            </a:r>
          </a:p>
          <a:p>
            <a:pPr marL="0" indent="0">
              <a:buNone/>
            </a:pPr>
            <a:r>
              <a:rPr lang="en-US" sz="1400" dirty="0"/>
              <a:t>		# block 4</a:t>
            </a:r>
          </a:p>
          <a:p>
            <a:pPr marL="0" indent="0">
              <a:buNone/>
            </a:pPr>
            <a:r>
              <a:rPr lang="en-US" sz="1400" dirty="0"/>
              <a:t>		self.convolve7 = nn.Conv2d(128, 256, </a:t>
            </a:r>
            <a:r>
              <a:rPr lang="en-US" sz="1400" dirty="0" err="1"/>
              <a:t>kernel_size</a:t>
            </a:r>
            <a:r>
              <a:rPr lang="en-US" sz="1400" dirty="0"/>
              <a:t>=3, padding=1, bias = False) # introduces 256*128*3*3 parameters</a:t>
            </a:r>
          </a:p>
          <a:p>
            <a:pPr marL="0" indent="0">
              <a:buNone/>
            </a:pPr>
            <a:r>
              <a:rPr lang="en-US" sz="1400" dirty="0"/>
              <a:t>		self.bn7 = nn.BatchNorm2d(256) # introduces 2*256 parameters</a:t>
            </a:r>
          </a:p>
          <a:p>
            <a:pPr marL="0" indent="0">
              <a:buNone/>
            </a:pPr>
            <a:r>
              <a:rPr lang="en-US" sz="1400" dirty="0"/>
              <a:t>		self.convolve8 = nn.Conv2d(256, 256, </a:t>
            </a:r>
            <a:r>
              <a:rPr lang="en-US" sz="1400" dirty="0" err="1"/>
              <a:t>kernel_size</a:t>
            </a:r>
            <a:r>
              <a:rPr lang="en-US" sz="1400" dirty="0"/>
              <a:t>=3 , padding=1, bias = False) # introduces 256*256*3*3 parameters</a:t>
            </a:r>
          </a:p>
          <a:p>
            <a:pPr marL="0" indent="0">
              <a:buNone/>
            </a:pPr>
            <a:r>
              <a:rPr lang="en-US" sz="1400" dirty="0"/>
              <a:t>		self.bn8 = nn.BatchNorm2d(256) # introduces 512 parameters</a:t>
            </a:r>
          </a:p>
          <a:p>
            <a:pPr marL="0" indent="0">
              <a:buNone/>
            </a:pPr>
            <a:r>
              <a:rPr lang="en-US" sz="1400" dirty="0"/>
              <a:t>		 # block 4 parameters = 294912 + 512 + 589824 + 512 = 885760</a:t>
            </a:r>
          </a:p>
          <a:p>
            <a:pPr marL="0" indent="0">
              <a:buNone/>
            </a:pPr>
            <a:r>
              <a:rPr lang="en-US" sz="1400" dirty="0"/>
              <a:t>		self.pool = nn.MaxPool2d(2, 2)</a:t>
            </a:r>
          </a:p>
          <a:p>
            <a:pPr marL="0" indent="0">
              <a:buNone/>
            </a:pPr>
            <a:r>
              <a:rPr lang="en-US" sz="1400" dirty="0"/>
              <a:t>		</a:t>
            </a:r>
            <a:r>
              <a:rPr lang="en-US" sz="1400" dirty="0" err="1"/>
              <a:t>self.avg_pool</a:t>
            </a:r>
            <a:r>
              <a:rPr lang="en-US" sz="1400" dirty="0"/>
              <a:t> = nn.AdaptiveAvgPool2d((1,1)) # collapses 256 maps to shape (B, C, 1, 1) before dense layer</a:t>
            </a:r>
          </a:p>
          <a:p>
            <a:pPr marL="0" indent="0">
              <a:buNone/>
            </a:pPr>
            <a:r>
              <a:rPr lang="en-US" sz="1400" dirty="0"/>
              <a:t>		</a:t>
            </a:r>
            <a:r>
              <a:rPr lang="en-US" sz="1400" dirty="0" err="1"/>
              <a:t>self.dense_in</a:t>
            </a:r>
            <a:r>
              <a:rPr lang="en-US" sz="1400" dirty="0"/>
              <a:t> = </a:t>
            </a:r>
            <a:r>
              <a:rPr lang="en-US" sz="1400" dirty="0" err="1"/>
              <a:t>nn.Linear</a:t>
            </a:r>
            <a:r>
              <a:rPr lang="en-US" sz="1400" dirty="0"/>
              <a:t>(256, 128) # introduces 256x128 + 128 parameters</a:t>
            </a:r>
          </a:p>
          <a:p>
            <a:pPr marL="0" indent="0">
              <a:buNone/>
            </a:pPr>
            <a:r>
              <a:rPr lang="en-US" sz="1400" dirty="0"/>
              <a:t>		</a:t>
            </a:r>
            <a:r>
              <a:rPr lang="en-US" sz="1400" dirty="0" err="1"/>
              <a:t>self.dense_out</a:t>
            </a:r>
            <a:r>
              <a:rPr lang="en-US" sz="1400" dirty="0"/>
              <a:t> = </a:t>
            </a:r>
            <a:r>
              <a:rPr lang="en-US" sz="1400" dirty="0" err="1"/>
              <a:t>nn.Linear</a:t>
            </a:r>
            <a:r>
              <a:rPr lang="en-US" sz="1400" dirty="0"/>
              <a:t>(128, 4) # introduces 128*4 + 4 parameters</a:t>
            </a:r>
          </a:p>
          <a:p>
            <a:pPr marL="0" indent="0">
              <a:buNone/>
            </a:pPr>
            <a:r>
              <a:rPr lang="en-US" sz="1400" dirty="0"/>
              <a:t>		</a:t>
            </a:r>
          </a:p>
          <a:p>
            <a:pPr marL="0" indent="0">
              <a:buNone/>
            </a:pPr>
            <a:r>
              <a:rPr lang="en-US" dirty="0"/>
              <a:t>		# total params = 9632 + 55552 + 221696 + 885760 = 1172640</a:t>
            </a:r>
          </a:p>
          <a:p>
            <a:pPr marL="0" indent="0">
              <a:buNone/>
            </a:pPr>
            <a:r>
              <a:rPr lang="en-US" dirty="0"/>
              <a:t>	</a:t>
            </a:r>
          </a:p>
          <a:p>
            <a:pPr marL="0" indent="0">
              <a:buNone/>
            </a:pPr>
            <a:endParaRPr lang="en-US" dirty="0"/>
          </a:p>
          <a:p>
            <a:pPr marL="0" indent="0">
              <a:buNone/>
            </a:pPr>
            <a:endParaRPr lang="en-US" dirty="0"/>
          </a:p>
        </p:txBody>
      </p:sp>
      <p:sp>
        <p:nvSpPr>
          <p:cNvPr id="2" name="TextBox 1">
            <a:extLst>
              <a:ext uri="{FF2B5EF4-FFF2-40B4-BE49-F238E27FC236}">
                <a16:creationId xmlns:a16="http://schemas.microsoft.com/office/drawing/2014/main" id="{E270CCF4-1927-5551-5A6D-3BE60EF44703}"/>
              </a:ext>
            </a:extLst>
          </p:cNvPr>
          <p:cNvSpPr txBox="1"/>
          <p:nvPr/>
        </p:nvSpPr>
        <p:spPr>
          <a:xfrm>
            <a:off x="586946" y="234778"/>
            <a:ext cx="8625016" cy="369332"/>
          </a:xfrm>
          <a:prstGeom prst="rect">
            <a:avLst/>
          </a:prstGeom>
          <a:noFill/>
        </p:spPr>
        <p:txBody>
          <a:bodyPr wrap="square" rtlCol="0">
            <a:spAutoFit/>
          </a:bodyPr>
          <a:lstStyle/>
          <a:p>
            <a:r>
              <a:rPr lang="en-US" dirty="0"/>
              <a:t>Add 2 additional blocks before the dense layers:</a:t>
            </a:r>
          </a:p>
        </p:txBody>
      </p:sp>
    </p:spTree>
    <p:extLst>
      <p:ext uri="{BB962C8B-B14F-4D97-AF65-F5344CB8AC3E}">
        <p14:creationId xmlns:p14="http://schemas.microsoft.com/office/powerpoint/2010/main" val="1663439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F4627-76DD-4C5B-C38B-C22F14843431}"/>
              </a:ext>
            </a:extLst>
          </p:cNvPr>
          <p:cNvSpPr>
            <a:spLocks noGrp="1"/>
          </p:cNvSpPr>
          <p:nvPr>
            <p:ph type="title"/>
          </p:nvPr>
        </p:nvSpPr>
        <p:spPr/>
        <p:txBody>
          <a:bodyPr/>
          <a:lstStyle/>
          <a:p>
            <a:r>
              <a:rPr lang="en-US" dirty="0"/>
              <a:t>In the forward pass</a:t>
            </a:r>
          </a:p>
        </p:txBody>
      </p:sp>
      <p:sp>
        <p:nvSpPr>
          <p:cNvPr id="3" name="Content Placeholder 2">
            <a:extLst>
              <a:ext uri="{FF2B5EF4-FFF2-40B4-BE49-F238E27FC236}">
                <a16:creationId xmlns:a16="http://schemas.microsoft.com/office/drawing/2014/main" id="{8D89E10B-1589-AFA2-6F81-B8F4C8C800D9}"/>
              </a:ext>
            </a:extLst>
          </p:cNvPr>
          <p:cNvSpPr>
            <a:spLocks noGrp="1"/>
          </p:cNvSpPr>
          <p:nvPr>
            <p:ph idx="1"/>
          </p:nvPr>
        </p:nvSpPr>
        <p:spPr/>
        <p:txBody>
          <a:bodyPr/>
          <a:lstStyle/>
          <a:p>
            <a:pPr marL="0" indent="0">
              <a:buNone/>
            </a:pPr>
            <a:r>
              <a:rPr lang="en-US" dirty="0"/>
              <a:t>Apply the </a:t>
            </a:r>
            <a:r>
              <a:rPr lang="en-US" dirty="0" err="1"/>
              <a:t>ReLU</a:t>
            </a:r>
            <a:r>
              <a:rPr lang="en-US" dirty="0"/>
              <a:t> function after every BatchNorm2d() operation in the model. Also apply activation functions between the initial dense layer and final dense layer. </a:t>
            </a:r>
          </a:p>
          <a:p>
            <a:pPr marL="0" indent="0">
              <a:buNone/>
            </a:pPr>
            <a:r>
              <a:rPr lang="en-US" dirty="0"/>
              <a:t>Use </a:t>
            </a:r>
            <a:r>
              <a:rPr lang="en-US" dirty="0" err="1"/>
              <a:t>nn.ReLU</a:t>
            </a:r>
            <a:r>
              <a:rPr lang="en-US" dirty="0"/>
              <a:t>(</a:t>
            </a:r>
            <a:r>
              <a:rPr lang="en-US" dirty="0" err="1"/>
              <a:t>in_place</a:t>
            </a:r>
            <a:r>
              <a:rPr lang="en-US" dirty="0"/>
              <a:t>=True) to modify the input in place, not create a new object.</a:t>
            </a:r>
          </a:p>
          <a:p>
            <a:pPr marL="0" indent="0">
              <a:buNone/>
            </a:pPr>
            <a:r>
              <a:rPr lang="en-US" dirty="0"/>
              <a:t>Use AdaptiveAvgPool2d((1,1))  on the final activated feature maps before dense layer. Then flatten the tensor for the initial dense layer.</a:t>
            </a:r>
          </a:p>
        </p:txBody>
      </p:sp>
    </p:spTree>
    <p:extLst>
      <p:ext uri="{BB962C8B-B14F-4D97-AF65-F5344CB8AC3E}">
        <p14:creationId xmlns:p14="http://schemas.microsoft.com/office/powerpoint/2010/main" val="241540387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66E5F7-FD07-8BCB-D230-C55115961B2B}"/>
              </a:ext>
            </a:extLst>
          </p:cNvPr>
          <p:cNvSpPr>
            <a:spLocks noGrp="1"/>
          </p:cNvSpPr>
          <p:nvPr>
            <p:ph type="title"/>
          </p:nvPr>
        </p:nvSpPr>
        <p:spPr/>
        <p:txBody>
          <a:bodyPr/>
          <a:lstStyle/>
          <a:p>
            <a:r>
              <a:rPr lang="en-US" dirty="0"/>
              <a:t>Train on individual samples</a:t>
            </a:r>
          </a:p>
        </p:txBody>
      </p:sp>
      <p:sp>
        <p:nvSpPr>
          <p:cNvPr id="3" name="Content Placeholder 2">
            <a:extLst>
              <a:ext uri="{FF2B5EF4-FFF2-40B4-BE49-F238E27FC236}">
                <a16:creationId xmlns:a16="http://schemas.microsoft.com/office/drawing/2014/main" id="{CE1B0C26-DA3F-44D6-39C8-67BD61A1D61F}"/>
              </a:ext>
            </a:extLst>
          </p:cNvPr>
          <p:cNvSpPr>
            <a:spLocks noGrp="1"/>
          </p:cNvSpPr>
          <p:nvPr>
            <p:ph idx="1"/>
          </p:nvPr>
        </p:nvSpPr>
        <p:spPr/>
        <p:txBody>
          <a:bodyPr/>
          <a:lstStyle/>
          <a:p>
            <a:pPr marL="0" indent="0">
              <a:buNone/>
            </a:pPr>
            <a:r>
              <a:rPr lang="en-US" dirty="0"/>
              <a:t>from </a:t>
            </a:r>
            <a:r>
              <a:rPr lang="en-US" dirty="0" err="1"/>
              <a:t>torch.utils.data</a:t>
            </a:r>
            <a:r>
              <a:rPr lang="en-US" dirty="0"/>
              <a:t> import </a:t>
            </a:r>
            <a:r>
              <a:rPr lang="en-US" dirty="0" err="1"/>
              <a:t>DataLoader</a:t>
            </a:r>
            <a:br>
              <a:rPr lang="en-US" dirty="0"/>
            </a:br>
            <a:endParaRPr lang="en-US" dirty="0"/>
          </a:p>
          <a:p>
            <a:pPr marL="0" indent="0">
              <a:buNone/>
            </a:pPr>
            <a:r>
              <a:rPr lang="en-US" dirty="0" err="1"/>
              <a:t>train_loader</a:t>
            </a:r>
            <a:r>
              <a:rPr lang="en-US" dirty="0"/>
              <a:t> = </a:t>
            </a:r>
            <a:r>
              <a:rPr lang="en-US" dirty="0" err="1"/>
              <a:t>DataLoader</a:t>
            </a:r>
            <a:r>
              <a:rPr lang="en-US" dirty="0"/>
              <a:t>(</a:t>
            </a:r>
            <a:r>
              <a:rPr lang="en-US" dirty="0" err="1"/>
              <a:t>train_dataset</a:t>
            </a:r>
            <a:r>
              <a:rPr lang="en-US" dirty="0"/>
              <a:t>, </a:t>
            </a:r>
            <a:r>
              <a:rPr lang="en-US" dirty="0" err="1"/>
              <a:t>batch_size</a:t>
            </a:r>
            <a:r>
              <a:rPr lang="en-US" dirty="0"/>
              <a:t>=1, shuffle=True)</a:t>
            </a:r>
          </a:p>
          <a:p>
            <a:pPr marL="0" indent="0">
              <a:buNone/>
            </a:pPr>
            <a:r>
              <a:rPr lang="en-US" dirty="0" err="1"/>
              <a:t>test_loader</a:t>
            </a:r>
            <a:r>
              <a:rPr lang="en-US" dirty="0"/>
              <a:t>  = </a:t>
            </a:r>
            <a:r>
              <a:rPr lang="en-US" dirty="0" err="1"/>
              <a:t>DataLoader</a:t>
            </a:r>
            <a:r>
              <a:rPr lang="en-US" dirty="0"/>
              <a:t>(</a:t>
            </a:r>
            <a:r>
              <a:rPr lang="en-US" dirty="0" err="1"/>
              <a:t>test_dataset</a:t>
            </a:r>
            <a:r>
              <a:rPr lang="en-US" dirty="0"/>
              <a:t>, </a:t>
            </a:r>
            <a:r>
              <a:rPr lang="en-US" dirty="0" err="1"/>
              <a:t>batch_size</a:t>
            </a:r>
            <a:r>
              <a:rPr lang="en-US" dirty="0"/>
              <a:t>=1, shuffle=False)</a:t>
            </a:r>
          </a:p>
          <a:p>
            <a:pPr marL="0" indent="0">
              <a:buNone/>
            </a:pPr>
            <a:endParaRPr lang="en-US" dirty="0"/>
          </a:p>
          <a:p>
            <a:pPr marL="0" indent="0">
              <a:buNone/>
            </a:pPr>
            <a:r>
              <a:rPr lang="en-US" dirty="0"/>
              <a:t>Let’s train for 1 epoch. That is, the model will train on each sample individually once for the entire dataset.</a:t>
            </a:r>
          </a:p>
          <a:p>
            <a:pPr marL="0" indent="0">
              <a:buNone/>
            </a:pPr>
            <a:endParaRPr lang="en-US" dirty="0"/>
          </a:p>
        </p:txBody>
      </p:sp>
    </p:spTree>
    <p:extLst>
      <p:ext uri="{BB962C8B-B14F-4D97-AF65-F5344CB8AC3E}">
        <p14:creationId xmlns:p14="http://schemas.microsoft.com/office/powerpoint/2010/main" val="374429892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28ECE9-5532-8B01-6EC3-02DAEB947804}"/>
              </a:ext>
            </a:extLst>
          </p:cNvPr>
          <p:cNvSpPr>
            <a:spLocks noGrp="1"/>
          </p:cNvSpPr>
          <p:nvPr>
            <p:ph type="title"/>
          </p:nvPr>
        </p:nvSpPr>
        <p:spPr/>
        <p:txBody>
          <a:bodyPr/>
          <a:lstStyle/>
          <a:p>
            <a:r>
              <a:rPr lang="en-US" dirty="0"/>
              <a:t>CNN Results</a:t>
            </a:r>
          </a:p>
        </p:txBody>
      </p:sp>
      <p:sp>
        <p:nvSpPr>
          <p:cNvPr id="3" name="Content Placeholder 2">
            <a:extLst>
              <a:ext uri="{FF2B5EF4-FFF2-40B4-BE49-F238E27FC236}">
                <a16:creationId xmlns:a16="http://schemas.microsoft.com/office/drawing/2014/main" id="{820A7744-8563-0282-5C93-D68580971FE2}"/>
              </a:ext>
            </a:extLst>
          </p:cNvPr>
          <p:cNvSpPr>
            <a:spLocks noGrp="1"/>
          </p:cNvSpPr>
          <p:nvPr>
            <p:ph idx="1"/>
          </p:nvPr>
        </p:nvSpPr>
        <p:spPr/>
        <p:txBody>
          <a:bodyPr>
            <a:normAutofit fontScale="47500" lnSpcReduction="20000"/>
          </a:bodyPr>
          <a:lstStyle/>
          <a:p>
            <a:pPr marL="0" indent="0">
              <a:buNone/>
            </a:pPr>
            <a:r>
              <a:rPr lang="en-US" dirty="0"/>
              <a:t>Training on </a:t>
            </a:r>
            <a:r>
              <a:rPr lang="en-US" dirty="0" err="1"/>
              <a:t>Colab’s</a:t>
            </a:r>
            <a:r>
              <a:rPr lang="en-US" dirty="0"/>
              <a:t> G4 GPU took a little over 5 minutes to get through the entire training set of 83484 images one at a time.</a:t>
            </a:r>
          </a:p>
          <a:p>
            <a:pPr marL="0" indent="0">
              <a:buNone/>
            </a:pPr>
            <a:r>
              <a:rPr lang="en-US" dirty="0"/>
              <a:t>Now we can set the model to evaluate mode and see how well it performs on classifying images. </a:t>
            </a:r>
          </a:p>
          <a:p>
            <a:pPr marL="0" indent="0">
              <a:buNone/>
            </a:pPr>
            <a:r>
              <a:rPr lang="en-US" dirty="0" err="1"/>
              <a:t>model.eval</a:t>
            </a:r>
            <a:r>
              <a:rPr lang="en-US" dirty="0"/>
              <a:t>()</a:t>
            </a:r>
          </a:p>
          <a:p>
            <a:pPr marL="0" indent="0">
              <a:buNone/>
            </a:pPr>
            <a:r>
              <a:rPr lang="en-US" dirty="0" err="1"/>
              <a:t>test_loss</a:t>
            </a:r>
            <a:r>
              <a:rPr lang="en-US" dirty="0"/>
              <a:t> = 0.0</a:t>
            </a:r>
          </a:p>
          <a:p>
            <a:pPr marL="0" indent="0">
              <a:buNone/>
            </a:pPr>
            <a:r>
              <a:rPr lang="en-US" dirty="0"/>
              <a:t>with </a:t>
            </a:r>
            <a:r>
              <a:rPr lang="en-US" dirty="0" err="1"/>
              <a:t>torch.no_grad</a:t>
            </a:r>
            <a:r>
              <a:rPr lang="en-US" dirty="0"/>
              <a:t>():</a:t>
            </a:r>
          </a:p>
          <a:p>
            <a:pPr marL="0" indent="0">
              <a:buNone/>
            </a:pPr>
            <a:r>
              <a:rPr lang="en-US" dirty="0"/>
              <a:t>	for inputs, labels in </a:t>
            </a:r>
            <a:r>
              <a:rPr lang="en-US" dirty="0" err="1"/>
              <a:t>test_loader</a:t>
            </a:r>
            <a:r>
              <a:rPr lang="en-US" dirty="0"/>
              <a:t>:</a:t>
            </a:r>
          </a:p>
          <a:p>
            <a:pPr marL="0" indent="0">
              <a:buNone/>
            </a:pPr>
            <a:r>
              <a:rPr lang="en-US" dirty="0"/>
              <a:t>        		inputs = inputs.to(device)</a:t>
            </a:r>
          </a:p>
          <a:p>
            <a:pPr marL="0" indent="0">
              <a:buNone/>
            </a:pPr>
            <a:r>
              <a:rPr lang="en-US" dirty="0"/>
              <a:t>        		labels = labels.to(device)</a:t>
            </a:r>
          </a:p>
          <a:p>
            <a:pPr marL="0" indent="0">
              <a:buNone/>
            </a:pPr>
            <a:endParaRPr lang="en-US" dirty="0"/>
          </a:p>
          <a:p>
            <a:pPr marL="0" indent="0">
              <a:buNone/>
            </a:pPr>
            <a:r>
              <a:rPr lang="en-US" dirty="0"/>
              <a:t>        		outputs = model(inputs)</a:t>
            </a:r>
          </a:p>
          <a:p>
            <a:pPr marL="0" indent="0">
              <a:buNone/>
            </a:pPr>
            <a:r>
              <a:rPr lang="en-US" dirty="0"/>
              <a:t>        		loss = criterion(outputs, labels)</a:t>
            </a:r>
          </a:p>
          <a:p>
            <a:pPr marL="0" indent="0">
              <a:buNone/>
            </a:pPr>
            <a:r>
              <a:rPr lang="en-US" dirty="0"/>
              <a:t>        		</a:t>
            </a:r>
            <a:r>
              <a:rPr lang="en-US" dirty="0" err="1"/>
              <a:t>test_loss</a:t>
            </a:r>
            <a:r>
              <a:rPr lang="en-US" dirty="0"/>
              <a:t> += </a:t>
            </a:r>
            <a:r>
              <a:rPr lang="en-US" dirty="0" err="1"/>
              <a:t>loss.item</a:t>
            </a:r>
            <a:r>
              <a:rPr lang="en-US" dirty="0"/>
              <a:t>()</a:t>
            </a:r>
          </a:p>
          <a:p>
            <a:pPr marL="0" indent="0">
              <a:buNone/>
            </a:pPr>
            <a:r>
              <a:rPr lang="en-US" dirty="0"/>
              <a:t># average loss</a:t>
            </a:r>
            <a:br>
              <a:rPr lang="en-US" dirty="0"/>
            </a:br>
            <a:r>
              <a:rPr lang="en-US" dirty="0" err="1"/>
              <a:t>avg_test_loss</a:t>
            </a:r>
            <a:r>
              <a:rPr lang="en-US" dirty="0"/>
              <a:t> = </a:t>
            </a:r>
            <a:r>
              <a:rPr lang="en-US" dirty="0" err="1"/>
              <a:t>test_loss</a:t>
            </a:r>
            <a:r>
              <a:rPr lang="en-US" dirty="0"/>
              <a:t> / </a:t>
            </a:r>
            <a:r>
              <a:rPr lang="en-US" dirty="0" err="1"/>
              <a:t>len</a:t>
            </a:r>
            <a:r>
              <a:rPr lang="en-US" dirty="0"/>
              <a:t>(</a:t>
            </a:r>
            <a:r>
              <a:rPr lang="en-US" dirty="0" err="1"/>
              <a:t>test_loader</a:t>
            </a:r>
            <a:r>
              <a:rPr lang="en-US" dirty="0"/>
              <a:t>)</a:t>
            </a:r>
            <a:br>
              <a:rPr lang="en-US" dirty="0"/>
            </a:br>
            <a:br>
              <a:rPr lang="en-US" dirty="0"/>
            </a:br>
            <a:r>
              <a:rPr lang="en-US" dirty="0"/>
              <a:t># accuracy</a:t>
            </a:r>
            <a:br>
              <a:rPr lang="en-US" dirty="0"/>
            </a:br>
            <a:r>
              <a:rPr lang="en-US" dirty="0" err="1"/>
              <a:t>test_accuracy</a:t>
            </a:r>
            <a:r>
              <a:rPr lang="en-US" dirty="0"/>
              <a:t> = 100 * correct / total</a:t>
            </a:r>
          </a:p>
          <a:p>
            <a:pPr marL="0" indent="0">
              <a:buNone/>
            </a:pPr>
            <a:r>
              <a:rPr lang="en-US" dirty="0"/>
              <a:t>    </a:t>
            </a:r>
          </a:p>
        </p:txBody>
      </p:sp>
    </p:spTree>
    <p:extLst>
      <p:ext uri="{BB962C8B-B14F-4D97-AF65-F5344CB8AC3E}">
        <p14:creationId xmlns:p14="http://schemas.microsoft.com/office/powerpoint/2010/main" val="33940498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9E892B9-4874-517C-2301-1922C00FDD71}"/>
              </a:ext>
            </a:extLst>
          </p:cNvPr>
          <p:cNvPicPr>
            <a:picLocks noChangeAspect="1"/>
          </p:cNvPicPr>
          <p:nvPr/>
        </p:nvPicPr>
        <p:blipFill>
          <a:blip r:embed="rId2"/>
          <a:stretch>
            <a:fillRect/>
          </a:stretch>
        </p:blipFill>
        <p:spPr>
          <a:xfrm>
            <a:off x="2248618" y="944648"/>
            <a:ext cx="8144316" cy="2329893"/>
          </a:xfrm>
          <a:prstGeom prst="rect">
            <a:avLst/>
          </a:prstGeom>
        </p:spPr>
      </p:pic>
      <p:sp>
        <p:nvSpPr>
          <p:cNvPr id="4" name="TextBox 3">
            <a:extLst>
              <a:ext uri="{FF2B5EF4-FFF2-40B4-BE49-F238E27FC236}">
                <a16:creationId xmlns:a16="http://schemas.microsoft.com/office/drawing/2014/main" id="{2451A26C-5C1F-3B89-91E8-1D7FA2731DC8}"/>
              </a:ext>
            </a:extLst>
          </p:cNvPr>
          <p:cNvSpPr txBox="1"/>
          <p:nvPr/>
        </p:nvSpPr>
        <p:spPr>
          <a:xfrm>
            <a:off x="1841157" y="3923270"/>
            <a:ext cx="7346092" cy="1200329"/>
          </a:xfrm>
          <a:prstGeom prst="rect">
            <a:avLst/>
          </a:prstGeom>
          <a:noFill/>
        </p:spPr>
        <p:txBody>
          <a:bodyPr wrap="square" rtlCol="0">
            <a:spAutoFit/>
          </a:bodyPr>
          <a:lstStyle/>
          <a:p>
            <a:r>
              <a:rPr lang="en-US" dirty="0"/>
              <a:t>19 percent accuracy. Worse than random this is bad. But its ok we can try some things. </a:t>
            </a:r>
          </a:p>
          <a:p>
            <a:r>
              <a:rPr lang="en-US" dirty="0"/>
              <a:t>Let’s instantiate a new model and train on 50 epochs and batches of 16 samples.</a:t>
            </a:r>
          </a:p>
        </p:txBody>
      </p:sp>
    </p:spTree>
    <p:extLst>
      <p:ext uri="{BB962C8B-B14F-4D97-AF65-F5344CB8AC3E}">
        <p14:creationId xmlns:p14="http://schemas.microsoft.com/office/powerpoint/2010/main" val="329797179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99F82E-A2C5-4812-BB5C-BE43DD60A668}"/>
              </a:ext>
            </a:extLst>
          </p:cNvPr>
          <p:cNvSpPr>
            <a:spLocks noGrp="1"/>
          </p:cNvSpPr>
          <p:nvPr>
            <p:ph type="title"/>
          </p:nvPr>
        </p:nvSpPr>
        <p:spPr/>
        <p:txBody>
          <a:bodyPr/>
          <a:lstStyle/>
          <a:p>
            <a:r>
              <a:rPr lang="en-US" dirty="0"/>
              <a:t>Final results of model after training for 50 epochs</a:t>
            </a:r>
          </a:p>
        </p:txBody>
      </p:sp>
      <p:sp>
        <p:nvSpPr>
          <p:cNvPr id="3" name="Content Placeholder 2">
            <a:extLst>
              <a:ext uri="{FF2B5EF4-FFF2-40B4-BE49-F238E27FC236}">
                <a16:creationId xmlns:a16="http://schemas.microsoft.com/office/drawing/2014/main" id="{46B4DF26-FE85-293F-F8C1-6DB7EABF2B41}"/>
              </a:ext>
            </a:extLst>
          </p:cNvPr>
          <p:cNvSpPr>
            <a:spLocks noGrp="1"/>
          </p:cNvSpPr>
          <p:nvPr>
            <p:ph idx="1"/>
          </p:nvPr>
        </p:nvSpPr>
        <p:spPr/>
        <p:txBody>
          <a:bodyPr/>
          <a:lstStyle/>
          <a:p>
            <a:pPr marL="0" indent="0">
              <a:buNone/>
            </a:pPr>
            <a:r>
              <a:rPr lang="en-US" dirty="0"/>
              <a:t>3 </a:t>
            </a:r>
            <a:r>
              <a:rPr lang="en-US" dirty="0" err="1"/>
              <a:t>hrs</a:t>
            </a:r>
            <a:r>
              <a:rPr lang="en-US" dirty="0"/>
              <a:t> 41 seconds of training through 50 epochs on G4 GPU. </a:t>
            </a:r>
          </a:p>
          <a:p>
            <a:pPr marL="0" indent="0">
              <a:buNone/>
            </a:pPr>
            <a:r>
              <a:rPr lang="en-US" dirty="0"/>
              <a:t>About $4 of google compute units. (40 units)</a:t>
            </a:r>
          </a:p>
          <a:p>
            <a:pPr marL="0" indent="0">
              <a:buNone/>
            </a:pPr>
            <a:endParaRPr lang="en-US" dirty="0"/>
          </a:p>
          <a:p>
            <a:pPr marL="0" indent="0">
              <a:buNone/>
            </a:pPr>
            <a:endParaRPr lang="en-US" dirty="0"/>
          </a:p>
          <a:p>
            <a:pPr marL="0" indent="0">
              <a:buNone/>
            </a:pPr>
            <a:endParaRPr lang="en-US" dirty="0"/>
          </a:p>
          <a:p>
            <a:pPr marL="0" indent="0">
              <a:buNone/>
            </a:pPr>
            <a:r>
              <a:rPr lang="en-US" dirty="0"/>
              <a:t>On the test set:					On the validation set:</a:t>
            </a:r>
          </a:p>
        </p:txBody>
      </p:sp>
      <p:pic>
        <p:nvPicPr>
          <p:cNvPr id="11" name="Picture 10">
            <a:extLst>
              <a:ext uri="{FF2B5EF4-FFF2-40B4-BE49-F238E27FC236}">
                <a16:creationId xmlns:a16="http://schemas.microsoft.com/office/drawing/2014/main" id="{E1C7BCF6-61D5-D528-4BB9-B4137C23C250}"/>
              </a:ext>
            </a:extLst>
          </p:cNvPr>
          <p:cNvPicPr>
            <a:picLocks noChangeAspect="1"/>
          </p:cNvPicPr>
          <p:nvPr/>
        </p:nvPicPr>
        <p:blipFill>
          <a:blip r:embed="rId2"/>
          <a:srcRect t="58038"/>
          <a:stretch>
            <a:fillRect/>
          </a:stretch>
        </p:blipFill>
        <p:spPr>
          <a:xfrm>
            <a:off x="4251835" y="3105315"/>
            <a:ext cx="2903741" cy="1083311"/>
          </a:xfrm>
          <a:prstGeom prst="rect">
            <a:avLst/>
          </a:prstGeom>
        </p:spPr>
      </p:pic>
      <p:pic>
        <p:nvPicPr>
          <p:cNvPr id="17" name="Picture 16">
            <a:extLst>
              <a:ext uri="{FF2B5EF4-FFF2-40B4-BE49-F238E27FC236}">
                <a16:creationId xmlns:a16="http://schemas.microsoft.com/office/drawing/2014/main" id="{21133104-2A03-33B5-C378-F97BD338F408}"/>
              </a:ext>
            </a:extLst>
          </p:cNvPr>
          <p:cNvPicPr>
            <a:picLocks noChangeAspect="1"/>
          </p:cNvPicPr>
          <p:nvPr/>
        </p:nvPicPr>
        <p:blipFill>
          <a:blip r:embed="rId3"/>
          <a:stretch>
            <a:fillRect/>
          </a:stretch>
        </p:blipFill>
        <p:spPr>
          <a:xfrm>
            <a:off x="838200" y="5168084"/>
            <a:ext cx="4648200" cy="809625"/>
          </a:xfrm>
          <a:prstGeom prst="rect">
            <a:avLst/>
          </a:prstGeom>
        </p:spPr>
      </p:pic>
      <p:pic>
        <p:nvPicPr>
          <p:cNvPr id="19" name="Picture 18">
            <a:extLst>
              <a:ext uri="{FF2B5EF4-FFF2-40B4-BE49-F238E27FC236}">
                <a16:creationId xmlns:a16="http://schemas.microsoft.com/office/drawing/2014/main" id="{28B4E2BF-B1E1-91C3-00CA-DF5124439136}"/>
              </a:ext>
            </a:extLst>
          </p:cNvPr>
          <p:cNvPicPr>
            <a:picLocks noChangeAspect="1"/>
          </p:cNvPicPr>
          <p:nvPr/>
        </p:nvPicPr>
        <p:blipFill>
          <a:blip r:embed="rId4"/>
          <a:stretch>
            <a:fillRect/>
          </a:stretch>
        </p:blipFill>
        <p:spPr>
          <a:xfrm>
            <a:off x="6096000" y="5168084"/>
            <a:ext cx="5019675" cy="790575"/>
          </a:xfrm>
          <a:prstGeom prst="rect">
            <a:avLst/>
          </a:prstGeom>
        </p:spPr>
      </p:pic>
    </p:spTree>
    <p:extLst>
      <p:ext uri="{BB962C8B-B14F-4D97-AF65-F5344CB8AC3E}">
        <p14:creationId xmlns:p14="http://schemas.microsoft.com/office/powerpoint/2010/main" val="40300200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4720FF-23EF-A632-387A-3FE79FB1D160}"/>
              </a:ext>
            </a:extLst>
          </p:cNvPr>
          <p:cNvSpPr>
            <a:spLocks noGrp="1"/>
          </p:cNvSpPr>
          <p:nvPr>
            <p:ph type="title"/>
          </p:nvPr>
        </p:nvSpPr>
        <p:spPr>
          <a:xfrm>
            <a:off x="409575" y="-42865"/>
            <a:ext cx="10515600" cy="1325563"/>
          </a:xfrm>
        </p:spPr>
        <p:txBody>
          <a:bodyPr/>
          <a:lstStyle/>
          <a:p>
            <a:r>
              <a:rPr lang="en-US" dirty="0"/>
              <a:t>Confusion matrices</a:t>
            </a:r>
          </a:p>
        </p:txBody>
      </p:sp>
      <p:pic>
        <p:nvPicPr>
          <p:cNvPr id="3090" name="Picture 18">
            <a:extLst>
              <a:ext uri="{FF2B5EF4-FFF2-40B4-BE49-F238E27FC236}">
                <a16:creationId xmlns:a16="http://schemas.microsoft.com/office/drawing/2014/main" id="{79D92942-D112-9D65-7993-6D8C6F4E1D2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90760" y="1503533"/>
            <a:ext cx="5391150" cy="5210175"/>
          </a:xfrm>
          <a:prstGeom prst="rect">
            <a:avLst/>
          </a:prstGeom>
          <a:noFill/>
          <a:extLst>
            <a:ext uri="{909E8E84-426E-40DD-AFC4-6F175D3DCCD1}">
              <a14:hiddenFill xmlns:a14="http://schemas.microsoft.com/office/drawing/2010/main">
                <a:solidFill>
                  <a:srgbClr val="FFFFFF"/>
                </a:solidFill>
              </a14:hiddenFill>
            </a:ext>
          </a:extLst>
        </p:spPr>
      </p:pic>
      <p:pic>
        <p:nvPicPr>
          <p:cNvPr id="3092" name="Picture 20">
            <a:extLst>
              <a:ext uri="{FF2B5EF4-FFF2-40B4-BE49-F238E27FC236}">
                <a16:creationId xmlns:a16="http://schemas.microsoft.com/office/drawing/2014/main" id="{999EE3D4-21E0-5995-A1B3-9F085ED3CDB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8166" y="1503532"/>
            <a:ext cx="5553075" cy="5210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4723966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E02CF7-BAFA-176D-B2A3-16A147CC1F89}"/>
              </a:ext>
            </a:extLst>
          </p:cNvPr>
          <p:cNvSpPr>
            <a:spLocks noGrp="1"/>
          </p:cNvSpPr>
          <p:nvPr>
            <p:ph type="title"/>
          </p:nvPr>
        </p:nvSpPr>
        <p:spPr/>
        <p:txBody>
          <a:bodyPr/>
          <a:lstStyle/>
          <a:p>
            <a:r>
              <a:rPr lang="en-US" dirty="0"/>
              <a:t>Applying SVM, KNN, and Random Forests using extracted features.</a:t>
            </a:r>
          </a:p>
        </p:txBody>
      </p:sp>
      <p:sp>
        <p:nvSpPr>
          <p:cNvPr id="3" name="Content Placeholder 2">
            <a:extLst>
              <a:ext uri="{FF2B5EF4-FFF2-40B4-BE49-F238E27FC236}">
                <a16:creationId xmlns:a16="http://schemas.microsoft.com/office/drawing/2014/main" id="{1E9FBC0A-2CB5-A859-22E5-D85353D80C07}"/>
              </a:ext>
            </a:extLst>
          </p:cNvPr>
          <p:cNvSpPr>
            <a:spLocks noGrp="1"/>
          </p:cNvSpPr>
          <p:nvPr>
            <p:ph idx="1"/>
          </p:nvPr>
        </p:nvSpPr>
        <p:spPr/>
        <p:txBody>
          <a:bodyPr>
            <a:normAutofit/>
          </a:bodyPr>
          <a:lstStyle/>
          <a:p>
            <a:pPr marL="0" indent="0">
              <a:buNone/>
            </a:pPr>
            <a:r>
              <a:rPr lang="en-US" dirty="0"/>
              <a:t>“While DCNNs can be used to perform classification (or other machine learning tasks such as regression) directly, typically based on the output of the last network layer, they can also act as stand-alone feature extractors with the resulting features fed into a classifier such as a SVM.” </a:t>
            </a:r>
          </a:p>
          <a:p>
            <a:pPr marL="0" indent="0">
              <a:buNone/>
            </a:pPr>
            <a:r>
              <a:rPr lang="en-US" dirty="0"/>
              <a:t>-A Mathematical Theory of Deep Convolutional Neural Networks for Feature Extraction by Thomas </a:t>
            </a:r>
            <a:r>
              <a:rPr lang="en-US" dirty="0" err="1"/>
              <a:t>Wiatowski</a:t>
            </a:r>
            <a:r>
              <a:rPr lang="en-US" dirty="0"/>
              <a:t> and Helmut </a:t>
            </a:r>
            <a:r>
              <a:rPr lang="en-US" dirty="0" err="1"/>
              <a:t>B¨olcskei</a:t>
            </a:r>
            <a:r>
              <a:rPr lang="en-US" dirty="0"/>
              <a:t>, </a:t>
            </a:r>
          </a:p>
        </p:txBody>
      </p:sp>
    </p:spTree>
    <p:extLst>
      <p:ext uri="{BB962C8B-B14F-4D97-AF65-F5344CB8AC3E}">
        <p14:creationId xmlns:p14="http://schemas.microsoft.com/office/powerpoint/2010/main" val="124480729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804F41-F4F7-AA28-BEB6-A1570ECCCED9}"/>
              </a:ext>
            </a:extLst>
          </p:cNvPr>
          <p:cNvSpPr>
            <a:spLocks noGrp="1"/>
          </p:cNvSpPr>
          <p:nvPr>
            <p:ph type="title"/>
          </p:nvPr>
        </p:nvSpPr>
        <p:spPr/>
        <p:txBody>
          <a:bodyPr/>
          <a:lstStyle/>
          <a:p>
            <a:r>
              <a:rPr lang="en-US" dirty="0"/>
              <a:t>Using the model as a feature extractor</a:t>
            </a:r>
          </a:p>
        </p:txBody>
      </p:sp>
      <p:sp>
        <p:nvSpPr>
          <p:cNvPr id="3" name="Content Placeholder 2">
            <a:extLst>
              <a:ext uri="{FF2B5EF4-FFF2-40B4-BE49-F238E27FC236}">
                <a16:creationId xmlns:a16="http://schemas.microsoft.com/office/drawing/2014/main" id="{6791D8D1-1CFC-BDED-E984-292AE3714287}"/>
              </a:ext>
            </a:extLst>
          </p:cNvPr>
          <p:cNvSpPr>
            <a:spLocks noGrp="1"/>
          </p:cNvSpPr>
          <p:nvPr>
            <p:ph idx="1"/>
          </p:nvPr>
        </p:nvSpPr>
        <p:spPr/>
        <p:txBody>
          <a:bodyPr>
            <a:normAutofit lnSpcReduction="10000"/>
          </a:bodyPr>
          <a:lstStyle/>
          <a:p>
            <a:pPr marL="0" indent="0">
              <a:buNone/>
            </a:pPr>
            <a:r>
              <a:rPr lang="en-US" dirty="0"/>
              <a:t>Let’s cut the network at the point the feature maps are flattened to a one-dimensional array. Then, we can use the array as a vector of features for each sample. We can apply SVM and KNN directly from the set of all features for each sample in the training set. Then we transform the test set to a flatten vector using the trained CNN model and feed into SVM and KNN models.</a:t>
            </a:r>
          </a:p>
          <a:p>
            <a:pPr marL="0" indent="0">
              <a:buNone/>
            </a:pPr>
            <a:endParaRPr lang="en-US" dirty="0"/>
          </a:p>
          <a:p>
            <a:pPr marL="0" indent="0">
              <a:buNone/>
            </a:pPr>
            <a:r>
              <a:rPr lang="en-US" dirty="0"/>
              <a:t>To do this we must build the feature set by setting our trained classifier to evaluate mode and passing all training samples individually to be flattened. Then we build the dataset from the flattened vectors. Do the same for the test set. </a:t>
            </a:r>
          </a:p>
        </p:txBody>
      </p:sp>
    </p:spTree>
    <p:extLst>
      <p:ext uri="{BB962C8B-B14F-4D97-AF65-F5344CB8AC3E}">
        <p14:creationId xmlns:p14="http://schemas.microsoft.com/office/powerpoint/2010/main" val="29945242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D95BD48-D024-9213-23E7-7BAC9E6E89B5}"/>
              </a:ext>
            </a:extLst>
          </p:cNvPr>
          <p:cNvSpPr>
            <a:spLocks noGrp="1"/>
          </p:cNvSpPr>
          <p:nvPr>
            <p:ph idx="1"/>
          </p:nvPr>
        </p:nvSpPr>
        <p:spPr>
          <a:xfrm>
            <a:off x="1048265" y="1207787"/>
            <a:ext cx="10515600" cy="4351338"/>
          </a:xfrm>
        </p:spPr>
        <p:txBody>
          <a:bodyPr>
            <a:normAutofit/>
          </a:bodyPr>
          <a:lstStyle/>
          <a:p>
            <a:pPr marL="0" indent="0">
              <a:buNone/>
            </a:pPr>
            <a:r>
              <a:rPr lang="en-US" dirty="0"/>
              <a:t>AdaptiveAvgPool2d((1,1)) results in 256 feature maps of size (1,1).</a:t>
            </a:r>
          </a:p>
          <a:p>
            <a:pPr marL="0" indent="0">
              <a:buNone/>
            </a:pPr>
            <a:r>
              <a:rPr lang="en-US" dirty="0"/>
              <a:t>Flattening returns an array of length 256.</a:t>
            </a:r>
          </a:p>
          <a:p>
            <a:pPr marL="0" indent="0">
              <a:buNone/>
            </a:pPr>
            <a:r>
              <a:rPr lang="en-US" dirty="0"/>
              <a:t>Add the following function into the network class:</a:t>
            </a:r>
          </a:p>
          <a:p>
            <a:pPr marL="0" indent="0">
              <a:buNone/>
            </a:pPr>
            <a:endParaRPr lang="en-US" dirty="0"/>
          </a:p>
          <a:p>
            <a:pPr marL="0" indent="0">
              <a:buNone/>
            </a:pPr>
            <a:r>
              <a:rPr lang="en-US" dirty="0"/>
              <a:t>def </a:t>
            </a:r>
            <a:r>
              <a:rPr lang="en-US" dirty="0" err="1"/>
              <a:t>extract_features</a:t>
            </a:r>
            <a:r>
              <a:rPr lang="en-US" dirty="0"/>
              <a:t>(self, x):</a:t>
            </a:r>
          </a:p>
          <a:p>
            <a:pPr marL="0" indent="0">
              <a:buNone/>
            </a:pPr>
            <a:r>
              <a:rPr lang="en-US" dirty="0"/>
              <a:t>        x = </a:t>
            </a:r>
            <a:r>
              <a:rPr lang="en-US" dirty="0" err="1"/>
              <a:t>self.features</a:t>
            </a:r>
            <a:r>
              <a:rPr lang="en-US" dirty="0"/>
              <a:t>(x)        # (B, 256, 1, 1)</a:t>
            </a:r>
          </a:p>
          <a:p>
            <a:pPr marL="0" indent="0">
              <a:buNone/>
            </a:pPr>
            <a:r>
              <a:rPr lang="en-US" dirty="0"/>
              <a:t>        x = torch.flatten(x, 1)     # (B, 256)</a:t>
            </a:r>
          </a:p>
          <a:p>
            <a:pPr marL="0" indent="0">
              <a:buNone/>
            </a:pPr>
            <a:r>
              <a:rPr lang="en-US" dirty="0"/>
              <a:t>        return x</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324036004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60A8B5-6F67-E2AA-1AC9-2B2B8752CBF6}"/>
              </a:ext>
            </a:extLst>
          </p:cNvPr>
          <p:cNvSpPr>
            <a:spLocks noGrp="1"/>
          </p:cNvSpPr>
          <p:nvPr>
            <p:ph type="title"/>
          </p:nvPr>
        </p:nvSpPr>
        <p:spPr/>
        <p:txBody>
          <a:bodyPr/>
          <a:lstStyle/>
          <a:p>
            <a:r>
              <a:rPr lang="en-US" dirty="0"/>
              <a:t>Code to build feature set</a:t>
            </a:r>
          </a:p>
        </p:txBody>
      </p:sp>
      <p:sp>
        <p:nvSpPr>
          <p:cNvPr id="3" name="Content Placeholder 2">
            <a:extLst>
              <a:ext uri="{FF2B5EF4-FFF2-40B4-BE49-F238E27FC236}">
                <a16:creationId xmlns:a16="http://schemas.microsoft.com/office/drawing/2014/main" id="{77F3AE15-771B-6509-884C-B9237729E57D}"/>
              </a:ext>
            </a:extLst>
          </p:cNvPr>
          <p:cNvSpPr>
            <a:spLocks noGrp="1"/>
          </p:cNvSpPr>
          <p:nvPr>
            <p:ph idx="1"/>
          </p:nvPr>
        </p:nvSpPr>
        <p:spPr/>
        <p:txBody>
          <a:bodyPr>
            <a:normAutofit fontScale="55000" lnSpcReduction="20000"/>
          </a:bodyPr>
          <a:lstStyle/>
          <a:p>
            <a:pPr marL="0" indent="0">
              <a:buNone/>
            </a:pPr>
            <a:r>
              <a:rPr lang="en-US" dirty="0"/>
              <a:t># get feature vectors for train set</a:t>
            </a:r>
          </a:p>
          <a:p>
            <a:pPr marL="0" indent="0">
              <a:buNone/>
            </a:pPr>
            <a:r>
              <a:rPr lang="en-US" dirty="0"/>
              <a:t>features = []</a:t>
            </a:r>
          </a:p>
          <a:p>
            <a:pPr marL="0" indent="0">
              <a:buNone/>
            </a:pPr>
            <a:r>
              <a:rPr lang="en-US" dirty="0"/>
              <a:t>labels = []</a:t>
            </a:r>
          </a:p>
          <a:p>
            <a:pPr marL="0" indent="0">
              <a:buNone/>
            </a:pPr>
            <a:br>
              <a:rPr lang="en-US" dirty="0"/>
            </a:br>
            <a:r>
              <a:rPr lang="en-US" dirty="0" err="1"/>
              <a:t>model.eval</a:t>
            </a:r>
            <a:r>
              <a:rPr lang="en-US" dirty="0"/>
              <a:t>()</a:t>
            </a:r>
          </a:p>
          <a:p>
            <a:pPr marL="0" indent="0">
              <a:buNone/>
            </a:pPr>
            <a:endParaRPr lang="en-US" dirty="0"/>
          </a:p>
          <a:p>
            <a:pPr marL="0" indent="0">
              <a:buNone/>
            </a:pPr>
            <a:r>
              <a:rPr lang="en-US" dirty="0"/>
              <a:t>with </a:t>
            </a:r>
            <a:r>
              <a:rPr lang="en-US" dirty="0" err="1"/>
              <a:t>torch.no_grad</a:t>
            </a:r>
            <a:r>
              <a:rPr lang="en-US" dirty="0"/>
              <a:t>():</a:t>
            </a:r>
          </a:p>
          <a:p>
            <a:pPr marL="0" indent="0">
              <a:buNone/>
            </a:pPr>
            <a:r>
              <a:rPr lang="en-US" dirty="0"/>
              <a:t>	for inputs, y in </a:t>
            </a:r>
            <a:r>
              <a:rPr lang="en-US" dirty="0" err="1"/>
              <a:t>train_loader</a:t>
            </a:r>
            <a:r>
              <a:rPr lang="en-US" dirty="0"/>
              <a:t>:</a:t>
            </a:r>
          </a:p>
          <a:p>
            <a:pPr marL="0" indent="0">
              <a:buNone/>
            </a:pPr>
            <a:r>
              <a:rPr lang="en-US" dirty="0"/>
              <a:t>        		inputs = inputs.to(device)</a:t>
            </a:r>
          </a:p>
          <a:p>
            <a:pPr marL="0" indent="0">
              <a:buNone/>
            </a:pPr>
            <a:r>
              <a:rPr lang="en-US" dirty="0"/>
              <a:t>        		feats = </a:t>
            </a:r>
            <a:r>
              <a:rPr lang="en-US" dirty="0" err="1"/>
              <a:t>model.extract_features</a:t>
            </a:r>
            <a:r>
              <a:rPr lang="en-US" dirty="0"/>
              <a:t>(inputs)   # (B, 256)</a:t>
            </a:r>
          </a:p>
          <a:p>
            <a:pPr marL="0" indent="0">
              <a:buNone/>
            </a:pPr>
            <a:r>
              <a:rPr lang="en-US" dirty="0"/>
              <a:t>        		</a:t>
            </a:r>
            <a:r>
              <a:rPr lang="en-US" dirty="0" err="1"/>
              <a:t>features.append</a:t>
            </a:r>
            <a:r>
              <a:rPr lang="en-US" dirty="0"/>
              <a:t>(</a:t>
            </a:r>
            <a:r>
              <a:rPr lang="en-US" dirty="0" err="1"/>
              <a:t>feats.cpu</a:t>
            </a:r>
            <a:r>
              <a:rPr lang="en-US" dirty="0"/>
              <a:t>().</a:t>
            </a:r>
            <a:r>
              <a:rPr lang="en-US" dirty="0" err="1"/>
              <a:t>numpy</a:t>
            </a:r>
            <a:r>
              <a:rPr lang="en-US" dirty="0"/>
              <a:t>())</a:t>
            </a:r>
          </a:p>
          <a:p>
            <a:pPr marL="0" indent="0">
              <a:buNone/>
            </a:pPr>
            <a:r>
              <a:rPr lang="en-US" dirty="0"/>
              <a:t>        		</a:t>
            </a:r>
            <a:r>
              <a:rPr lang="en-US" dirty="0" err="1"/>
              <a:t>labels.append</a:t>
            </a:r>
            <a:r>
              <a:rPr lang="en-US" dirty="0"/>
              <a:t>(</a:t>
            </a:r>
            <a:r>
              <a:rPr lang="en-US" dirty="0" err="1"/>
              <a:t>y.numpy</a:t>
            </a:r>
            <a:r>
              <a:rPr lang="en-US" dirty="0"/>
              <a:t>())</a:t>
            </a:r>
            <a:br>
              <a:rPr lang="en-US" dirty="0"/>
            </a:br>
            <a:endParaRPr lang="en-US" dirty="0"/>
          </a:p>
          <a:p>
            <a:pPr marL="0" indent="0">
              <a:buNone/>
            </a:pPr>
            <a:r>
              <a:rPr lang="en-US" dirty="0" err="1"/>
              <a:t>X_train</a:t>
            </a:r>
            <a:r>
              <a:rPr lang="en-US" dirty="0"/>
              <a:t> = </a:t>
            </a:r>
            <a:r>
              <a:rPr lang="en-US" dirty="0" err="1"/>
              <a:t>np.vstack</a:t>
            </a:r>
            <a:r>
              <a:rPr lang="en-US" dirty="0"/>
              <a:t>(features)</a:t>
            </a:r>
          </a:p>
          <a:p>
            <a:pPr marL="0" indent="0">
              <a:buNone/>
            </a:pPr>
            <a:r>
              <a:rPr lang="en-US" dirty="0" err="1"/>
              <a:t>y_train</a:t>
            </a:r>
            <a:r>
              <a:rPr lang="en-US" dirty="0"/>
              <a:t> = </a:t>
            </a:r>
            <a:r>
              <a:rPr lang="en-US" dirty="0" err="1"/>
              <a:t>np.concatenate</a:t>
            </a:r>
            <a:r>
              <a:rPr lang="en-US" dirty="0"/>
              <a:t>(labels)</a:t>
            </a:r>
          </a:p>
        </p:txBody>
      </p:sp>
    </p:spTree>
    <p:extLst>
      <p:ext uri="{BB962C8B-B14F-4D97-AF65-F5344CB8AC3E}">
        <p14:creationId xmlns:p14="http://schemas.microsoft.com/office/powerpoint/2010/main" val="121128553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686017-6564-50B8-D7D0-B4582E42C562}"/>
              </a:ext>
            </a:extLst>
          </p:cNvPr>
          <p:cNvSpPr>
            <a:spLocks noGrp="1"/>
          </p:cNvSpPr>
          <p:nvPr>
            <p:ph type="title"/>
          </p:nvPr>
        </p:nvSpPr>
        <p:spPr/>
        <p:txBody>
          <a:bodyPr/>
          <a:lstStyle/>
          <a:p>
            <a:r>
              <a:rPr lang="en-US" dirty="0"/>
              <a:t>SVM results (</a:t>
            </a:r>
            <a:r>
              <a:rPr lang="en-US" dirty="0" err="1"/>
              <a:t>rbf</a:t>
            </a:r>
            <a:r>
              <a:rPr lang="en-US" dirty="0"/>
              <a:t> kernel)</a:t>
            </a:r>
          </a:p>
        </p:txBody>
      </p:sp>
      <p:pic>
        <p:nvPicPr>
          <p:cNvPr id="5" name="Content Placeholder 4">
            <a:extLst>
              <a:ext uri="{FF2B5EF4-FFF2-40B4-BE49-F238E27FC236}">
                <a16:creationId xmlns:a16="http://schemas.microsoft.com/office/drawing/2014/main" id="{3E42694A-E853-F781-7778-0EBC647339F9}"/>
              </a:ext>
            </a:extLst>
          </p:cNvPr>
          <p:cNvPicPr>
            <a:picLocks noGrp="1" noChangeAspect="1"/>
          </p:cNvPicPr>
          <p:nvPr>
            <p:ph idx="1"/>
          </p:nvPr>
        </p:nvPicPr>
        <p:blipFill>
          <a:blip r:embed="rId2"/>
          <a:srcRect l="12754" b="27962"/>
          <a:stretch>
            <a:fillRect/>
          </a:stretch>
        </p:blipFill>
        <p:spPr>
          <a:xfrm>
            <a:off x="6227804" y="2147887"/>
            <a:ext cx="5555252" cy="3134626"/>
          </a:xfrm>
          <a:prstGeom prst="rect">
            <a:avLst/>
          </a:prstGeom>
        </p:spPr>
      </p:pic>
      <p:pic>
        <p:nvPicPr>
          <p:cNvPr id="4098" name="Picture 2">
            <a:extLst>
              <a:ext uri="{FF2B5EF4-FFF2-40B4-BE49-F238E27FC236}">
                <a16:creationId xmlns:a16="http://schemas.microsoft.com/office/drawing/2014/main" id="{43F4423F-3B8E-5F0D-E1E4-D9A2E23E873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5473" y="1282700"/>
            <a:ext cx="5553075" cy="5210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4267810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97491D-2414-BE53-1F38-D9C612987DF8}"/>
              </a:ext>
            </a:extLst>
          </p:cNvPr>
          <p:cNvSpPr>
            <a:spLocks noGrp="1"/>
          </p:cNvSpPr>
          <p:nvPr>
            <p:ph type="title"/>
          </p:nvPr>
        </p:nvSpPr>
        <p:spPr/>
        <p:txBody>
          <a:bodyPr/>
          <a:lstStyle/>
          <a:p>
            <a:r>
              <a:rPr lang="en-US" dirty="0"/>
              <a:t>KNN results (n=5, using 2-norm)</a:t>
            </a:r>
          </a:p>
        </p:txBody>
      </p:sp>
      <p:pic>
        <p:nvPicPr>
          <p:cNvPr id="5" name="Content Placeholder 4">
            <a:extLst>
              <a:ext uri="{FF2B5EF4-FFF2-40B4-BE49-F238E27FC236}">
                <a16:creationId xmlns:a16="http://schemas.microsoft.com/office/drawing/2014/main" id="{209C6C83-E53C-A083-96E4-1EADF40AFA95}"/>
              </a:ext>
            </a:extLst>
          </p:cNvPr>
          <p:cNvPicPr>
            <a:picLocks noGrp="1" noChangeAspect="1"/>
          </p:cNvPicPr>
          <p:nvPr>
            <p:ph idx="1"/>
          </p:nvPr>
        </p:nvPicPr>
        <p:blipFill>
          <a:blip r:embed="rId2"/>
          <a:srcRect l="5674" b="31915"/>
          <a:stretch>
            <a:fillRect/>
          </a:stretch>
        </p:blipFill>
        <p:spPr>
          <a:xfrm>
            <a:off x="5665572" y="1690688"/>
            <a:ext cx="6096111" cy="2962618"/>
          </a:xfrm>
          <a:prstGeom prst="rect">
            <a:avLst/>
          </a:prstGeom>
        </p:spPr>
      </p:pic>
      <p:pic>
        <p:nvPicPr>
          <p:cNvPr id="5122" name="Picture 2">
            <a:extLst>
              <a:ext uri="{FF2B5EF4-FFF2-40B4-BE49-F238E27FC236}">
                <a16:creationId xmlns:a16="http://schemas.microsoft.com/office/drawing/2014/main" id="{B5E2E2DD-4D34-EEC1-98CA-1BB12B3EA57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523656"/>
            <a:ext cx="5553075" cy="5210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7624441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89379C-F767-3FB7-553C-6864C862231E}"/>
              </a:ext>
            </a:extLst>
          </p:cNvPr>
          <p:cNvSpPr>
            <a:spLocks noGrp="1"/>
          </p:cNvSpPr>
          <p:nvPr>
            <p:ph type="title"/>
          </p:nvPr>
        </p:nvSpPr>
        <p:spPr/>
        <p:txBody>
          <a:bodyPr/>
          <a:lstStyle/>
          <a:p>
            <a:r>
              <a:rPr lang="en-US" dirty="0"/>
              <a:t>What next?</a:t>
            </a:r>
          </a:p>
        </p:txBody>
      </p:sp>
      <p:sp>
        <p:nvSpPr>
          <p:cNvPr id="3" name="Content Placeholder 2">
            <a:extLst>
              <a:ext uri="{FF2B5EF4-FFF2-40B4-BE49-F238E27FC236}">
                <a16:creationId xmlns:a16="http://schemas.microsoft.com/office/drawing/2014/main" id="{FD04CF1A-E22F-3BAD-A1AC-3DD0561616AB}"/>
              </a:ext>
            </a:extLst>
          </p:cNvPr>
          <p:cNvSpPr>
            <a:spLocks noGrp="1"/>
          </p:cNvSpPr>
          <p:nvPr>
            <p:ph idx="1"/>
          </p:nvPr>
        </p:nvSpPr>
        <p:spPr/>
        <p:txBody>
          <a:bodyPr>
            <a:normAutofit/>
          </a:bodyPr>
          <a:lstStyle/>
          <a:p>
            <a:pPr marL="0" indent="0">
              <a:buNone/>
            </a:pPr>
            <a:r>
              <a:rPr lang="en-US" dirty="0"/>
              <a:t>Track individual patients retinal imaging over time and use recurrent neural network architecture to identify abnormalities.</a:t>
            </a:r>
          </a:p>
          <a:p>
            <a:pPr marL="0" indent="0">
              <a:buNone/>
            </a:pPr>
            <a:r>
              <a:rPr lang="en-US" dirty="0"/>
              <a:t>Use transfer learning to integrate large database of eye scans and create more robust eye recognition models.</a:t>
            </a:r>
          </a:p>
          <a:p>
            <a:pPr marL="0" indent="0">
              <a:buNone/>
            </a:pPr>
            <a:r>
              <a:rPr lang="en-US" dirty="0"/>
              <a:t>Multichannel input means implementing higher dimensional kernels in the initial layers could lead to very complex feature maps.</a:t>
            </a:r>
          </a:p>
        </p:txBody>
      </p:sp>
    </p:spTree>
    <p:extLst>
      <p:ext uri="{BB962C8B-B14F-4D97-AF65-F5344CB8AC3E}">
        <p14:creationId xmlns:p14="http://schemas.microsoft.com/office/powerpoint/2010/main" val="283724651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E328FB-B37A-EBAE-D937-7EA5CAB30B98}"/>
              </a:ext>
            </a:extLst>
          </p:cNvPr>
          <p:cNvSpPr>
            <a:spLocks noGrp="1"/>
          </p:cNvSpPr>
          <p:nvPr>
            <p:ph type="title"/>
          </p:nvPr>
        </p:nvSpPr>
        <p:spPr/>
        <p:txBody>
          <a:bodyPr/>
          <a:lstStyle/>
          <a:p>
            <a:r>
              <a:rPr lang="en-US" dirty="0"/>
              <a:t>Sources</a:t>
            </a:r>
          </a:p>
        </p:txBody>
      </p:sp>
      <p:sp>
        <p:nvSpPr>
          <p:cNvPr id="3" name="Content Placeholder 2">
            <a:extLst>
              <a:ext uri="{FF2B5EF4-FFF2-40B4-BE49-F238E27FC236}">
                <a16:creationId xmlns:a16="http://schemas.microsoft.com/office/drawing/2014/main" id="{4A054A01-0143-474C-ABFC-8F0BE53C0E9A}"/>
              </a:ext>
            </a:extLst>
          </p:cNvPr>
          <p:cNvSpPr>
            <a:spLocks noGrp="1"/>
          </p:cNvSpPr>
          <p:nvPr>
            <p:ph idx="1"/>
          </p:nvPr>
        </p:nvSpPr>
        <p:spPr/>
        <p:txBody>
          <a:bodyPr/>
          <a:lstStyle/>
          <a:p>
            <a:pPr marL="0" indent="0">
              <a:buNone/>
            </a:pPr>
            <a:r>
              <a:rPr lang="en-US" dirty="0"/>
              <a:t>- Dataset sourced from Paul Mooney on Kaggle at https://www.kaggle.com/datasets/paultimothymooney/kermany2018</a:t>
            </a:r>
          </a:p>
          <a:p>
            <a:pPr marL="0" indent="0">
              <a:buNone/>
            </a:pPr>
            <a:r>
              <a:rPr lang="en-US" dirty="0"/>
              <a:t>- </a:t>
            </a:r>
            <a:r>
              <a:rPr lang="en-US" dirty="0" err="1"/>
              <a:t>PyTorch</a:t>
            </a:r>
            <a:r>
              <a:rPr lang="en-US" dirty="0"/>
              <a:t> documentation</a:t>
            </a:r>
          </a:p>
          <a:p>
            <a:pPr marL="0" indent="0">
              <a:buNone/>
            </a:pPr>
            <a:r>
              <a:rPr lang="en-US" dirty="0"/>
              <a:t>- A Mathematical Theory of Deep Convolutional Neural Networks for Feature Extraction by Thomas </a:t>
            </a:r>
            <a:r>
              <a:rPr lang="en-US" dirty="0" err="1"/>
              <a:t>Wiatowski</a:t>
            </a:r>
            <a:r>
              <a:rPr lang="en-US" dirty="0"/>
              <a:t> and Helmut </a:t>
            </a:r>
            <a:r>
              <a:rPr lang="en-US" dirty="0" err="1"/>
              <a:t>B¨olcskei</a:t>
            </a:r>
            <a:endParaRPr lang="en-US" dirty="0"/>
          </a:p>
          <a:p>
            <a:pPr>
              <a:buFontTx/>
              <a:buChar char="-"/>
            </a:pPr>
            <a:r>
              <a:rPr lang="en-US" dirty="0"/>
              <a:t>Kaggle API</a:t>
            </a:r>
          </a:p>
          <a:p>
            <a:pPr>
              <a:buFontTx/>
              <a:buChar char="-"/>
            </a:pPr>
            <a:r>
              <a:rPr lang="en-US" dirty="0"/>
              <a:t>Cloud GPU training in Google </a:t>
            </a:r>
            <a:r>
              <a:rPr lang="en-US" dirty="0" err="1"/>
              <a:t>Colab</a:t>
            </a:r>
            <a:endParaRPr lang="en-US" dirty="0"/>
          </a:p>
          <a:p>
            <a:pPr marL="0" indent="0">
              <a:buNone/>
            </a:pPr>
            <a:endParaRPr lang="en-US" dirty="0"/>
          </a:p>
        </p:txBody>
      </p:sp>
    </p:spTree>
    <p:extLst>
      <p:ext uri="{BB962C8B-B14F-4D97-AF65-F5344CB8AC3E}">
        <p14:creationId xmlns:p14="http://schemas.microsoft.com/office/powerpoint/2010/main" val="3292517742"/>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5202</TotalTime>
  <Words>7293</Words>
  <Application>Microsoft Office PowerPoint</Application>
  <PresentationFormat>Widescreen</PresentationFormat>
  <Paragraphs>539</Paragraphs>
  <Slides>62</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62</vt:i4>
      </vt:variant>
    </vt:vector>
  </HeadingPairs>
  <TitlesOfParts>
    <vt:vector size="66" baseType="lpstr">
      <vt:lpstr>Arial</vt:lpstr>
      <vt:lpstr>Calibri</vt:lpstr>
      <vt:lpstr>Calibri Light</vt:lpstr>
      <vt:lpstr>Office Theme</vt:lpstr>
      <vt:lpstr>CNN classification for OCT in PyTorch</vt:lpstr>
      <vt:lpstr>Imagine a greyscale image.</vt:lpstr>
      <vt:lpstr>What is OCT?</vt:lpstr>
      <vt:lpstr>Now imagine 84484 different 256pxl x 256pxl greyscale .jpeg images of different eyes.  And PyTorch.</vt:lpstr>
      <vt:lpstr>What is a 256pxl by 256pxl greyscale image actually? What is the structure?</vt:lpstr>
      <vt:lpstr>But what about color? RGB?</vt:lpstr>
      <vt:lpstr>PowerPoint Presentation</vt:lpstr>
      <vt:lpstr>Preprocessing</vt:lpstr>
      <vt:lpstr>ImageFolder()</vt:lpstr>
      <vt:lpstr>CNN</vt:lpstr>
      <vt:lpstr>Define the following architecture.</vt:lpstr>
      <vt:lpstr>Convolutional layer</vt:lpstr>
      <vt:lpstr>What happens in the convolutional layer?</vt:lpstr>
      <vt:lpstr>PowerPoint Presentation</vt:lpstr>
      <vt:lpstr>Feature map</vt:lpstr>
      <vt:lpstr>On stride and padding</vt:lpstr>
      <vt:lpstr>On stride and padding (cont.)</vt:lpstr>
      <vt:lpstr>Output channels</vt:lpstr>
      <vt:lpstr>Kernels for multiple channels</vt:lpstr>
      <vt:lpstr>Activation function</vt:lpstr>
      <vt:lpstr>Pooling</vt:lpstr>
      <vt:lpstr>MaxPool2d()</vt:lpstr>
      <vt:lpstr>PowerPoint Presentation</vt:lpstr>
      <vt:lpstr>Fully-connected layers</vt:lpstr>
      <vt:lpstr>Construct hidden layers and the output layer for classification.</vt:lpstr>
      <vt:lpstr>PowerPoint Presentation</vt:lpstr>
      <vt:lpstr>Passing in batches of images</vt:lpstr>
      <vt:lpstr>Loss function</vt:lpstr>
      <vt:lpstr>Loss function (cont.)</vt:lpstr>
      <vt:lpstr>Loss function (cont.)</vt:lpstr>
      <vt:lpstr>Batching and the loss function</vt:lpstr>
      <vt:lpstr>Optimizing parameters</vt:lpstr>
      <vt:lpstr>How many parameters in our model so far?</vt:lpstr>
      <vt:lpstr>Define loss function and optimizer</vt:lpstr>
      <vt:lpstr>Training loop</vt:lpstr>
      <vt:lpstr>Enable GPU device</vt:lpstr>
      <vt:lpstr>PowerPoint Presentation</vt:lpstr>
      <vt:lpstr>PowerPoint Presentation</vt:lpstr>
      <vt:lpstr>PowerPoint Presentation</vt:lpstr>
      <vt:lpstr>Back to training loop</vt:lpstr>
      <vt:lpstr>Hit GPU usage limit at approximately 4.5 hours.</vt:lpstr>
      <vt:lpstr>BatchNorm2d()</vt:lpstr>
      <vt:lpstr>PowerPoint Presentation</vt:lpstr>
      <vt:lpstr>AdaptiveAvgPool()</vt:lpstr>
      <vt:lpstr>PowerPoint Presentation</vt:lpstr>
      <vt:lpstr>New architecture</vt:lpstr>
      <vt:lpstr>PowerPoint Presentation</vt:lpstr>
      <vt:lpstr>PowerPoint Presentation</vt:lpstr>
      <vt:lpstr>In the forward pass</vt:lpstr>
      <vt:lpstr>Train on individual samples</vt:lpstr>
      <vt:lpstr>CNN Results</vt:lpstr>
      <vt:lpstr>PowerPoint Presentation</vt:lpstr>
      <vt:lpstr>Final results of model after training for 50 epochs</vt:lpstr>
      <vt:lpstr>Confusion matrices</vt:lpstr>
      <vt:lpstr>Applying SVM, KNN, and Random Forests using extracted features.</vt:lpstr>
      <vt:lpstr>Using the model as a feature extractor</vt:lpstr>
      <vt:lpstr>PowerPoint Presentation</vt:lpstr>
      <vt:lpstr>Code to build feature set</vt:lpstr>
      <vt:lpstr>SVM results (rbf kernel)</vt:lpstr>
      <vt:lpstr>KNN results (n=5, using 2-norm)</vt:lpstr>
      <vt:lpstr>What next?</vt:lpstr>
      <vt:lpstr>Sources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Hussein Mir</dc:creator>
  <cp:lastModifiedBy>Hussein Mir</cp:lastModifiedBy>
  <cp:revision>1</cp:revision>
  <dcterms:created xsi:type="dcterms:W3CDTF">2026-04-07T03:27:07Z</dcterms:created>
  <dcterms:modified xsi:type="dcterms:W3CDTF">2026-04-10T18:09:45Z</dcterms:modified>
</cp:coreProperties>
</file>